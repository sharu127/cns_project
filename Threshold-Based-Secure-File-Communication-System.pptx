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orben" charset="1" panose="020F0503020000020004"/>
      <p:regular r:id="rId19"/>
    </p:embeddedFont>
    <p:embeddedFont>
      <p:font typeface="Arimo" charset="1" panose="020B0604020202020204"/>
      <p:regular r:id="rId20"/>
    </p:embeddedFont>
    <p:embeddedFont>
      <p:font typeface="Arimo Bold" charset="1" panose="020B0704020202020204"/>
      <p:regular r:id="rId21"/>
    </p:embeddedFont>
    <p:embeddedFont>
      <p:font typeface="Consolas" charset="1" panose="020B060902020403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fonts/font26.fntdata" Type="http://schemas.openxmlformats.org/officeDocument/2006/relationships/font"/><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media/image13.png" Type="http://schemas.openxmlformats.org/officeDocument/2006/relationships/image"/><Relationship Id="rId14" Target="../media/image14.svg" Type="http://schemas.openxmlformats.org/officeDocument/2006/relationships/image"/><Relationship Id="rId2" Target="../notesSlides/notesSlide3.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1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26.png" Type="http://schemas.openxmlformats.org/officeDocument/2006/relationships/image"/><Relationship Id="rId13" Target="../media/image27.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2" Target="../notesSlides/notesSlide9.xml" Type="http://schemas.openxmlformats.org/officeDocument/2006/relationships/notesSlide"/><Relationship Id="rId3" Target="../media/image1.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3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4"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5"/>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992238" y="2968076"/>
            <a:ext cx="9445523" cy="1588294"/>
          </a:xfrm>
          <a:prstGeom prst="rect">
            <a:avLst/>
          </a:prstGeom>
        </p:spPr>
        <p:txBody>
          <a:bodyPr anchor="t" rtlCol="false" tIns="0" lIns="0" bIns="0" rIns="0">
            <a:spAutoFit/>
          </a:bodyPr>
          <a:lstStyle/>
          <a:p>
            <a:pPr algn="l">
              <a:lnSpc>
                <a:spcPts val="6100"/>
              </a:lnSpc>
            </a:pPr>
            <a:r>
              <a:rPr lang="en-US" sz="4800">
                <a:solidFill>
                  <a:srgbClr val="1B1B27"/>
                </a:solidFill>
                <a:latin typeface="Corben"/>
                <a:ea typeface="Corben"/>
                <a:cs typeface="Corben"/>
                <a:sym typeface="Corben"/>
              </a:rPr>
              <a:t>Threshold-Based Secure File Communication System</a:t>
            </a:r>
          </a:p>
        </p:txBody>
      </p:sp>
      <p:sp>
        <p:nvSpPr>
          <p:cNvPr name="TextBox 11" id="11"/>
          <p:cNvSpPr txBox="true"/>
          <p:nvPr/>
        </p:nvSpPr>
        <p:spPr>
          <a:xfrm rot="0">
            <a:off x="992238" y="4833195"/>
            <a:ext cx="9445523" cy="1682944"/>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A modern cryptographic system combining </a:t>
            </a:r>
            <a:r>
              <a:rPr lang="en-US" sz="1900" b="true">
                <a:solidFill>
                  <a:srgbClr val="404155"/>
                </a:solidFill>
                <a:latin typeface="Arimo Bold"/>
                <a:ea typeface="Arimo Bold"/>
                <a:cs typeface="Arimo Bold"/>
                <a:sym typeface="Arimo Bold"/>
              </a:rPr>
              <a:t>AES-GCM encryption</a:t>
            </a:r>
            <a:r>
              <a:rPr lang="en-US" sz="1900">
                <a:solidFill>
                  <a:srgbClr val="404155"/>
                </a:solidFill>
                <a:latin typeface="Arimo"/>
                <a:ea typeface="Arimo"/>
                <a:cs typeface="Arimo"/>
                <a:sym typeface="Arimo"/>
              </a:rPr>
              <a:t> with multi-user threshold authorization to protect sensitive files in enterprise environments. No single user can access encrypted content independently — approvals from multiple authorized users are required before decryption.</a:t>
            </a:r>
          </a:p>
        </p:txBody>
      </p:sp>
      <p:grpSp>
        <p:nvGrpSpPr>
          <p:cNvPr name="Group 12" id="12"/>
          <p:cNvGrpSpPr/>
          <p:nvPr/>
        </p:nvGrpSpPr>
        <p:grpSpPr>
          <a:xfrm rot="0">
            <a:off x="992238" y="6804717"/>
            <a:ext cx="1265044" cy="466430"/>
            <a:chOff x="0" y="0"/>
            <a:chExt cx="1686725" cy="621906"/>
          </a:xfrm>
        </p:grpSpPr>
        <p:sp>
          <p:nvSpPr>
            <p:cNvPr name="Freeform 13" id="13"/>
            <p:cNvSpPr/>
            <p:nvPr/>
          </p:nvSpPr>
          <p:spPr>
            <a:xfrm flipH="false" flipV="false" rot="0">
              <a:off x="0" y="0"/>
              <a:ext cx="1686687" cy="621919"/>
            </a:xfrm>
            <a:custGeom>
              <a:avLst/>
              <a:gdLst/>
              <a:ahLst/>
              <a:cxnLst/>
              <a:rect r="r" b="b" t="t" l="l"/>
              <a:pathLst>
                <a:path h="621919" w="1686687">
                  <a:moveTo>
                    <a:pt x="0" y="111125"/>
                  </a:moveTo>
                  <a:cubicBezTo>
                    <a:pt x="0" y="49784"/>
                    <a:pt x="49784" y="0"/>
                    <a:pt x="111125" y="0"/>
                  </a:cubicBezTo>
                  <a:lnTo>
                    <a:pt x="1575562" y="0"/>
                  </a:lnTo>
                  <a:cubicBezTo>
                    <a:pt x="1636903" y="0"/>
                    <a:pt x="1686687" y="49784"/>
                    <a:pt x="1686687" y="111125"/>
                  </a:cubicBezTo>
                  <a:lnTo>
                    <a:pt x="1686687" y="510794"/>
                  </a:lnTo>
                  <a:cubicBezTo>
                    <a:pt x="1686687" y="572135"/>
                    <a:pt x="1636903" y="621919"/>
                    <a:pt x="1575562" y="621919"/>
                  </a:cubicBezTo>
                  <a:lnTo>
                    <a:pt x="111125" y="621919"/>
                  </a:lnTo>
                  <a:cubicBezTo>
                    <a:pt x="49784" y="621919"/>
                    <a:pt x="0" y="572135"/>
                    <a:pt x="0" y="510794"/>
                  </a:cubicBezTo>
                  <a:close/>
                </a:path>
              </a:pathLst>
            </a:custGeom>
            <a:solidFill>
              <a:srgbClr val="D2D9F9"/>
            </a:solidFill>
          </p:spPr>
        </p:sp>
      </p:grpSp>
      <p:sp>
        <p:nvSpPr>
          <p:cNvPr name="TextBox 14" id="14"/>
          <p:cNvSpPr txBox="true"/>
          <p:nvPr/>
        </p:nvSpPr>
        <p:spPr>
          <a:xfrm rot="0">
            <a:off x="1141066" y="6802936"/>
            <a:ext cx="967378" cy="393802"/>
          </a:xfrm>
          <a:prstGeom prst="rect">
            <a:avLst/>
          </a:prstGeom>
        </p:spPr>
        <p:txBody>
          <a:bodyPr anchor="t" rtlCol="false" tIns="0" lIns="0" bIns="0" rIns="0">
            <a:spAutoFit/>
          </a:bodyPr>
          <a:lstStyle/>
          <a:p>
            <a:pPr algn="l">
              <a:lnSpc>
                <a:spcPts val="2499"/>
              </a:lnSpc>
            </a:pPr>
            <a:r>
              <a:rPr lang="en-US" sz="1500">
                <a:solidFill>
                  <a:srgbClr val="404155"/>
                </a:solidFill>
                <a:latin typeface="Arimo"/>
                <a:ea typeface="Arimo"/>
                <a:cs typeface="Arimo"/>
                <a:sym typeface="Arimo"/>
              </a:rPr>
              <a:t>SECURITY</a:t>
            </a:r>
          </a:p>
        </p:txBody>
      </p:sp>
      <p:grpSp>
        <p:nvGrpSpPr>
          <p:cNvPr name="Group 15" id="15"/>
          <p:cNvGrpSpPr/>
          <p:nvPr/>
        </p:nvGrpSpPr>
        <p:grpSpPr>
          <a:xfrm rot="0">
            <a:off x="2376488" y="6790430"/>
            <a:ext cx="1928517" cy="495005"/>
            <a:chOff x="0" y="0"/>
            <a:chExt cx="2571356" cy="660006"/>
          </a:xfrm>
        </p:grpSpPr>
        <p:sp>
          <p:nvSpPr>
            <p:cNvPr name="Freeform 16" id="16"/>
            <p:cNvSpPr/>
            <p:nvPr/>
          </p:nvSpPr>
          <p:spPr>
            <a:xfrm flipH="false" flipV="false" rot="0">
              <a:off x="0" y="0"/>
              <a:ext cx="2571369" cy="660019"/>
            </a:xfrm>
            <a:custGeom>
              <a:avLst/>
              <a:gdLst/>
              <a:ahLst/>
              <a:cxnLst/>
              <a:rect r="r" b="b" t="t" l="l"/>
              <a:pathLst>
                <a:path h="660019" w="2571369">
                  <a:moveTo>
                    <a:pt x="0" y="117475"/>
                  </a:moveTo>
                  <a:cubicBezTo>
                    <a:pt x="0" y="52578"/>
                    <a:pt x="53467" y="0"/>
                    <a:pt x="119126" y="0"/>
                  </a:cubicBezTo>
                  <a:lnTo>
                    <a:pt x="2452243" y="0"/>
                  </a:lnTo>
                  <a:lnTo>
                    <a:pt x="2452243" y="6350"/>
                  </a:lnTo>
                  <a:lnTo>
                    <a:pt x="2452243" y="0"/>
                  </a:lnTo>
                  <a:cubicBezTo>
                    <a:pt x="2517902" y="0"/>
                    <a:pt x="2571369" y="52578"/>
                    <a:pt x="2571369" y="117475"/>
                  </a:cubicBezTo>
                  <a:lnTo>
                    <a:pt x="2565019" y="117475"/>
                  </a:lnTo>
                  <a:lnTo>
                    <a:pt x="2571369" y="117475"/>
                  </a:lnTo>
                  <a:lnTo>
                    <a:pt x="2571369" y="542544"/>
                  </a:lnTo>
                  <a:lnTo>
                    <a:pt x="2565019" y="542544"/>
                  </a:lnTo>
                  <a:lnTo>
                    <a:pt x="2571369" y="542544"/>
                  </a:lnTo>
                  <a:cubicBezTo>
                    <a:pt x="2571369" y="607568"/>
                    <a:pt x="2517902" y="660019"/>
                    <a:pt x="2452243" y="660019"/>
                  </a:cubicBezTo>
                  <a:lnTo>
                    <a:pt x="2452243" y="653669"/>
                  </a:lnTo>
                  <a:lnTo>
                    <a:pt x="2452243" y="660019"/>
                  </a:lnTo>
                  <a:lnTo>
                    <a:pt x="119126" y="660019"/>
                  </a:lnTo>
                  <a:lnTo>
                    <a:pt x="119126" y="653669"/>
                  </a:lnTo>
                  <a:lnTo>
                    <a:pt x="119126" y="660019"/>
                  </a:lnTo>
                  <a:cubicBezTo>
                    <a:pt x="53467" y="660019"/>
                    <a:pt x="0" y="607441"/>
                    <a:pt x="0" y="542544"/>
                  </a:cubicBezTo>
                  <a:lnTo>
                    <a:pt x="0" y="117475"/>
                  </a:lnTo>
                  <a:lnTo>
                    <a:pt x="6350" y="117475"/>
                  </a:lnTo>
                  <a:lnTo>
                    <a:pt x="0" y="117475"/>
                  </a:lnTo>
                  <a:moveTo>
                    <a:pt x="12700" y="117475"/>
                  </a:moveTo>
                  <a:lnTo>
                    <a:pt x="12700" y="542544"/>
                  </a:lnTo>
                  <a:lnTo>
                    <a:pt x="6350" y="542544"/>
                  </a:lnTo>
                  <a:lnTo>
                    <a:pt x="12700" y="542544"/>
                  </a:lnTo>
                  <a:cubicBezTo>
                    <a:pt x="12700" y="600329"/>
                    <a:pt x="60198" y="647319"/>
                    <a:pt x="119126" y="647319"/>
                  </a:cubicBezTo>
                  <a:lnTo>
                    <a:pt x="2452243" y="647319"/>
                  </a:lnTo>
                  <a:cubicBezTo>
                    <a:pt x="2511044" y="647319"/>
                    <a:pt x="2558669" y="600329"/>
                    <a:pt x="2558669" y="542544"/>
                  </a:cubicBezTo>
                  <a:lnTo>
                    <a:pt x="2558669" y="117475"/>
                  </a:lnTo>
                  <a:cubicBezTo>
                    <a:pt x="2558669" y="59690"/>
                    <a:pt x="2511171" y="12700"/>
                    <a:pt x="2452243" y="12700"/>
                  </a:cubicBezTo>
                  <a:lnTo>
                    <a:pt x="119126" y="12700"/>
                  </a:lnTo>
                  <a:lnTo>
                    <a:pt x="119126" y="6350"/>
                  </a:lnTo>
                  <a:lnTo>
                    <a:pt x="119126" y="12700"/>
                  </a:lnTo>
                  <a:cubicBezTo>
                    <a:pt x="60198" y="12700"/>
                    <a:pt x="12700" y="59690"/>
                    <a:pt x="12700" y="117475"/>
                  </a:cubicBezTo>
                  <a:close/>
                </a:path>
              </a:pathLst>
            </a:custGeom>
            <a:solidFill>
              <a:srgbClr val="4967E9"/>
            </a:solidFill>
          </p:spPr>
        </p:sp>
      </p:grpSp>
      <p:sp>
        <p:nvSpPr>
          <p:cNvPr name="TextBox 17" id="17"/>
          <p:cNvSpPr txBox="true"/>
          <p:nvPr/>
        </p:nvSpPr>
        <p:spPr>
          <a:xfrm rot="0">
            <a:off x="2539603" y="6802936"/>
            <a:ext cx="1602286" cy="393802"/>
          </a:xfrm>
          <a:prstGeom prst="rect">
            <a:avLst/>
          </a:prstGeom>
        </p:spPr>
        <p:txBody>
          <a:bodyPr anchor="t" rtlCol="false" tIns="0" lIns="0" bIns="0" rIns="0">
            <a:spAutoFit/>
          </a:bodyPr>
          <a:lstStyle/>
          <a:p>
            <a:pPr algn="l">
              <a:lnSpc>
                <a:spcPts val="2499"/>
              </a:lnSpc>
            </a:pPr>
            <a:r>
              <a:rPr lang="en-US" sz="1500">
                <a:solidFill>
                  <a:srgbClr val="4967E9"/>
                </a:solidFill>
                <a:latin typeface="Arimo"/>
                <a:ea typeface="Arimo"/>
                <a:cs typeface="Arimo"/>
                <a:sym typeface="Arimo"/>
              </a:rPr>
              <a:t>CRYPTOGRAPHY</a:t>
            </a:r>
          </a:p>
        </p:txBody>
      </p:sp>
      <p:grpSp>
        <p:nvGrpSpPr>
          <p:cNvPr name="Group 18" id="18"/>
          <p:cNvGrpSpPr/>
          <p:nvPr/>
        </p:nvGrpSpPr>
        <p:grpSpPr>
          <a:xfrm rot="0">
            <a:off x="4419448" y="6790430"/>
            <a:ext cx="1213695" cy="495005"/>
            <a:chOff x="0" y="0"/>
            <a:chExt cx="1618259" cy="660006"/>
          </a:xfrm>
        </p:grpSpPr>
        <p:sp>
          <p:nvSpPr>
            <p:cNvPr name="Freeform 19" id="19"/>
            <p:cNvSpPr/>
            <p:nvPr/>
          </p:nvSpPr>
          <p:spPr>
            <a:xfrm flipH="false" flipV="false" rot="0">
              <a:off x="0" y="0"/>
              <a:ext cx="1618234" cy="660019"/>
            </a:xfrm>
            <a:custGeom>
              <a:avLst/>
              <a:gdLst/>
              <a:ahLst/>
              <a:cxnLst/>
              <a:rect r="r" b="b" t="t" l="l"/>
              <a:pathLst>
                <a:path h="660019" w="1618234">
                  <a:moveTo>
                    <a:pt x="0" y="117475"/>
                  </a:moveTo>
                  <a:cubicBezTo>
                    <a:pt x="0" y="52578"/>
                    <a:pt x="53213" y="0"/>
                    <a:pt x="118745" y="0"/>
                  </a:cubicBezTo>
                  <a:lnTo>
                    <a:pt x="1499489" y="0"/>
                  </a:lnTo>
                  <a:lnTo>
                    <a:pt x="1499489" y="6350"/>
                  </a:lnTo>
                  <a:lnTo>
                    <a:pt x="1499489" y="0"/>
                  </a:lnTo>
                  <a:cubicBezTo>
                    <a:pt x="1565021" y="0"/>
                    <a:pt x="1618234" y="52578"/>
                    <a:pt x="1618234" y="117475"/>
                  </a:cubicBezTo>
                  <a:lnTo>
                    <a:pt x="1611884" y="117475"/>
                  </a:lnTo>
                  <a:lnTo>
                    <a:pt x="1618234" y="117475"/>
                  </a:lnTo>
                  <a:lnTo>
                    <a:pt x="1618234" y="542544"/>
                  </a:lnTo>
                  <a:lnTo>
                    <a:pt x="1611884" y="542544"/>
                  </a:lnTo>
                  <a:lnTo>
                    <a:pt x="1618234" y="542544"/>
                  </a:lnTo>
                  <a:cubicBezTo>
                    <a:pt x="1618234" y="607568"/>
                    <a:pt x="1565021" y="660019"/>
                    <a:pt x="1499489" y="660019"/>
                  </a:cubicBezTo>
                  <a:lnTo>
                    <a:pt x="1499489" y="653669"/>
                  </a:lnTo>
                  <a:lnTo>
                    <a:pt x="1499489" y="660019"/>
                  </a:lnTo>
                  <a:lnTo>
                    <a:pt x="118745" y="660019"/>
                  </a:lnTo>
                  <a:lnTo>
                    <a:pt x="118745" y="653669"/>
                  </a:lnTo>
                  <a:lnTo>
                    <a:pt x="118745" y="660019"/>
                  </a:lnTo>
                  <a:cubicBezTo>
                    <a:pt x="53213" y="660019"/>
                    <a:pt x="0" y="607441"/>
                    <a:pt x="0" y="542544"/>
                  </a:cubicBezTo>
                  <a:lnTo>
                    <a:pt x="0" y="117475"/>
                  </a:lnTo>
                  <a:lnTo>
                    <a:pt x="6350" y="117475"/>
                  </a:lnTo>
                  <a:lnTo>
                    <a:pt x="0" y="117475"/>
                  </a:lnTo>
                  <a:moveTo>
                    <a:pt x="12700" y="117475"/>
                  </a:moveTo>
                  <a:lnTo>
                    <a:pt x="12700" y="542544"/>
                  </a:lnTo>
                  <a:lnTo>
                    <a:pt x="6350" y="542544"/>
                  </a:lnTo>
                  <a:lnTo>
                    <a:pt x="12700" y="542544"/>
                  </a:lnTo>
                  <a:cubicBezTo>
                    <a:pt x="12700" y="600329"/>
                    <a:pt x="60071" y="647319"/>
                    <a:pt x="118745" y="647319"/>
                  </a:cubicBezTo>
                  <a:lnTo>
                    <a:pt x="1499489" y="647319"/>
                  </a:lnTo>
                  <a:cubicBezTo>
                    <a:pt x="1558163" y="647319"/>
                    <a:pt x="1605534" y="600329"/>
                    <a:pt x="1605534" y="542544"/>
                  </a:cubicBezTo>
                  <a:lnTo>
                    <a:pt x="1605534" y="117475"/>
                  </a:lnTo>
                  <a:cubicBezTo>
                    <a:pt x="1605534" y="59690"/>
                    <a:pt x="1558163" y="12700"/>
                    <a:pt x="1499489" y="12700"/>
                  </a:cubicBezTo>
                  <a:lnTo>
                    <a:pt x="118745" y="12700"/>
                  </a:lnTo>
                  <a:lnTo>
                    <a:pt x="118745" y="6350"/>
                  </a:lnTo>
                  <a:lnTo>
                    <a:pt x="118745" y="12700"/>
                  </a:lnTo>
                  <a:cubicBezTo>
                    <a:pt x="60071" y="12700"/>
                    <a:pt x="12700" y="59690"/>
                    <a:pt x="12700" y="117475"/>
                  </a:cubicBezTo>
                  <a:close/>
                </a:path>
              </a:pathLst>
            </a:custGeom>
            <a:solidFill>
              <a:srgbClr val="4967E9"/>
            </a:solidFill>
          </p:spPr>
        </p:sp>
      </p:grpSp>
      <p:sp>
        <p:nvSpPr>
          <p:cNvPr name="TextBox 20" id="20"/>
          <p:cNvSpPr txBox="true"/>
          <p:nvPr/>
        </p:nvSpPr>
        <p:spPr>
          <a:xfrm rot="0">
            <a:off x="4582563" y="6802936"/>
            <a:ext cx="887463" cy="393802"/>
          </a:xfrm>
          <a:prstGeom prst="rect">
            <a:avLst/>
          </a:prstGeom>
        </p:spPr>
        <p:txBody>
          <a:bodyPr anchor="t" rtlCol="false" tIns="0" lIns="0" bIns="0" rIns="0">
            <a:spAutoFit/>
          </a:bodyPr>
          <a:lstStyle/>
          <a:p>
            <a:pPr algn="l">
              <a:lnSpc>
                <a:spcPts val="2499"/>
              </a:lnSpc>
            </a:pPr>
            <a:r>
              <a:rPr lang="en-US" sz="1500">
                <a:solidFill>
                  <a:srgbClr val="4967E9"/>
                </a:solidFill>
                <a:latin typeface="Arimo"/>
                <a:ea typeface="Arimo"/>
                <a:cs typeface="Arimo"/>
                <a:sym typeface="Arimo"/>
              </a:rPr>
              <a:t>REST API</a:t>
            </a:r>
          </a:p>
        </p:txBody>
      </p:sp>
      <p:grpSp>
        <p:nvGrpSpPr>
          <p:cNvPr name="Group 21" id="21"/>
          <p:cNvGrpSpPr/>
          <p:nvPr/>
        </p:nvGrpSpPr>
        <p:grpSpPr>
          <a:xfrm rot="0">
            <a:off x="5747595" y="6790430"/>
            <a:ext cx="2249386" cy="495005"/>
            <a:chOff x="0" y="0"/>
            <a:chExt cx="2999181" cy="660006"/>
          </a:xfrm>
        </p:grpSpPr>
        <p:sp>
          <p:nvSpPr>
            <p:cNvPr name="Freeform 22" id="22"/>
            <p:cNvSpPr/>
            <p:nvPr/>
          </p:nvSpPr>
          <p:spPr>
            <a:xfrm flipH="false" flipV="false" rot="0">
              <a:off x="0" y="0"/>
              <a:ext cx="2999232" cy="660019"/>
            </a:xfrm>
            <a:custGeom>
              <a:avLst/>
              <a:gdLst/>
              <a:ahLst/>
              <a:cxnLst/>
              <a:rect r="r" b="b" t="t" l="l"/>
              <a:pathLst>
                <a:path h="660019" w="2999232">
                  <a:moveTo>
                    <a:pt x="0" y="117475"/>
                  </a:moveTo>
                  <a:cubicBezTo>
                    <a:pt x="0" y="52578"/>
                    <a:pt x="53467" y="0"/>
                    <a:pt x="119253" y="0"/>
                  </a:cubicBezTo>
                  <a:lnTo>
                    <a:pt x="2879979" y="0"/>
                  </a:lnTo>
                  <a:lnTo>
                    <a:pt x="2879979" y="6350"/>
                  </a:lnTo>
                  <a:lnTo>
                    <a:pt x="2879979" y="0"/>
                  </a:lnTo>
                  <a:cubicBezTo>
                    <a:pt x="2945765" y="0"/>
                    <a:pt x="2999232" y="52578"/>
                    <a:pt x="2999232" y="117475"/>
                  </a:cubicBezTo>
                  <a:lnTo>
                    <a:pt x="2992882" y="117475"/>
                  </a:lnTo>
                  <a:lnTo>
                    <a:pt x="2999232" y="117475"/>
                  </a:lnTo>
                  <a:lnTo>
                    <a:pt x="2999232" y="542544"/>
                  </a:lnTo>
                  <a:lnTo>
                    <a:pt x="2992882" y="542544"/>
                  </a:lnTo>
                  <a:lnTo>
                    <a:pt x="2999232" y="542544"/>
                  </a:lnTo>
                  <a:cubicBezTo>
                    <a:pt x="2999232" y="607568"/>
                    <a:pt x="2945765" y="660019"/>
                    <a:pt x="2879979" y="660019"/>
                  </a:cubicBezTo>
                  <a:lnTo>
                    <a:pt x="2879979" y="653669"/>
                  </a:lnTo>
                  <a:lnTo>
                    <a:pt x="2879979" y="660019"/>
                  </a:lnTo>
                  <a:lnTo>
                    <a:pt x="119253" y="660019"/>
                  </a:lnTo>
                  <a:lnTo>
                    <a:pt x="119253" y="653669"/>
                  </a:lnTo>
                  <a:lnTo>
                    <a:pt x="119253" y="660019"/>
                  </a:lnTo>
                  <a:cubicBezTo>
                    <a:pt x="53467" y="660019"/>
                    <a:pt x="0" y="607441"/>
                    <a:pt x="0" y="542544"/>
                  </a:cubicBezTo>
                  <a:lnTo>
                    <a:pt x="0" y="117475"/>
                  </a:lnTo>
                  <a:lnTo>
                    <a:pt x="6350" y="117475"/>
                  </a:lnTo>
                  <a:lnTo>
                    <a:pt x="0" y="117475"/>
                  </a:lnTo>
                  <a:moveTo>
                    <a:pt x="12700" y="117475"/>
                  </a:moveTo>
                  <a:lnTo>
                    <a:pt x="12700" y="542544"/>
                  </a:lnTo>
                  <a:lnTo>
                    <a:pt x="6350" y="542544"/>
                  </a:lnTo>
                  <a:lnTo>
                    <a:pt x="12700" y="542544"/>
                  </a:lnTo>
                  <a:cubicBezTo>
                    <a:pt x="12700" y="600329"/>
                    <a:pt x="60325" y="647319"/>
                    <a:pt x="119253" y="647319"/>
                  </a:cubicBezTo>
                  <a:lnTo>
                    <a:pt x="2879979" y="647319"/>
                  </a:lnTo>
                  <a:cubicBezTo>
                    <a:pt x="2938907" y="647319"/>
                    <a:pt x="2986532" y="600329"/>
                    <a:pt x="2986532" y="542544"/>
                  </a:cubicBezTo>
                  <a:lnTo>
                    <a:pt x="2986532" y="117475"/>
                  </a:lnTo>
                  <a:cubicBezTo>
                    <a:pt x="2986532" y="59690"/>
                    <a:pt x="2938907" y="12700"/>
                    <a:pt x="2879979" y="12700"/>
                  </a:cubicBezTo>
                  <a:lnTo>
                    <a:pt x="119253" y="12700"/>
                  </a:lnTo>
                  <a:lnTo>
                    <a:pt x="119253" y="6350"/>
                  </a:lnTo>
                  <a:lnTo>
                    <a:pt x="119253" y="12700"/>
                  </a:lnTo>
                  <a:cubicBezTo>
                    <a:pt x="60325" y="12700"/>
                    <a:pt x="12700" y="59690"/>
                    <a:pt x="12700" y="117475"/>
                  </a:cubicBezTo>
                  <a:close/>
                </a:path>
              </a:pathLst>
            </a:custGeom>
            <a:solidFill>
              <a:srgbClr val="4967E9"/>
            </a:solidFill>
          </p:spPr>
        </p:sp>
      </p:grpSp>
      <p:sp>
        <p:nvSpPr>
          <p:cNvPr name="TextBox 23" id="23"/>
          <p:cNvSpPr txBox="true"/>
          <p:nvPr/>
        </p:nvSpPr>
        <p:spPr>
          <a:xfrm rot="0">
            <a:off x="5910710" y="6802936"/>
            <a:ext cx="1923155" cy="393802"/>
          </a:xfrm>
          <a:prstGeom prst="rect">
            <a:avLst/>
          </a:prstGeom>
        </p:spPr>
        <p:txBody>
          <a:bodyPr anchor="t" rtlCol="false" tIns="0" lIns="0" bIns="0" rIns="0">
            <a:spAutoFit/>
          </a:bodyPr>
          <a:lstStyle/>
          <a:p>
            <a:pPr algn="l">
              <a:lnSpc>
                <a:spcPts val="2499"/>
              </a:lnSpc>
            </a:pPr>
            <a:r>
              <a:rPr lang="en-US" sz="1500">
                <a:solidFill>
                  <a:srgbClr val="4967E9"/>
                </a:solidFill>
                <a:latin typeface="Arimo"/>
                <a:ea typeface="Arimo"/>
                <a:cs typeface="Arimo"/>
                <a:sym typeface="Arimo"/>
              </a:rPr>
              <a:t>REACT.JS + FASTAPI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1004735"/>
            <a:ext cx="7447512" cy="813197"/>
          </a:xfrm>
          <a:prstGeom prst="rect">
            <a:avLst/>
          </a:prstGeom>
        </p:spPr>
        <p:txBody>
          <a:bodyPr anchor="t" rtlCol="false" tIns="0" lIns="0" bIns="0" rIns="0">
            <a:spAutoFit/>
          </a:bodyPr>
          <a:lstStyle/>
          <a:p>
            <a:pPr algn="l">
              <a:lnSpc>
                <a:spcPts val="6100"/>
              </a:lnSpc>
            </a:pPr>
            <a:r>
              <a:rPr lang="en-US" sz="4800">
                <a:solidFill>
                  <a:srgbClr val="1B1B27"/>
                </a:solidFill>
                <a:latin typeface="Corben"/>
                <a:ea typeface="Corben"/>
                <a:cs typeface="Corben"/>
                <a:sym typeface="Corben"/>
              </a:rPr>
              <a:t>Introduction &amp; Objectives</a:t>
            </a:r>
          </a:p>
        </p:txBody>
      </p:sp>
      <p:sp>
        <p:nvSpPr>
          <p:cNvPr name="TextBox 7" id="7"/>
          <p:cNvSpPr txBox="true"/>
          <p:nvPr/>
        </p:nvSpPr>
        <p:spPr>
          <a:xfrm rot="0">
            <a:off x="992238" y="2218734"/>
            <a:ext cx="16303523" cy="1682944"/>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Secure communication is a critical requirement as organizations continuously exchange confidential information. Traditional systems relying only on basic authentication and encryption may not protect against unauthorized access, tampering, or insider attacks. This project demonstrates secure file transfer, REST API communication, encryption/decryption, multi-user authorization, access control, and integrity protection — simulating real-world enterprise secure communication workflows.</a:t>
            </a:r>
          </a:p>
        </p:txBody>
      </p:sp>
      <p:grpSp>
        <p:nvGrpSpPr>
          <p:cNvPr name="Group 8" id="8"/>
          <p:cNvGrpSpPr/>
          <p:nvPr/>
        </p:nvGrpSpPr>
        <p:grpSpPr>
          <a:xfrm rot="0">
            <a:off x="813645" y="4180732"/>
            <a:ext cx="8206378" cy="5063280"/>
            <a:chOff x="0" y="0"/>
            <a:chExt cx="10941837" cy="6751041"/>
          </a:xfrm>
        </p:grpSpPr>
        <p:sp>
          <p:nvSpPr>
            <p:cNvPr name="Freeform 9" id="9"/>
            <p:cNvSpPr/>
            <p:nvPr/>
          </p:nvSpPr>
          <p:spPr>
            <a:xfrm flipH="false" flipV="false" rot="0">
              <a:off x="0" y="0"/>
              <a:ext cx="10941812" cy="6750939"/>
            </a:xfrm>
            <a:custGeom>
              <a:avLst/>
              <a:gdLst/>
              <a:ahLst/>
              <a:cxnLst/>
              <a:rect r="r" b="b" t="t" l="l"/>
              <a:pathLst>
                <a:path h="6750939" w="10941812">
                  <a:moveTo>
                    <a:pt x="0" y="238125"/>
                  </a:moveTo>
                  <a:cubicBezTo>
                    <a:pt x="0" y="106680"/>
                    <a:pt x="106680" y="0"/>
                    <a:pt x="238125" y="0"/>
                  </a:cubicBezTo>
                  <a:lnTo>
                    <a:pt x="10703687" y="0"/>
                  </a:lnTo>
                  <a:cubicBezTo>
                    <a:pt x="10835259" y="0"/>
                    <a:pt x="10941812" y="106680"/>
                    <a:pt x="10941812" y="238125"/>
                  </a:cubicBezTo>
                  <a:lnTo>
                    <a:pt x="10941812" y="6512814"/>
                  </a:lnTo>
                  <a:cubicBezTo>
                    <a:pt x="10941812" y="6644386"/>
                    <a:pt x="10835132" y="6750939"/>
                    <a:pt x="10703687" y="6750939"/>
                  </a:cubicBezTo>
                  <a:lnTo>
                    <a:pt x="238125" y="6750939"/>
                  </a:lnTo>
                  <a:cubicBezTo>
                    <a:pt x="106680" y="6751066"/>
                    <a:pt x="0" y="6644386"/>
                    <a:pt x="0" y="6512814"/>
                  </a:cubicBezTo>
                  <a:close/>
                </a:path>
              </a:pathLst>
            </a:custGeom>
            <a:solidFill>
              <a:srgbClr val="4967E9">
                <a:alpha val="90196"/>
              </a:srgbClr>
            </a:solidFill>
          </p:spPr>
        </p:sp>
      </p:grpSp>
      <p:sp>
        <p:nvSpPr>
          <p:cNvPr name="TextBox 10" id="10"/>
          <p:cNvSpPr txBox="true"/>
          <p:nvPr/>
        </p:nvSpPr>
        <p:spPr>
          <a:xfrm rot="0">
            <a:off x="1061590" y="4419152"/>
            <a:ext cx="3101130" cy="397221"/>
          </a:xfrm>
          <a:prstGeom prst="rect">
            <a:avLst/>
          </a:prstGeom>
        </p:spPr>
        <p:txBody>
          <a:bodyPr anchor="t" rtlCol="false" tIns="0" lIns="0" bIns="0" rIns="0">
            <a:spAutoFit/>
          </a:bodyPr>
          <a:lstStyle/>
          <a:p>
            <a:pPr algn="l">
              <a:lnSpc>
                <a:spcPts val="3000"/>
              </a:lnSpc>
            </a:pPr>
            <a:r>
              <a:rPr lang="en-US" sz="2400">
                <a:solidFill>
                  <a:srgbClr val="FFFFFF"/>
                </a:solidFill>
                <a:latin typeface="Corben"/>
                <a:ea typeface="Corben"/>
                <a:cs typeface="Corben"/>
                <a:sym typeface="Corben"/>
              </a:rPr>
              <a:t>The Challenge</a:t>
            </a:r>
          </a:p>
        </p:txBody>
      </p:sp>
      <p:sp>
        <p:nvSpPr>
          <p:cNvPr name="TextBox 11" id="11"/>
          <p:cNvSpPr txBox="true"/>
          <p:nvPr/>
        </p:nvSpPr>
        <p:spPr>
          <a:xfrm rot="0">
            <a:off x="1061590" y="4969078"/>
            <a:ext cx="7710488" cy="2079869"/>
          </a:xfrm>
          <a:prstGeom prst="rect">
            <a:avLst/>
          </a:prstGeom>
        </p:spPr>
        <p:txBody>
          <a:bodyPr anchor="t" rtlCol="false" tIns="0" lIns="0" bIns="0" rIns="0">
            <a:spAutoFit/>
          </a:bodyPr>
          <a:lstStyle/>
          <a:p>
            <a:pPr algn="l">
              <a:lnSpc>
                <a:spcPts val="3100"/>
              </a:lnSpc>
            </a:pPr>
            <a:r>
              <a:rPr lang="en-US" sz="1900">
                <a:solidFill>
                  <a:srgbClr val="FFFFFF"/>
                </a:solidFill>
                <a:latin typeface="Arimo"/>
                <a:ea typeface="Arimo"/>
                <a:cs typeface="Arimo"/>
                <a:sym typeface="Arimo"/>
              </a:rPr>
              <a:t>Traditional systems lack adequate protection against unauthorized access, tampering, and insider threats. This project implements encrypted file transfer combined with threshold-based authorization — files remain encrypted until approvals from multiple users are received.</a:t>
            </a:r>
          </a:p>
        </p:txBody>
      </p:sp>
      <p:sp>
        <p:nvSpPr>
          <p:cNvPr name="TextBox 12" id="12"/>
          <p:cNvSpPr txBox="true"/>
          <p:nvPr/>
        </p:nvSpPr>
        <p:spPr>
          <a:xfrm rot="0">
            <a:off x="9456096" y="4419152"/>
            <a:ext cx="3101130" cy="397221"/>
          </a:xfrm>
          <a:prstGeom prst="rect">
            <a:avLst/>
          </a:prstGeom>
        </p:spPr>
        <p:txBody>
          <a:bodyPr anchor="t" rtlCol="false" tIns="0" lIns="0" bIns="0" rIns="0">
            <a:spAutoFit/>
          </a:bodyPr>
          <a:lstStyle/>
          <a:p>
            <a:pPr algn="l">
              <a:lnSpc>
                <a:spcPts val="3000"/>
              </a:lnSpc>
            </a:pPr>
            <a:r>
              <a:rPr lang="en-US" sz="2400">
                <a:solidFill>
                  <a:srgbClr val="1B1B27"/>
                </a:solidFill>
                <a:latin typeface="Corben"/>
                <a:ea typeface="Corben"/>
                <a:cs typeface="Corben"/>
                <a:sym typeface="Corben"/>
              </a:rPr>
              <a:t>Project Objectives</a:t>
            </a:r>
          </a:p>
        </p:txBody>
      </p:sp>
      <p:sp>
        <p:nvSpPr>
          <p:cNvPr name="TextBox 13" id="13"/>
          <p:cNvSpPr txBox="true"/>
          <p:nvPr/>
        </p:nvSpPr>
        <p:spPr>
          <a:xfrm rot="0">
            <a:off x="9456096" y="4969078"/>
            <a:ext cx="7849200" cy="4188171"/>
          </a:xfrm>
          <a:prstGeom prst="rect">
            <a:avLst/>
          </a:prstGeom>
        </p:spPr>
        <p:txBody>
          <a:bodyPr anchor="t" rtlCol="false" tIns="0" lIns="0" bIns="0" rIns="0">
            <a:spAutoFit/>
          </a:bodyPr>
          <a:lstStyle/>
          <a:p>
            <a:pPr algn="l" marL="458470" indent="-229235" lvl="1">
              <a:lnSpc>
                <a:spcPts val="3100"/>
              </a:lnSpc>
              <a:buFont typeface="Arial"/>
              <a:buChar char="•"/>
            </a:pPr>
            <a:r>
              <a:rPr lang="en-US" sz="1900">
                <a:solidFill>
                  <a:srgbClr val="404155"/>
                </a:solidFill>
                <a:latin typeface="Arimo"/>
                <a:ea typeface="Arimo"/>
                <a:cs typeface="Arimo"/>
                <a:sym typeface="Arimo"/>
              </a:rPr>
              <a:t>Implement secure encrypted communication using cryptographic techniques</a:t>
            </a:r>
          </a:p>
          <a:p>
            <a:pPr algn="l" marL="458470" indent="-229235" lvl="1">
              <a:lnSpc>
                <a:spcPts val="3100"/>
              </a:lnSpc>
              <a:buFont typeface="Arial"/>
              <a:buChar char="•"/>
            </a:pPr>
            <a:r>
              <a:rPr lang="en-US" sz="1900">
                <a:solidFill>
                  <a:srgbClr val="404155"/>
                </a:solidFill>
                <a:latin typeface="Arimo"/>
                <a:ea typeface="Arimo"/>
                <a:cs typeface="Arimo"/>
                <a:sym typeface="Arimo"/>
              </a:rPr>
              <a:t>Design a threshold-based authorization system</a:t>
            </a:r>
          </a:p>
          <a:p>
            <a:pPr algn="l" marL="458470" indent="-229235" lvl="1">
              <a:lnSpc>
                <a:spcPts val="3100"/>
              </a:lnSpc>
              <a:buFont typeface="Arial"/>
              <a:buChar char="•"/>
            </a:pPr>
            <a:r>
              <a:rPr lang="en-US" sz="1900">
                <a:solidFill>
                  <a:srgbClr val="404155"/>
                </a:solidFill>
                <a:latin typeface="Arimo"/>
                <a:ea typeface="Arimo"/>
                <a:cs typeface="Arimo"/>
                <a:sym typeface="Arimo"/>
              </a:rPr>
              <a:t>Ensure sensitive files remain inaccessible until approvals are completed</a:t>
            </a:r>
          </a:p>
          <a:p>
            <a:pPr algn="l" marL="458470" indent="-229235" lvl="1">
              <a:lnSpc>
                <a:spcPts val="3100"/>
              </a:lnSpc>
              <a:buFont typeface="Arial"/>
              <a:buChar char="•"/>
            </a:pPr>
            <a:r>
              <a:rPr lang="en-US" sz="1900">
                <a:solidFill>
                  <a:srgbClr val="404155"/>
                </a:solidFill>
                <a:latin typeface="Arimo"/>
                <a:ea typeface="Arimo"/>
                <a:cs typeface="Arimo"/>
                <a:sym typeface="Arimo"/>
              </a:rPr>
              <a:t>Preserve integrity and confidentiality during transmission</a:t>
            </a:r>
          </a:p>
          <a:p>
            <a:pPr algn="l" marL="458470" indent="-229235" lvl="1">
              <a:lnSpc>
                <a:spcPts val="3100"/>
              </a:lnSpc>
              <a:buFont typeface="Arial"/>
              <a:buChar char="•"/>
            </a:pPr>
            <a:r>
              <a:rPr lang="en-US" sz="1900">
                <a:solidFill>
                  <a:srgbClr val="404155"/>
                </a:solidFill>
                <a:latin typeface="Arimo"/>
                <a:ea typeface="Arimo"/>
                <a:cs typeface="Arimo"/>
                <a:sym typeface="Arimo"/>
              </a:rPr>
              <a:t>Implement secure backend communication via REST APIs</a:t>
            </a:r>
          </a:p>
          <a:p>
            <a:pPr algn="l" marL="458470" indent="-229235" lvl="1">
              <a:lnSpc>
                <a:spcPts val="3100"/>
              </a:lnSpc>
              <a:buFont typeface="Arial"/>
              <a:buChar char="•"/>
            </a:pPr>
            <a:r>
              <a:rPr lang="en-US" sz="1900">
                <a:solidFill>
                  <a:srgbClr val="404155"/>
                </a:solidFill>
                <a:latin typeface="Arimo"/>
                <a:ea typeface="Arimo"/>
                <a:cs typeface="Arimo"/>
                <a:sym typeface="Arimo"/>
              </a:rPr>
              <a:t>Provide a modern frontend for communication and approvals</a:t>
            </a:r>
          </a:p>
          <a:p>
            <a:pPr algn="l" marL="458470" indent="-229235" lvl="1">
              <a:lnSpc>
                <a:spcPts val="3100"/>
              </a:lnSpc>
              <a:buFont typeface="Arial"/>
              <a:buChar char="•"/>
            </a:pPr>
            <a:r>
              <a:rPr lang="en-US" sz="1900">
                <a:solidFill>
                  <a:srgbClr val="404155"/>
                </a:solidFill>
                <a:latin typeface="Arimo"/>
                <a:ea typeface="Arimo"/>
                <a:cs typeface="Arimo"/>
                <a:sym typeface="Arimo"/>
              </a:rPr>
              <a:t>Simulate a secure enterprise-style communication system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2266055" y="500358"/>
            <a:ext cx="4360964" cy="564061"/>
          </a:xfrm>
          <a:prstGeom prst="rect">
            <a:avLst/>
          </a:prstGeom>
        </p:spPr>
        <p:txBody>
          <a:bodyPr anchor="t" rtlCol="false" tIns="0" lIns="0" bIns="0" rIns="0">
            <a:spAutoFit/>
          </a:bodyPr>
          <a:lstStyle/>
          <a:p>
            <a:pPr algn="l">
              <a:lnSpc>
                <a:spcPts val="4200"/>
              </a:lnSpc>
            </a:pPr>
            <a:r>
              <a:rPr lang="en-US" sz="3400">
                <a:solidFill>
                  <a:srgbClr val="1B1B27"/>
                </a:solidFill>
                <a:latin typeface="Corben"/>
                <a:ea typeface="Corben"/>
                <a:cs typeface="Corben"/>
                <a:sym typeface="Corben"/>
              </a:rPr>
              <a:t>System Architecture</a:t>
            </a:r>
          </a:p>
        </p:txBody>
      </p:sp>
      <p:sp>
        <p:nvSpPr>
          <p:cNvPr name="TextBox 7" id="7"/>
          <p:cNvSpPr txBox="true"/>
          <p:nvPr/>
        </p:nvSpPr>
        <p:spPr>
          <a:xfrm rot="0">
            <a:off x="2266055" y="1262063"/>
            <a:ext cx="13755738" cy="522684"/>
          </a:xfrm>
          <a:prstGeom prst="rect">
            <a:avLst/>
          </a:prstGeom>
        </p:spPr>
        <p:txBody>
          <a:bodyPr anchor="t" rtlCol="false" tIns="0" lIns="0" bIns="0" rIns="0">
            <a:spAutoFit/>
          </a:bodyPr>
          <a:lstStyle/>
          <a:p>
            <a:pPr algn="l">
              <a:lnSpc>
                <a:spcPts val="1800"/>
              </a:lnSpc>
            </a:pPr>
            <a:r>
              <a:rPr lang="en-US" sz="1300">
                <a:solidFill>
                  <a:srgbClr val="404155"/>
                </a:solidFill>
                <a:latin typeface="Arimo"/>
                <a:ea typeface="Arimo"/>
                <a:cs typeface="Arimo"/>
                <a:sym typeface="Arimo"/>
              </a:rPr>
              <a:t>The project follows a </a:t>
            </a:r>
            <a:r>
              <a:rPr lang="en-US" sz="1300" b="true">
                <a:solidFill>
                  <a:srgbClr val="404155"/>
                </a:solidFill>
                <a:latin typeface="Arimo Bold"/>
                <a:ea typeface="Arimo Bold"/>
                <a:cs typeface="Arimo Bold"/>
                <a:sym typeface="Arimo Bold"/>
              </a:rPr>
              <a:t>client-server architecture</a:t>
            </a:r>
            <a:r>
              <a:rPr lang="en-US" sz="1300">
                <a:solidFill>
                  <a:srgbClr val="404155"/>
                </a:solidFill>
                <a:latin typeface="Arimo"/>
                <a:ea typeface="Arimo"/>
                <a:cs typeface="Arimo"/>
                <a:sym typeface="Arimo"/>
              </a:rPr>
              <a:t> with two major modules communicating via REST APIs. The backend acts as the central secure communication server, handling all cryptographic operations and approval logic.</a:t>
            </a:r>
          </a:p>
        </p:txBody>
      </p:sp>
      <p:grpSp>
        <p:nvGrpSpPr>
          <p:cNvPr name="Group 8" id="8"/>
          <p:cNvGrpSpPr/>
          <p:nvPr/>
        </p:nvGrpSpPr>
        <p:grpSpPr>
          <a:xfrm rot="0">
            <a:off x="2486320" y="1922707"/>
            <a:ext cx="13315055" cy="4996310"/>
            <a:chOff x="0" y="0"/>
            <a:chExt cx="17753406" cy="6661747"/>
          </a:xfrm>
        </p:grpSpPr>
        <p:sp>
          <p:nvSpPr>
            <p:cNvPr name="Freeform 9" id="9" descr="preencoded.png"/>
            <p:cNvSpPr/>
            <p:nvPr/>
          </p:nvSpPr>
          <p:spPr>
            <a:xfrm flipH="false" flipV="false" rot="0">
              <a:off x="0" y="0"/>
              <a:ext cx="17753457" cy="6661785"/>
            </a:xfrm>
            <a:custGeom>
              <a:avLst/>
              <a:gdLst/>
              <a:ahLst/>
              <a:cxnLst/>
              <a:rect r="r" b="b" t="t" l="l"/>
              <a:pathLst>
                <a:path h="6661785" w="17753457">
                  <a:moveTo>
                    <a:pt x="0" y="0"/>
                  </a:moveTo>
                  <a:lnTo>
                    <a:pt x="17753457" y="0"/>
                  </a:lnTo>
                  <a:lnTo>
                    <a:pt x="17753457" y="6661785"/>
                  </a:lnTo>
                  <a:lnTo>
                    <a:pt x="0" y="6661785"/>
                  </a:lnTo>
                  <a:lnTo>
                    <a:pt x="0" y="0"/>
                  </a:lnTo>
                  <a:close/>
                </a:path>
              </a:pathLst>
            </a:custGeom>
            <a:blipFill>
              <a:blip r:embed="rId4"/>
              <a:stretch>
                <a:fillRect l="0" t="-39" r="0" b="-39"/>
              </a:stretch>
            </a:blipFill>
          </p:spPr>
        </p:sp>
      </p:grpSp>
      <p:sp>
        <p:nvSpPr>
          <p:cNvPr name="Freeform 10" id="10" descr="preencoded.png"/>
          <p:cNvSpPr/>
          <p:nvPr/>
        </p:nvSpPr>
        <p:spPr>
          <a:xfrm flipH="false" flipV="false" rot="0">
            <a:off x="13857418" y="3195361"/>
            <a:ext cx="687762" cy="687762"/>
          </a:xfrm>
          <a:custGeom>
            <a:avLst/>
            <a:gdLst/>
            <a:ahLst/>
            <a:cxnLst/>
            <a:rect r="r" b="b" t="t" l="l"/>
            <a:pathLst>
              <a:path h="687762" w="687762">
                <a:moveTo>
                  <a:pt x="0" y="0"/>
                </a:moveTo>
                <a:lnTo>
                  <a:pt x="687762" y="0"/>
                </a:lnTo>
                <a:lnTo>
                  <a:pt x="687762" y="687762"/>
                </a:lnTo>
                <a:lnTo>
                  <a:pt x="0" y="6877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3244674" y="5503164"/>
            <a:ext cx="2008261" cy="783260"/>
          </a:xfrm>
          <a:prstGeom prst="rect">
            <a:avLst/>
          </a:prstGeom>
        </p:spPr>
        <p:txBody>
          <a:bodyPr anchor="t" rtlCol="false" tIns="0" lIns="0" bIns="0" rIns="0">
            <a:spAutoFit/>
          </a:bodyPr>
          <a:lstStyle/>
          <a:p>
            <a:pPr algn="ctr">
              <a:lnSpc>
                <a:spcPts val="3000"/>
              </a:lnSpc>
            </a:pPr>
            <a:r>
              <a:rPr lang="en-US" sz="2400">
                <a:solidFill>
                  <a:srgbClr val="404155"/>
                </a:solidFill>
                <a:latin typeface="Corben"/>
                <a:ea typeface="Corben"/>
                <a:cs typeface="Corben"/>
                <a:sym typeface="Corben"/>
              </a:rPr>
              <a:t>Decrypt &amp; Deliver</a:t>
            </a:r>
          </a:p>
        </p:txBody>
      </p:sp>
      <p:sp>
        <p:nvSpPr>
          <p:cNvPr name="Freeform 12" id="12" descr="preencoded.png"/>
          <p:cNvSpPr/>
          <p:nvPr/>
        </p:nvSpPr>
        <p:spPr>
          <a:xfrm flipH="false" flipV="false" rot="0">
            <a:off x="11339570" y="3196647"/>
            <a:ext cx="687762" cy="687762"/>
          </a:xfrm>
          <a:custGeom>
            <a:avLst/>
            <a:gdLst/>
            <a:ahLst/>
            <a:cxnLst/>
            <a:rect r="r" b="b" t="t" l="l"/>
            <a:pathLst>
              <a:path h="687762" w="687762">
                <a:moveTo>
                  <a:pt x="0" y="0"/>
                </a:moveTo>
                <a:lnTo>
                  <a:pt x="687762" y="0"/>
                </a:lnTo>
                <a:lnTo>
                  <a:pt x="687762" y="687762"/>
                </a:lnTo>
                <a:lnTo>
                  <a:pt x="0" y="6877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0713710" y="5503164"/>
            <a:ext cx="2008261" cy="783260"/>
          </a:xfrm>
          <a:prstGeom prst="rect">
            <a:avLst/>
          </a:prstGeom>
        </p:spPr>
        <p:txBody>
          <a:bodyPr anchor="t" rtlCol="false" tIns="0" lIns="0" bIns="0" rIns="0">
            <a:spAutoFit/>
          </a:bodyPr>
          <a:lstStyle/>
          <a:p>
            <a:pPr algn="ctr">
              <a:lnSpc>
                <a:spcPts val="3000"/>
              </a:lnSpc>
            </a:pPr>
            <a:r>
              <a:rPr lang="en-US" sz="2400">
                <a:solidFill>
                  <a:srgbClr val="404155"/>
                </a:solidFill>
                <a:latin typeface="Corben"/>
                <a:ea typeface="Corben"/>
                <a:cs typeface="Corben"/>
                <a:sym typeface="Corben"/>
              </a:rPr>
              <a:t>Dual Approval</a:t>
            </a:r>
          </a:p>
        </p:txBody>
      </p:sp>
      <p:sp>
        <p:nvSpPr>
          <p:cNvPr name="Freeform 14" id="14" descr="preencoded.png"/>
          <p:cNvSpPr/>
          <p:nvPr/>
        </p:nvSpPr>
        <p:spPr>
          <a:xfrm flipH="false" flipV="false" rot="0">
            <a:off x="8822360" y="3196647"/>
            <a:ext cx="687762" cy="687762"/>
          </a:xfrm>
          <a:custGeom>
            <a:avLst/>
            <a:gdLst/>
            <a:ahLst/>
            <a:cxnLst/>
            <a:rect r="r" b="b" t="t" l="l"/>
            <a:pathLst>
              <a:path h="687762" w="687762">
                <a:moveTo>
                  <a:pt x="0" y="0"/>
                </a:moveTo>
                <a:lnTo>
                  <a:pt x="687762" y="0"/>
                </a:lnTo>
                <a:lnTo>
                  <a:pt x="687762" y="687762"/>
                </a:lnTo>
                <a:lnTo>
                  <a:pt x="0" y="687762"/>
                </a:lnTo>
                <a:lnTo>
                  <a:pt x="0" y="0"/>
                </a:lnTo>
                <a:close/>
              </a:path>
            </a:pathLst>
          </a:custGeom>
          <a:blipFill>
            <a:blip r:embed="rId9">
              <a:extLst>
                <a:ext uri="{96DAC541-7B7A-43D3-8B79-37D633B846F1}">
                  <asvg:svgBlip xmlns:asvg="http://schemas.microsoft.com/office/drawing/2016/SVG/main" r:embed="rId10"/>
                </a:ext>
              </a:extLst>
            </a:blip>
            <a:stretch>
              <a:fillRect l="0" t="-7533" r="0" b="-7533"/>
            </a:stretch>
          </a:blipFill>
        </p:spPr>
      </p:sp>
      <p:sp>
        <p:nvSpPr>
          <p:cNvPr name="TextBox 15" id="15"/>
          <p:cNvSpPr txBox="true"/>
          <p:nvPr/>
        </p:nvSpPr>
        <p:spPr>
          <a:xfrm rot="0">
            <a:off x="8196501" y="5503164"/>
            <a:ext cx="2008261" cy="783260"/>
          </a:xfrm>
          <a:prstGeom prst="rect">
            <a:avLst/>
          </a:prstGeom>
        </p:spPr>
        <p:txBody>
          <a:bodyPr anchor="t" rtlCol="false" tIns="0" lIns="0" bIns="0" rIns="0">
            <a:spAutoFit/>
          </a:bodyPr>
          <a:lstStyle/>
          <a:p>
            <a:pPr algn="ctr">
              <a:lnSpc>
                <a:spcPts val="3000"/>
              </a:lnSpc>
            </a:pPr>
            <a:r>
              <a:rPr lang="en-US" sz="2400">
                <a:solidFill>
                  <a:srgbClr val="404155"/>
                </a:solidFill>
                <a:latin typeface="Corben"/>
                <a:ea typeface="Corben"/>
                <a:cs typeface="Corben"/>
                <a:sym typeface="Corben"/>
              </a:rPr>
              <a:t>Secure Storage</a:t>
            </a:r>
          </a:p>
        </p:txBody>
      </p:sp>
      <p:sp>
        <p:nvSpPr>
          <p:cNvPr name="Freeform 16" id="16" descr="preencoded.png"/>
          <p:cNvSpPr/>
          <p:nvPr/>
        </p:nvSpPr>
        <p:spPr>
          <a:xfrm flipH="false" flipV="false" rot="0">
            <a:off x="6305159" y="3196647"/>
            <a:ext cx="687762" cy="687762"/>
          </a:xfrm>
          <a:custGeom>
            <a:avLst/>
            <a:gdLst/>
            <a:ahLst/>
            <a:cxnLst/>
            <a:rect r="r" b="b" t="t" l="l"/>
            <a:pathLst>
              <a:path h="687762" w="687762">
                <a:moveTo>
                  <a:pt x="0" y="0"/>
                </a:moveTo>
                <a:lnTo>
                  <a:pt x="687763" y="0"/>
                </a:lnTo>
                <a:lnTo>
                  <a:pt x="687763" y="687762"/>
                </a:lnTo>
                <a:lnTo>
                  <a:pt x="0" y="687762"/>
                </a:lnTo>
                <a:lnTo>
                  <a:pt x="0" y="0"/>
                </a:lnTo>
                <a:close/>
              </a:path>
            </a:pathLst>
          </a:custGeom>
          <a:blipFill>
            <a:blip r:embed="rId11">
              <a:extLst>
                <a:ext uri="{96DAC541-7B7A-43D3-8B79-37D633B846F1}">
                  <asvg:svgBlip xmlns:asvg="http://schemas.microsoft.com/office/drawing/2016/SVG/main" r:embed="rId12"/>
                </a:ext>
              </a:extLst>
            </a:blip>
            <a:stretch>
              <a:fillRect l="0" t="-4794" r="0" b="-4794"/>
            </a:stretch>
          </a:blipFill>
        </p:spPr>
      </p:sp>
      <p:sp>
        <p:nvSpPr>
          <p:cNvPr name="TextBox 17" id="17"/>
          <p:cNvSpPr txBox="true"/>
          <p:nvPr/>
        </p:nvSpPr>
        <p:spPr>
          <a:xfrm rot="0">
            <a:off x="5679291" y="5503164"/>
            <a:ext cx="2008261" cy="783260"/>
          </a:xfrm>
          <a:prstGeom prst="rect">
            <a:avLst/>
          </a:prstGeom>
        </p:spPr>
        <p:txBody>
          <a:bodyPr anchor="t" rtlCol="false" tIns="0" lIns="0" bIns="0" rIns="0">
            <a:spAutoFit/>
          </a:bodyPr>
          <a:lstStyle/>
          <a:p>
            <a:pPr algn="ctr">
              <a:lnSpc>
                <a:spcPts val="3000"/>
              </a:lnSpc>
            </a:pPr>
            <a:r>
              <a:rPr lang="en-US" sz="2400">
                <a:solidFill>
                  <a:srgbClr val="404155"/>
                </a:solidFill>
                <a:latin typeface="Corben"/>
                <a:ea typeface="Corben"/>
                <a:cs typeface="Corben"/>
                <a:sym typeface="Corben"/>
              </a:rPr>
              <a:t>Encrypt AES‑GCM</a:t>
            </a:r>
          </a:p>
        </p:txBody>
      </p:sp>
      <p:sp>
        <p:nvSpPr>
          <p:cNvPr name="Freeform 18" id="18" descr="preencoded.png"/>
          <p:cNvSpPr/>
          <p:nvPr/>
        </p:nvSpPr>
        <p:spPr>
          <a:xfrm flipH="false" flipV="false" rot="0">
            <a:off x="3774196" y="3196647"/>
            <a:ext cx="687762" cy="687762"/>
          </a:xfrm>
          <a:custGeom>
            <a:avLst/>
            <a:gdLst/>
            <a:ahLst/>
            <a:cxnLst/>
            <a:rect r="r" b="b" t="t" l="l"/>
            <a:pathLst>
              <a:path h="687762" w="687762">
                <a:moveTo>
                  <a:pt x="0" y="0"/>
                </a:moveTo>
                <a:lnTo>
                  <a:pt x="687762" y="0"/>
                </a:lnTo>
                <a:lnTo>
                  <a:pt x="687762" y="687762"/>
                </a:lnTo>
                <a:lnTo>
                  <a:pt x="0" y="687762"/>
                </a:lnTo>
                <a:lnTo>
                  <a:pt x="0" y="0"/>
                </a:lnTo>
                <a:close/>
              </a:path>
            </a:pathLst>
          </a:custGeom>
          <a:blipFill>
            <a:blip r:embed="rId13">
              <a:extLst>
                <a:ext uri="{96DAC541-7B7A-43D3-8B79-37D633B846F1}">
                  <asvg:svgBlip xmlns:asvg="http://schemas.microsoft.com/office/drawing/2016/SVG/main" r:embed="rId14"/>
                </a:ext>
              </a:extLst>
            </a:blip>
            <a:stretch>
              <a:fillRect l="0" t="-3424" r="0" b="-3424"/>
            </a:stretch>
          </a:blipFill>
        </p:spPr>
      </p:sp>
      <p:sp>
        <p:nvSpPr>
          <p:cNvPr name="TextBox 19" id="19"/>
          <p:cNvSpPr txBox="true"/>
          <p:nvPr/>
        </p:nvSpPr>
        <p:spPr>
          <a:xfrm rot="0">
            <a:off x="3107065" y="5503164"/>
            <a:ext cx="2008261" cy="783260"/>
          </a:xfrm>
          <a:prstGeom prst="rect">
            <a:avLst/>
          </a:prstGeom>
        </p:spPr>
        <p:txBody>
          <a:bodyPr anchor="t" rtlCol="false" tIns="0" lIns="0" bIns="0" rIns="0">
            <a:spAutoFit/>
          </a:bodyPr>
          <a:lstStyle/>
          <a:p>
            <a:pPr algn="ctr">
              <a:lnSpc>
                <a:spcPts val="3000"/>
              </a:lnSpc>
            </a:pPr>
            <a:r>
              <a:rPr lang="en-US" sz="2400">
                <a:solidFill>
                  <a:srgbClr val="404155"/>
                </a:solidFill>
                <a:latin typeface="Corben"/>
                <a:ea typeface="Corben"/>
                <a:cs typeface="Corben"/>
                <a:sym typeface="Corben"/>
              </a:rPr>
              <a:t>Sender Upload</a:t>
            </a:r>
          </a:p>
        </p:txBody>
      </p:sp>
      <p:sp>
        <p:nvSpPr>
          <p:cNvPr name="TextBox 20" id="20"/>
          <p:cNvSpPr txBox="true"/>
          <p:nvPr/>
        </p:nvSpPr>
        <p:spPr>
          <a:xfrm rot="0">
            <a:off x="2266055" y="7009362"/>
            <a:ext cx="13755738" cy="285159"/>
          </a:xfrm>
          <a:prstGeom prst="rect">
            <a:avLst/>
          </a:prstGeom>
        </p:spPr>
        <p:txBody>
          <a:bodyPr anchor="t" rtlCol="false" tIns="0" lIns="0" bIns="0" rIns="0">
            <a:spAutoFit/>
          </a:bodyPr>
          <a:lstStyle/>
          <a:p>
            <a:pPr algn="l">
              <a:lnSpc>
                <a:spcPts val="1800"/>
              </a:lnSpc>
            </a:pPr>
            <a:r>
              <a:rPr lang="en-US" sz="1300">
                <a:solidFill>
                  <a:srgbClr val="404155"/>
                </a:solidFill>
                <a:latin typeface="Arimo"/>
                <a:ea typeface="Arimo"/>
                <a:cs typeface="Arimo"/>
                <a:sym typeface="Arimo"/>
              </a:rPr>
              <a:t>The backend acts as the central secure communication server, managing encryption, storage, approval verification, and decryption.</a:t>
            </a:r>
          </a:p>
        </p:txBody>
      </p:sp>
      <p:sp>
        <p:nvSpPr>
          <p:cNvPr name="TextBox 21" id="21"/>
          <p:cNvSpPr txBox="true"/>
          <p:nvPr/>
        </p:nvSpPr>
        <p:spPr>
          <a:xfrm rot="0">
            <a:off x="2266055" y="7545581"/>
            <a:ext cx="2726236" cy="282026"/>
          </a:xfrm>
          <a:prstGeom prst="rect">
            <a:avLst/>
          </a:prstGeom>
        </p:spPr>
        <p:txBody>
          <a:bodyPr anchor="t" rtlCol="false" tIns="0" lIns="0" bIns="0" rIns="0">
            <a:spAutoFit/>
          </a:bodyPr>
          <a:lstStyle/>
          <a:p>
            <a:pPr algn="l">
              <a:lnSpc>
                <a:spcPts val="2100"/>
              </a:lnSpc>
            </a:pPr>
            <a:r>
              <a:rPr lang="en-US" sz="1700">
                <a:solidFill>
                  <a:srgbClr val="1B1B27"/>
                </a:solidFill>
                <a:latin typeface="Corben"/>
                <a:ea typeface="Corben"/>
                <a:cs typeface="Corben"/>
                <a:sym typeface="Corben"/>
              </a:rPr>
              <a:t>Frontend Module (React.js)</a:t>
            </a:r>
          </a:p>
        </p:txBody>
      </p:sp>
      <p:sp>
        <p:nvSpPr>
          <p:cNvPr name="TextBox 22" id="22"/>
          <p:cNvSpPr txBox="true"/>
          <p:nvPr/>
        </p:nvSpPr>
        <p:spPr>
          <a:xfrm rot="0">
            <a:off x="2266055" y="7902626"/>
            <a:ext cx="6665119" cy="1406719"/>
          </a:xfrm>
          <a:prstGeom prst="rect">
            <a:avLst/>
          </a:prstGeom>
        </p:spPr>
        <p:txBody>
          <a:bodyPr anchor="t" rtlCol="false" tIns="0" lIns="0" bIns="0" rIns="0">
            <a:spAutoFit/>
          </a:bodyPr>
          <a:lstStyle/>
          <a:p>
            <a:pPr algn="l" marL="313690" indent="-156845" lvl="1">
              <a:lnSpc>
                <a:spcPts val="1800"/>
              </a:lnSpc>
              <a:buFont typeface="Arial"/>
              <a:buChar char="•"/>
            </a:pPr>
            <a:r>
              <a:rPr lang="en-US" sz="1300">
                <a:solidFill>
                  <a:srgbClr val="404155"/>
                </a:solidFill>
                <a:latin typeface="Arimo"/>
                <a:ea typeface="Arimo"/>
                <a:cs typeface="Arimo"/>
                <a:sym typeface="Arimo"/>
              </a:rPr>
              <a:t>Login functionality</a:t>
            </a:r>
          </a:p>
          <a:p>
            <a:pPr algn="l" marL="313690" indent="-156845" lvl="1">
              <a:lnSpc>
                <a:spcPts val="1800"/>
              </a:lnSpc>
              <a:buFont typeface="Arial"/>
              <a:buChar char="•"/>
            </a:pPr>
            <a:r>
              <a:rPr lang="en-US" sz="1300">
                <a:solidFill>
                  <a:srgbClr val="404155"/>
                </a:solidFill>
                <a:latin typeface="Arimo"/>
                <a:ea typeface="Arimo"/>
                <a:cs typeface="Arimo"/>
                <a:sym typeface="Arimo"/>
              </a:rPr>
              <a:t>File upload via drag-and-drop</a:t>
            </a:r>
          </a:p>
          <a:p>
            <a:pPr algn="l" marL="313690" indent="-156845" lvl="1">
              <a:lnSpc>
                <a:spcPts val="1800"/>
              </a:lnSpc>
              <a:buFont typeface="Arial"/>
              <a:buChar char="•"/>
            </a:pPr>
            <a:r>
              <a:rPr lang="en-US" sz="1300">
                <a:solidFill>
                  <a:srgbClr val="404155"/>
                </a:solidFill>
                <a:latin typeface="Arimo"/>
                <a:ea typeface="Arimo"/>
                <a:cs typeface="Arimo"/>
                <a:sym typeface="Arimo"/>
              </a:rPr>
              <a:t>Inbox viewing</a:t>
            </a:r>
          </a:p>
          <a:p>
            <a:pPr algn="l" marL="313690" indent="-156845" lvl="1">
              <a:lnSpc>
                <a:spcPts val="1800"/>
              </a:lnSpc>
              <a:buFont typeface="Arial"/>
              <a:buChar char="•"/>
            </a:pPr>
            <a:r>
              <a:rPr lang="en-US" sz="1300">
                <a:solidFill>
                  <a:srgbClr val="404155"/>
                </a:solidFill>
                <a:latin typeface="Arimo"/>
                <a:ea typeface="Arimo"/>
                <a:cs typeface="Arimo"/>
                <a:sym typeface="Arimo"/>
              </a:rPr>
              <a:t>Approval management dashboard</a:t>
            </a:r>
          </a:p>
          <a:p>
            <a:pPr algn="l" marL="313690" indent="-156845" lvl="1">
              <a:lnSpc>
                <a:spcPts val="1800"/>
              </a:lnSpc>
              <a:buFont typeface="Arial"/>
              <a:buChar char="•"/>
            </a:pPr>
            <a:r>
              <a:rPr lang="en-US" sz="1300">
                <a:solidFill>
                  <a:srgbClr val="404155"/>
                </a:solidFill>
                <a:latin typeface="Arimo"/>
                <a:ea typeface="Arimo"/>
                <a:cs typeface="Arimo"/>
                <a:sym typeface="Arimo"/>
              </a:rPr>
              <a:t>Secure file download</a:t>
            </a:r>
          </a:p>
        </p:txBody>
      </p:sp>
      <p:sp>
        <p:nvSpPr>
          <p:cNvPr name="TextBox 23" id="23"/>
          <p:cNvSpPr txBox="true"/>
          <p:nvPr/>
        </p:nvSpPr>
        <p:spPr>
          <a:xfrm rot="0">
            <a:off x="2266055" y="9372009"/>
            <a:ext cx="6665119" cy="285159"/>
          </a:xfrm>
          <a:prstGeom prst="rect">
            <a:avLst/>
          </a:prstGeom>
        </p:spPr>
        <p:txBody>
          <a:bodyPr anchor="t" rtlCol="false" tIns="0" lIns="0" bIns="0" rIns="0">
            <a:spAutoFit/>
          </a:bodyPr>
          <a:lstStyle/>
          <a:p>
            <a:pPr algn="l">
              <a:lnSpc>
                <a:spcPts val="1800"/>
              </a:lnSpc>
            </a:pPr>
            <a:r>
              <a:rPr lang="en-US" sz="1300">
                <a:solidFill>
                  <a:srgbClr val="404155"/>
                </a:solidFill>
                <a:latin typeface="Arimo"/>
                <a:ea typeface="Arimo"/>
                <a:cs typeface="Arimo"/>
                <a:sym typeface="Arimo"/>
              </a:rPr>
              <a:t>Communicates with backend through HTTP requests using Axios.</a:t>
            </a:r>
          </a:p>
        </p:txBody>
      </p:sp>
      <p:sp>
        <p:nvSpPr>
          <p:cNvPr name="TextBox 24" id="24"/>
          <p:cNvSpPr txBox="true"/>
          <p:nvPr/>
        </p:nvSpPr>
        <p:spPr>
          <a:xfrm rot="0">
            <a:off x="9366056" y="7545581"/>
            <a:ext cx="2718645" cy="282026"/>
          </a:xfrm>
          <a:prstGeom prst="rect">
            <a:avLst/>
          </a:prstGeom>
        </p:spPr>
        <p:txBody>
          <a:bodyPr anchor="t" rtlCol="false" tIns="0" lIns="0" bIns="0" rIns="0">
            <a:spAutoFit/>
          </a:bodyPr>
          <a:lstStyle/>
          <a:p>
            <a:pPr algn="l">
              <a:lnSpc>
                <a:spcPts val="2100"/>
              </a:lnSpc>
            </a:pPr>
            <a:r>
              <a:rPr lang="en-US" sz="1700">
                <a:solidFill>
                  <a:srgbClr val="1B1B27"/>
                </a:solidFill>
                <a:latin typeface="Corben"/>
                <a:ea typeface="Corben"/>
                <a:cs typeface="Corben"/>
                <a:sym typeface="Corben"/>
              </a:rPr>
              <a:t>Backend Module (FastAPI)</a:t>
            </a:r>
          </a:p>
        </p:txBody>
      </p:sp>
      <p:sp>
        <p:nvSpPr>
          <p:cNvPr name="TextBox 25" id="25"/>
          <p:cNvSpPr txBox="true"/>
          <p:nvPr/>
        </p:nvSpPr>
        <p:spPr>
          <a:xfrm rot="0">
            <a:off x="9366056" y="7902626"/>
            <a:ext cx="6665119" cy="1406719"/>
          </a:xfrm>
          <a:prstGeom prst="rect">
            <a:avLst/>
          </a:prstGeom>
        </p:spPr>
        <p:txBody>
          <a:bodyPr anchor="t" rtlCol="false" tIns="0" lIns="0" bIns="0" rIns="0">
            <a:spAutoFit/>
          </a:bodyPr>
          <a:lstStyle/>
          <a:p>
            <a:pPr algn="l" marL="313690" indent="-156845" lvl="1">
              <a:lnSpc>
                <a:spcPts val="1800"/>
              </a:lnSpc>
              <a:buFont typeface="Arial"/>
              <a:buChar char="•"/>
            </a:pPr>
            <a:r>
              <a:rPr lang="en-US" sz="1300">
                <a:solidFill>
                  <a:srgbClr val="404155"/>
                </a:solidFill>
                <a:latin typeface="Arimo"/>
                <a:ea typeface="Arimo"/>
                <a:cs typeface="Arimo"/>
                <a:sym typeface="Arimo"/>
              </a:rPr>
              <a:t>AES-GCM encryption and decryption</a:t>
            </a:r>
          </a:p>
          <a:p>
            <a:pPr algn="l" marL="313690" indent="-156845" lvl="1">
              <a:lnSpc>
                <a:spcPts val="1800"/>
              </a:lnSpc>
              <a:buFont typeface="Arial"/>
              <a:buChar char="•"/>
            </a:pPr>
            <a:r>
              <a:rPr lang="en-US" sz="1300">
                <a:solidFill>
                  <a:srgbClr val="404155"/>
                </a:solidFill>
                <a:latin typeface="Arimo"/>
                <a:ea typeface="Arimo"/>
                <a:cs typeface="Arimo"/>
                <a:sym typeface="Arimo"/>
              </a:rPr>
              <a:t>Approval verification logic</a:t>
            </a:r>
          </a:p>
          <a:p>
            <a:pPr algn="l" marL="313690" indent="-156845" lvl="1">
              <a:lnSpc>
                <a:spcPts val="1800"/>
              </a:lnSpc>
              <a:buFont typeface="Arial"/>
              <a:buChar char="•"/>
            </a:pPr>
            <a:r>
              <a:rPr lang="en-US" sz="1300">
                <a:solidFill>
                  <a:srgbClr val="404155"/>
                </a:solidFill>
                <a:latin typeface="Arimo"/>
                <a:ea typeface="Arimo"/>
                <a:cs typeface="Arimo"/>
                <a:sym typeface="Arimo"/>
              </a:rPr>
              <a:t>Access control enforcement</a:t>
            </a:r>
          </a:p>
          <a:p>
            <a:pPr algn="l" marL="313690" indent="-156845" lvl="1">
              <a:lnSpc>
                <a:spcPts val="1800"/>
              </a:lnSpc>
              <a:buFont typeface="Arial"/>
              <a:buChar char="•"/>
            </a:pPr>
            <a:r>
              <a:rPr lang="en-US" sz="1300">
                <a:solidFill>
                  <a:srgbClr val="404155"/>
                </a:solidFill>
                <a:latin typeface="Arimo"/>
                <a:ea typeface="Arimo"/>
                <a:cs typeface="Arimo"/>
                <a:sym typeface="Arimo"/>
              </a:rPr>
              <a:t>File management in secure memory</a:t>
            </a:r>
          </a:p>
          <a:p>
            <a:pPr algn="l" marL="313690" indent="-156845" lvl="1">
              <a:lnSpc>
                <a:spcPts val="1800"/>
              </a:lnSpc>
              <a:buFont typeface="Arial"/>
              <a:buChar char="•"/>
            </a:pPr>
            <a:r>
              <a:rPr lang="en-US" sz="1300">
                <a:solidFill>
                  <a:srgbClr val="404155"/>
                </a:solidFill>
                <a:latin typeface="Arimo"/>
                <a:ea typeface="Arimo"/>
                <a:cs typeface="Arimo"/>
                <a:sym typeface="Arimo"/>
              </a:rPr>
              <a:t>REST API implementation</a:t>
            </a:r>
          </a:p>
        </p:txBody>
      </p:sp>
      <p:sp>
        <p:nvSpPr>
          <p:cNvPr name="TextBox 26" id="26"/>
          <p:cNvSpPr txBox="true"/>
          <p:nvPr/>
        </p:nvSpPr>
        <p:spPr>
          <a:xfrm rot="0">
            <a:off x="9366056" y="9372009"/>
            <a:ext cx="6665119" cy="285159"/>
          </a:xfrm>
          <a:prstGeom prst="rect">
            <a:avLst/>
          </a:prstGeom>
        </p:spPr>
        <p:txBody>
          <a:bodyPr anchor="t" rtlCol="false" tIns="0" lIns="0" bIns="0" rIns="0">
            <a:spAutoFit/>
          </a:bodyPr>
          <a:lstStyle/>
          <a:p>
            <a:pPr algn="l">
              <a:lnSpc>
                <a:spcPts val="1800"/>
              </a:lnSpc>
            </a:pPr>
            <a:r>
              <a:rPr lang="en-US" sz="1300">
                <a:solidFill>
                  <a:srgbClr val="404155"/>
                </a:solidFill>
                <a:latin typeface="Arimo"/>
                <a:ea typeface="Arimo"/>
                <a:cs typeface="Arimo"/>
                <a:sym typeface="Arimo"/>
              </a:rPr>
              <a:t>Processes all cryptographic operations and returns JSON or file responses.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1267720"/>
            <a:ext cx="6202261" cy="813197"/>
          </a:xfrm>
          <a:prstGeom prst="rect">
            <a:avLst/>
          </a:prstGeom>
        </p:spPr>
        <p:txBody>
          <a:bodyPr anchor="t" rtlCol="false" tIns="0" lIns="0" bIns="0" rIns="0">
            <a:spAutoFit/>
          </a:bodyPr>
          <a:lstStyle/>
          <a:p>
            <a:pPr algn="l">
              <a:lnSpc>
                <a:spcPts val="6100"/>
              </a:lnSpc>
            </a:pPr>
            <a:r>
              <a:rPr lang="en-US" sz="4800">
                <a:solidFill>
                  <a:srgbClr val="1B1B27"/>
                </a:solidFill>
                <a:latin typeface="Corben"/>
                <a:ea typeface="Corben"/>
                <a:cs typeface="Corben"/>
                <a:sym typeface="Corben"/>
              </a:rPr>
              <a:t>Technologies Used</a:t>
            </a:r>
          </a:p>
        </p:txBody>
      </p:sp>
      <p:sp>
        <p:nvSpPr>
          <p:cNvPr name="TextBox 7" id="7"/>
          <p:cNvSpPr txBox="true"/>
          <p:nvPr/>
        </p:nvSpPr>
        <p:spPr>
          <a:xfrm rot="0">
            <a:off x="992238" y="2481710"/>
            <a:ext cx="16303523" cy="492176"/>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The project leverages modern, well-established technologies to deliver both performance and security across the full stack.</a:t>
            </a:r>
          </a:p>
        </p:txBody>
      </p:sp>
      <p:grpSp>
        <p:nvGrpSpPr>
          <p:cNvPr name="Group 8" id="8"/>
          <p:cNvGrpSpPr/>
          <p:nvPr/>
        </p:nvGrpSpPr>
        <p:grpSpPr>
          <a:xfrm rot="0">
            <a:off x="987476" y="3248177"/>
            <a:ext cx="16313048" cy="5737622"/>
            <a:chOff x="0" y="0"/>
            <a:chExt cx="21750731" cy="7650162"/>
          </a:xfrm>
        </p:grpSpPr>
        <p:sp>
          <p:nvSpPr>
            <p:cNvPr name="Freeform 9" id="9"/>
            <p:cNvSpPr/>
            <p:nvPr/>
          </p:nvSpPr>
          <p:spPr>
            <a:xfrm flipH="false" flipV="false" rot="0">
              <a:off x="0" y="0"/>
              <a:ext cx="21750781" cy="7650226"/>
            </a:xfrm>
            <a:custGeom>
              <a:avLst/>
              <a:gdLst/>
              <a:ahLst/>
              <a:cxnLst/>
              <a:rect r="r" b="b" t="t" l="l"/>
              <a:pathLst>
                <a:path h="7650226" w="21750781">
                  <a:moveTo>
                    <a:pt x="0" y="145288"/>
                  </a:moveTo>
                  <a:cubicBezTo>
                    <a:pt x="0" y="65024"/>
                    <a:pt x="65151" y="0"/>
                    <a:pt x="145415" y="0"/>
                  </a:cubicBezTo>
                  <a:lnTo>
                    <a:pt x="21605367" y="0"/>
                  </a:lnTo>
                  <a:lnTo>
                    <a:pt x="21605367" y="6350"/>
                  </a:lnTo>
                  <a:lnTo>
                    <a:pt x="21605367" y="0"/>
                  </a:lnTo>
                  <a:cubicBezTo>
                    <a:pt x="21685631" y="0"/>
                    <a:pt x="21750781" y="65024"/>
                    <a:pt x="21750781" y="145288"/>
                  </a:cubicBezTo>
                  <a:lnTo>
                    <a:pt x="21744431" y="145288"/>
                  </a:lnTo>
                  <a:lnTo>
                    <a:pt x="21750781" y="145288"/>
                  </a:lnTo>
                  <a:lnTo>
                    <a:pt x="21750781" y="7504938"/>
                  </a:lnTo>
                  <a:lnTo>
                    <a:pt x="21744431" y="7504938"/>
                  </a:lnTo>
                  <a:lnTo>
                    <a:pt x="21750781" y="7504938"/>
                  </a:lnTo>
                  <a:cubicBezTo>
                    <a:pt x="21750781" y="7585202"/>
                    <a:pt x="21685631" y="7650226"/>
                    <a:pt x="21605367" y="7650226"/>
                  </a:cubicBezTo>
                  <a:lnTo>
                    <a:pt x="21605367" y="7643876"/>
                  </a:lnTo>
                  <a:lnTo>
                    <a:pt x="21605367" y="7650226"/>
                  </a:lnTo>
                  <a:lnTo>
                    <a:pt x="145415" y="7650226"/>
                  </a:lnTo>
                  <a:lnTo>
                    <a:pt x="145415" y="7643876"/>
                  </a:lnTo>
                  <a:lnTo>
                    <a:pt x="145415" y="7650226"/>
                  </a:lnTo>
                  <a:cubicBezTo>
                    <a:pt x="65151" y="7650226"/>
                    <a:pt x="0" y="7585075"/>
                    <a:pt x="0" y="7504938"/>
                  </a:cubicBezTo>
                  <a:lnTo>
                    <a:pt x="0" y="145288"/>
                  </a:lnTo>
                  <a:lnTo>
                    <a:pt x="6350" y="145288"/>
                  </a:lnTo>
                  <a:lnTo>
                    <a:pt x="0" y="145288"/>
                  </a:lnTo>
                  <a:moveTo>
                    <a:pt x="12700" y="145288"/>
                  </a:moveTo>
                  <a:lnTo>
                    <a:pt x="12700" y="7504938"/>
                  </a:lnTo>
                  <a:lnTo>
                    <a:pt x="6350" y="7504938"/>
                  </a:lnTo>
                  <a:lnTo>
                    <a:pt x="12700" y="7504938"/>
                  </a:lnTo>
                  <a:cubicBezTo>
                    <a:pt x="12700" y="7578090"/>
                    <a:pt x="72136" y="7637526"/>
                    <a:pt x="145415" y="7637526"/>
                  </a:cubicBezTo>
                  <a:lnTo>
                    <a:pt x="21605367" y="7637526"/>
                  </a:lnTo>
                  <a:cubicBezTo>
                    <a:pt x="21678646" y="7637526"/>
                    <a:pt x="21738081" y="7578217"/>
                    <a:pt x="21738081" y="7504938"/>
                  </a:cubicBezTo>
                  <a:lnTo>
                    <a:pt x="21738081" y="145288"/>
                  </a:lnTo>
                  <a:cubicBezTo>
                    <a:pt x="21738081" y="72136"/>
                    <a:pt x="21678646" y="12700"/>
                    <a:pt x="21605367" y="12700"/>
                  </a:cubicBezTo>
                  <a:lnTo>
                    <a:pt x="145415" y="12700"/>
                  </a:lnTo>
                  <a:lnTo>
                    <a:pt x="145415" y="6350"/>
                  </a:lnTo>
                  <a:lnTo>
                    <a:pt x="145415" y="12700"/>
                  </a:lnTo>
                  <a:cubicBezTo>
                    <a:pt x="72136" y="12700"/>
                    <a:pt x="12700" y="72009"/>
                    <a:pt x="12700" y="145288"/>
                  </a:cubicBezTo>
                  <a:close/>
                </a:path>
              </a:pathLst>
            </a:custGeom>
            <a:solidFill>
              <a:srgbClr val="000000">
                <a:alpha val="392"/>
              </a:srgbClr>
            </a:solidFill>
          </p:spPr>
        </p:sp>
      </p:grpSp>
      <p:grpSp>
        <p:nvGrpSpPr>
          <p:cNvPr name="Group 10" id="10"/>
          <p:cNvGrpSpPr/>
          <p:nvPr/>
        </p:nvGrpSpPr>
        <p:grpSpPr>
          <a:xfrm rot="0">
            <a:off x="1001763" y="3262465"/>
            <a:ext cx="16284473" cy="713632"/>
            <a:chOff x="0" y="0"/>
            <a:chExt cx="21712631" cy="951509"/>
          </a:xfrm>
        </p:grpSpPr>
        <p:sp>
          <p:nvSpPr>
            <p:cNvPr name="Freeform 11" id="11"/>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FFFFFF">
                <a:alpha val="0"/>
              </a:srgbClr>
            </a:solidFill>
          </p:spPr>
        </p:sp>
      </p:grpSp>
      <p:sp>
        <p:nvSpPr>
          <p:cNvPr name="TextBox 12" id="12"/>
          <p:cNvSpPr txBox="true"/>
          <p:nvPr/>
        </p:nvSpPr>
        <p:spPr>
          <a:xfrm rot="0">
            <a:off x="1249861" y="3325568"/>
            <a:ext cx="4384624" cy="492176"/>
          </a:xfrm>
          <a:prstGeom prst="rect">
            <a:avLst/>
          </a:prstGeom>
        </p:spPr>
        <p:txBody>
          <a:bodyPr anchor="t" rtlCol="false" tIns="0" lIns="0" bIns="0" rIns="0">
            <a:spAutoFit/>
          </a:bodyPr>
          <a:lstStyle/>
          <a:p>
            <a:pPr algn="l">
              <a:lnSpc>
                <a:spcPts val="3100"/>
              </a:lnSpc>
            </a:pPr>
            <a:r>
              <a:rPr lang="en-US" sz="1900" b="true">
                <a:solidFill>
                  <a:srgbClr val="404155"/>
                </a:solidFill>
                <a:latin typeface="Arimo Bold"/>
                <a:ea typeface="Arimo Bold"/>
                <a:cs typeface="Arimo Bold"/>
                <a:sym typeface="Arimo Bold"/>
              </a:rPr>
              <a:t>React.js</a:t>
            </a:r>
          </a:p>
        </p:txBody>
      </p:sp>
      <p:sp>
        <p:nvSpPr>
          <p:cNvPr name="TextBox 13" id="13"/>
          <p:cNvSpPr txBox="true"/>
          <p:nvPr/>
        </p:nvSpPr>
        <p:spPr>
          <a:xfrm rot="0">
            <a:off x="6139901" y="3325568"/>
            <a:ext cx="10898391" cy="492176"/>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Frontend user interface development</a:t>
            </a:r>
          </a:p>
        </p:txBody>
      </p:sp>
      <p:grpSp>
        <p:nvGrpSpPr>
          <p:cNvPr name="Group 14" id="14"/>
          <p:cNvGrpSpPr/>
          <p:nvPr/>
        </p:nvGrpSpPr>
        <p:grpSpPr>
          <a:xfrm rot="0">
            <a:off x="1001763" y="3976087"/>
            <a:ext cx="16284473" cy="713632"/>
            <a:chOff x="0" y="0"/>
            <a:chExt cx="21712631" cy="951509"/>
          </a:xfrm>
        </p:grpSpPr>
        <p:sp>
          <p:nvSpPr>
            <p:cNvPr name="Freeform 15" id="15"/>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000000">
                <a:alpha val="0"/>
              </a:srgbClr>
            </a:solidFill>
          </p:spPr>
        </p:sp>
      </p:grpSp>
      <p:sp>
        <p:nvSpPr>
          <p:cNvPr name="TextBox 16" id="16"/>
          <p:cNvSpPr txBox="true"/>
          <p:nvPr/>
        </p:nvSpPr>
        <p:spPr>
          <a:xfrm rot="0">
            <a:off x="1249861" y="4039200"/>
            <a:ext cx="4384624" cy="492176"/>
          </a:xfrm>
          <a:prstGeom prst="rect">
            <a:avLst/>
          </a:prstGeom>
        </p:spPr>
        <p:txBody>
          <a:bodyPr anchor="t" rtlCol="false" tIns="0" lIns="0" bIns="0" rIns="0">
            <a:spAutoFit/>
          </a:bodyPr>
          <a:lstStyle/>
          <a:p>
            <a:pPr algn="l">
              <a:lnSpc>
                <a:spcPts val="3100"/>
              </a:lnSpc>
            </a:pPr>
            <a:r>
              <a:rPr lang="en-US" sz="1900" b="true">
                <a:solidFill>
                  <a:srgbClr val="404155"/>
                </a:solidFill>
                <a:latin typeface="Arimo Bold"/>
                <a:ea typeface="Arimo Bold"/>
                <a:cs typeface="Arimo Bold"/>
                <a:sym typeface="Arimo Bold"/>
              </a:rPr>
              <a:t>FastAPI</a:t>
            </a:r>
          </a:p>
        </p:txBody>
      </p:sp>
      <p:sp>
        <p:nvSpPr>
          <p:cNvPr name="TextBox 17" id="17"/>
          <p:cNvSpPr txBox="true"/>
          <p:nvPr/>
        </p:nvSpPr>
        <p:spPr>
          <a:xfrm rot="0">
            <a:off x="6139901" y="4039200"/>
            <a:ext cx="10898391" cy="492176"/>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Backend REST API framework</a:t>
            </a:r>
          </a:p>
        </p:txBody>
      </p:sp>
      <p:grpSp>
        <p:nvGrpSpPr>
          <p:cNvPr name="Group 18" id="18"/>
          <p:cNvGrpSpPr/>
          <p:nvPr/>
        </p:nvGrpSpPr>
        <p:grpSpPr>
          <a:xfrm rot="0">
            <a:off x="1001763" y="4689719"/>
            <a:ext cx="16284473" cy="713632"/>
            <a:chOff x="0" y="0"/>
            <a:chExt cx="21712631" cy="951509"/>
          </a:xfrm>
        </p:grpSpPr>
        <p:sp>
          <p:nvSpPr>
            <p:cNvPr name="Freeform 19" id="19"/>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FFFFFF">
                <a:alpha val="0"/>
              </a:srgbClr>
            </a:solidFill>
          </p:spPr>
        </p:sp>
      </p:grpSp>
      <p:sp>
        <p:nvSpPr>
          <p:cNvPr name="TextBox 20" id="20"/>
          <p:cNvSpPr txBox="true"/>
          <p:nvPr/>
        </p:nvSpPr>
        <p:spPr>
          <a:xfrm rot="0">
            <a:off x="1249861" y="4752823"/>
            <a:ext cx="4384624" cy="492176"/>
          </a:xfrm>
          <a:prstGeom prst="rect">
            <a:avLst/>
          </a:prstGeom>
        </p:spPr>
        <p:txBody>
          <a:bodyPr anchor="t" rtlCol="false" tIns="0" lIns="0" bIns="0" rIns="0">
            <a:spAutoFit/>
          </a:bodyPr>
          <a:lstStyle/>
          <a:p>
            <a:pPr algn="l">
              <a:lnSpc>
                <a:spcPts val="3100"/>
              </a:lnSpc>
            </a:pPr>
            <a:r>
              <a:rPr lang="en-US" sz="1900" b="true">
                <a:solidFill>
                  <a:srgbClr val="404155"/>
                </a:solidFill>
                <a:latin typeface="Arimo Bold"/>
                <a:ea typeface="Arimo Bold"/>
                <a:cs typeface="Arimo Bold"/>
                <a:sym typeface="Arimo Bold"/>
              </a:rPr>
              <a:t>Python</a:t>
            </a:r>
          </a:p>
        </p:txBody>
      </p:sp>
      <p:sp>
        <p:nvSpPr>
          <p:cNvPr name="TextBox 21" id="21"/>
          <p:cNvSpPr txBox="true"/>
          <p:nvPr/>
        </p:nvSpPr>
        <p:spPr>
          <a:xfrm rot="0">
            <a:off x="6139901" y="4752823"/>
            <a:ext cx="10898391" cy="492176"/>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Backend programming language</a:t>
            </a:r>
          </a:p>
        </p:txBody>
      </p:sp>
      <p:grpSp>
        <p:nvGrpSpPr>
          <p:cNvPr name="Group 22" id="22"/>
          <p:cNvGrpSpPr/>
          <p:nvPr/>
        </p:nvGrpSpPr>
        <p:grpSpPr>
          <a:xfrm rot="0">
            <a:off x="1001763" y="5403352"/>
            <a:ext cx="16284473" cy="713632"/>
            <a:chOff x="0" y="0"/>
            <a:chExt cx="21712631" cy="951509"/>
          </a:xfrm>
        </p:grpSpPr>
        <p:sp>
          <p:nvSpPr>
            <p:cNvPr name="Freeform 23" id="23"/>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000000">
                <a:alpha val="0"/>
              </a:srgbClr>
            </a:solidFill>
          </p:spPr>
        </p:sp>
      </p:grpSp>
      <p:sp>
        <p:nvSpPr>
          <p:cNvPr name="TextBox 24" id="24"/>
          <p:cNvSpPr txBox="true"/>
          <p:nvPr/>
        </p:nvSpPr>
        <p:spPr>
          <a:xfrm rot="0">
            <a:off x="1249861" y="5466455"/>
            <a:ext cx="4384624" cy="492176"/>
          </a:xfrm>
          <a:prstGeom prst="rect">
            <a:avLst/>
          </a:prstGeom>
        </p:spPr>
        <p:txBody>
          <a:bodyPr anchor="t" rtlCol="false" tIns="0" lIns="0" bIns="0" rIns="0">
            <a:spAutoFit/>
          </a:bodyPr>
          <a:lstStyle/>
          <a:p>
            <a:pPr algn="l">
              <a:lnSpc>
                <a:spcPts val="3100"/>
              </a:lnSpc>
            </a:pPr>
            <a:r>
              <a:rPr lang="en-US" sz="1900" b="true">
                <a:solidFill>
                  <a:srgbClr val="404155"/>
                </a:solidFill>
                <a:latin typeface="Arimo Bold"/>
                <a:ea typeface="Arimo Bold"/>
                <a:cs typeface="Arimo Bold"/>
                <a:sym typeface="Arimo Bold"/>
              </a:rPr>
              <a:t>Axios</a:t>
            </a:r>
          </a:p>
        </p:txBody>
      </p:sp>
      <p:sp>
        <p:nvSpPr>
          <p:cNvPr name="TextBox 25" id="25"/>
          <p:cNvSpPr txBox="true"/>
          <p:nvPr/>
        </p:nvSpPr>
        <p:spPr>
          <a:xfrm rot="0">
            <a:off x="6139901" y="5466455"/>
            <a:ext cx="10898391" cy="492176"/>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Frontend-backend HTTP communication</a:t>
            </a:r>
          </a:p>
        </p:txBody>
      </p:sp>
      <p:grpSp>
        <p:nvGrpSpPr>
          <p:cNvPr name="Group 26" id="26"/>
          <p:cNvGrpSpPr/>
          <p:nvPr/>
        </p:nvGrpSpPr>
        <p:grpSpPr>
          <a:xfrm rot="0">
            <a:off x="1001763" y="6116984"/>
            <a:ext cx="16284473" cy="713632"/>
            <a:chOff x="0" y="0"/>
            <a:chExt cx="21712631" cy="951509"/>
          </a:xfrm>
        </p:grpSpPr>
        <p:sp>
          <p:nvSpPr>
            <p:cNvPr name="Freeform 27" id="27"/>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FFFFFF">
                <a:alpha val="0"/>
              </a:srgbClr>
            </a:solidFill>
          </p:spPr>
        </p:sp>
      </p:grpSp>
      <p:sp>
        <p:nvSpPr>
          <p:cNvPr name="TextBox 28" id="28"/>
          <p:cNvSpPr txBox="true"/>
          <p:nvPr/>
        </p:nvSpPr>
        <p:spPr>
          <a:xfrm rot="0">
            <a:off x="1249861" y="6180087"/>
            <a:ext cx="4384624" cy="492176"/>
          </a:xfrm>
          <a:prstGeom prst="rect">
            <a:avLst/>
          </a:prstGeom>
        </p:spPr>
        <p:txBody>
          <a:bodyPr anchor="t" rtlCol="false" tIns="0" lIns="0" bIns="0" rIns="0">
            <a:spAutoFit/>
          </a:bodyPr>
          <a:lstStyle/>
          <a:p>
            <a:pPr algn="l">
              <a:lnSpc>
                <a:spcPts val="3100"/>
              </a:lnSpc>
            </a:pPr>
            <a:r>
              <a:rPr lang="en-US" sz="1900" b="true">
                <a:solidFill>
                  <a:srgbClr val="404155"/>
                </a:solidFill>
                <a:latin typeface="Arimo Bold"/>
                <a:ea typeface="Arimo Bold"/>
                <a:cs typeface="Arimo Bold"/>
                <a:sym typeface="Arimo Bold"/>
              </a:rPr>
              <a:t>AES-GCM</a:t>
            </a:r>
          </a:p>
        </p:txBody>
      </p:sp>
      <p:sp>
        <p:nvSpPr>
          <p:cNvPr name="TextBox 29" id="29"/>
          <p:cNvSpPr txBox="true"/>
          <p:nvPr/>
        </p:nvSpPr>
        <p:spPr>
          <a:xfrm rot="0">
            <a:off x="6139901" y="6180087"/>
            <a:ext cx="10898391" cy="492176"/>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Encryption and integrity verification</a:t>
            </a:r>
          </a:p>
        </p:txBody>
      </p:sp>
      <p:grpSp>
        <p:nvGrpSpPr>
          <p:cNvPr name="Group 30" id="30"/>
          <p:cNvGrpSpPr/>
          <p:nvPr/>
        </p:nvGrpSpPr>
        <p:grpSpPr>
          <a:xfrm rot="0">
            <a:off x="1001763" y="6830616"/>
            <a:ext cx="16284473" cy="713632"/>
            <a:chOff x="0" y="0"/>
            <a:chExt cx="21712631" cy="951509"/>
          </a:xfrm>
        </p:grpSpPr>
        <p:sp>
          <p:nvSpPr>
            <p:cNvPr name="Freeform 31" id="31"/>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000000">
                <a:alpha val="0"/>
              </a:srgbClr>
            </a:solidFill>
          </p:spPr>
        </p:sp>
      </p:grpSp>
      <p:sp>
        <p:nvSpPr>
          <p:cNvPr name="TextBox 32" id="32"/>
          <p:cNvSpPr txBox="true"/>
          <p:nvPr/>
        </p:nvSpPr>
        <p:spPr>
          <a:xfrm rot="0">
            <a:off x="1249861" y="6893719"/>
            <a:ext cx="4384624" cy="492176"/>
          </a:xfrm>
          <a:prstGeom prst="rect">
            <a:avLst/>
          </a:prstGeom>
        </p:spPr>
        <p:txBody>
          <a:bodyPr anchor="t" rtlCol="false" tIns="0" lIns="0" bIns="0" rIns="0">
            <a:spAutoFit/>
          </a:bodyPr>
          <a:lstStyle/>
          <a:p>
            <a:pPr algn="l">
              <a:lnSpc>
                <a:spcPts val="3100"/>
              </a:lnSpc>
            </a:pPr>
            <a:r>
              <a:rPr lang="en-US" sz="1900" b="true">
                <a:solidFill>
                  <a:srgbClr val="404155"/>
                </a:solidFill>
                <a:latin typeface="Arimo Bold"/>
                <a:ea typeface="Arimo Bold"/>
                <a:cs typeface="Arimo Bold"/>
                <a:sym typeface="Arimo Bold"/>
              </a:rPr>
              <a:t>PyCryptodome</a:t>
            </a:r>
          </a:p>
        </p:txBody>
      </p:sp>
      <p:sp>
        <p:nvSpPr>
          <p:cNvPr name="TextBox 33" id="33"/>
          <p:cNvSpPr txBox="true"/>
          <p:nvPr/>
        </p:nvSpPr>
        <p:spPr>
          <a:xfrm rot="0">
            <a:off x="6139901" y="6893719"/>
            <a:ext cx="10898391" cy="492176"/>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Cryptographic operations</a:t>
            </a:r>
          </a:p>
        </p:txBody>
      </p:sp>
      <p:grpSp>
        <p:nvGrpSpPr>
          <p:cNvPr name="Group 34" id="34"/>
          <p:cNvGrpSpPr/>
          <p:nvPr/>
        </p:nvGrpSpPr>
        <p:grpSpPr>
          <a:xfrm rot="0">
            <a:off x="1001763" y="7544248"/>
            <a:ext cx="16284473" cy="713632"/>
            <a:chOff x="0" y="0"/>
            <a:chExt cx="21712631" cy="951509"/>
          </a:xfrm>
        </p:grpSpPr>
        <p:sp>
          <p:nvSpPr>
            <p:cNvPr name="Freeform 35" id="35"/>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FFFFFF">
                <a:alpha val="0"/>
              </a:srgbClr>
            </a:solidFill>
          </p:spPr>
        </p:sp>
      </p:grpSp>
      <p:sp>
        <p:nvSpPr>
          <p:cNvPr name="TextBox 36" id="36"/>
          <p:cNvSpPr txBox="true"/>
          <p:nvPr/>
        </p:nvSpPr>
        <p:spPr>
          <a:xfrm rot="0">
            <a:off x="1249861" y="7607351"/>
            <a:ext cx="4384624" cy="492176"/>
          </a:xfrm>
          <a:prstGeom prst="rect">
            <a:avLst/>
          </a:prstGeom>
        </p:spPr>
        <p:txBody>
          <a:bodyPr anchor="t" rtlCol="false" tIns="0" lIns="0" bIns="0" rIns="0">
            <a:spAutoFit/>
          </a:bodyPr>
          <a:lstStyle/>
          <a:p>
            <a:pPr algn="l">
              <a:lnSpc>
                <a:spcPts val="3100"/>
              </a:lnSpc>
            </a:pPr>
            <a:r>
              <a:rPr lang="en-US" sz="1900" b="true">
                <a:solidFill>
                  <a:srgbClr val="404155"/>
                </a:solidFill>
                <a:latin typeface="Arimo Bold"/>
                <a:ea typeface="Arimo Bold"/>
                <a:cs typeface="Arimo Bold"/>
                <a:sym typeface="Arimo Bold"/>
              </a:rPr>
              <a:t>Framer Motion</a:t>
            </a:r>
          </a:p>
        </p:txBody>
      </p:sp>
      <p:sp>
        <p:nvSpPr>
          <p:cNvPr name="TextBox 37" id="37"/>
          <p:cNvSpPr txBox="true"/>
          <p:nvPr/>
        </p:nvSpPr>
        <p:spPr>
          <a:xfrm rot="0">
            <a:off x="6139901" y="7607351"/>
            <a:ext cx="10898391" cy="492176"/>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Frontend animations</a:t>
            </a:r>
          </a:p>
        </p:txBody>
      </p:sp>
      <p:grpSp>
        <p:nvGrpSpPr>
          <p:cNvPr name="Group 38" id="38"/>
          <p:cNvGrpSpPr/>
          <p:nvPr/>
        </p:nvGrpSpPr>
        <p:grpSpPr>
          <a:xfrm rot="0">
            <a:off x="1001763" y="8257880"/>
            <a:ext cx="16284473" cy="713632"/>
            <a:chOff x="0" y="0"/>
            <a:chExt cx="21712631" cy="951509"/>
          </a:xfrm>
        </p:grpSpPr>
        <p:sp>
          <p:nvSpPr>
            <p:cNvPr name="Freeform 39" id="39"/>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000000">
                <a:alpha val="0"/>
              </a:srgbClr>
            </a:solidFill>
          </p:spPr>
        </p:sp>
      </p:grpSp>
      <p:sp>
        <p:nvSpPr>
          <p:cNvPr name="TextBox 40" id="40"/>
          <p:cNvSpPr txBox="true"/>
          <p:nvPr/>
        </p:nvSpPr>
        <p:spPr>
          <a:xfrm rot="0">
            <a:off x="1249861" y="8320983"/>
            <a:ext cx="4384624" cy="492176"/>
          </a:xfrm>
          <a:prstGeom prst="rect">
            <a:avLst/>
          </a:prstGeom>
        </p:spPr>
        <p:txBody>
          <a:bodyPr anchor="t" rtlCol="false" tIns="0" lIns="0" bIns="0" rIns="0">
            <a:spAutoFit/>
          </a:bodyPr>
          <a:lstStyle/>
          <a:p>
            <a:pPr algn="l">
              <a:lnSpc>
                <a:spcPts val="3100"/>
              </a:lnSpc>
            </a:pPr>
            <a:r>
              <a:rPr lang="en-US" sz="1900" b="true">
                <a:solidFill>
                  <a:srgbClr val="404155"/>
                </a:solidFill>
                <a:latin typeface="Arimo Bold"/>
                <a:ea typeface="Arimo Bold"/>
                <a:cs typeface="Arimo Bold"/>
                <a:sym typeface="Arimo Bold"/>
              </a:rPr>
              <a:t>React Dropzone</a:t>
            </a:r>
          </a:p>
        </p:txBody>
      </p:sp>
      <p:sp>
        <p:nvSpPr>
          <p:cNvPr name="TextBox 41" id="41"/>
          <p:cNvSpPr txBox="true"/>
          <p:nvPr/>
        </p:nvSpPr>
        <p:spPr>
          <a:xfrm rot="0">
            <a:off x="6139901" y="8320983"/>
            <a:ext cx="10898391" cy="492176"/>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Drag-and-drop file upload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45804" y="630288"/>
            <a:ext cx="5911453" cy="777030"/>
          </a:xfrm>
          <a:prstGeom prst="rect">
            <a:avLst/>
          </a:prstGeom>
        </p:spPr>
        <p:txBody>
          <a:bodyPr anchor="t" rtlCol="false" tIns="0" lIns="0" bIns="0" rIns="0">
            <a:spAutoFit/>
          </a:bodyPr>
          <a:lstStyle/>
          <a:p>
            <a:pPr algn="l">
              <a:lnSpc>
                <a:spcPts val="5800"/>
              </a:lnSpc>
            </a:pPr>
            <a:r>
              <a:rPr lang="en-US" sz="4600">
                <a:solidFill>
                  <a:srgbClr val="1B1B27"/>
                </a:solidFill>
                <a:latin typeface="Corben"/>
                <a:ea typeface="Corben"/>
                <a:cs typeface="Corben"/>
                <a:sym typeface="Corben"/>
              </a:rPr>
              <a:t>REST API Design</a:t>
            </a:r>
          </a:p>
        </p:txBody>
      </p:sp>
      <p:sp>
        <p:nvSpPr>
          <p:cNvPr name="TextBox 7" id="7"/>
          <p:cNvSpPr txBox="true"/>
          <p:nvPr/>
        </p:nvSpPr>
        <p:spPr>
          <a:xfrm rot="0">
            <a:off x="945804" y="1762716"/>
            <a:ext cx="16396392" cy="1572816"/>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The backend exposes REST APIs for all frontend-backend communication. REST architecture is used because it is </a:t>
            </a:r>
            <a:r>
              <a:rPr lang="en-US" sz="1800" b="true">
                <a:solidFill>
                  <a:srgbClr val="404155"/>
                </a:solidFill>
                <a:latin typeface="Arimo Bold"/>
                <a:ea typeface="Arimo Bold"/>
                <a:cs typeface="Arimo Bold"/>
                <a:sym typeface="Arimo Bold"/>
              </a:rPr>
              <a:t>lightweight, scalable, and easy to integrate</a:t>
            </a:r>
            <a:r>
              <a:rPr lang="en-US" sz="1800">
                <a:solidFill>
                  <a:srgbClr val="404155"/>
                </a:solidFill>
                <a:latin typeface="Arimo"/>
                <a:ea typeface="Arimo"/>
                <a:cs typeface="Arimo"/>
                <a:sym typeface="Arimo"/>
              </a:rPr>
              <a:t> with modern frontend applications. The frontend sends HTTP requests to the FastAPI backend, which processes each request, performs any required cryptographic operations, and returns responses in JSON or file format — enabling clean separation of frontend and backend logic.</a:t>
            </a:r>
          </a:p>
        </p:txBody>
      </p:sp>
      <p:grpSp>
        <p:nvGrpSpPr>
          <p:cNvPr name="Group 8" id="8"/>
          <p:cNvGrpSpPr/>
          <p:nvPr/>
        </p:nvGrpSpPr>
        <p:grpSpPr>
          <a:xfrm rot="0">
            <a:off x="941041" y="3584229"/>
            <a:ext cx="16405917" cy="4811020"/>
            <a:chOff x="0" y="0"/>
            <a:chExt cx="21874556" cy="6414694"/>
          </a:xfrm>
        </p:grpSpPr>
        <p:sp>
          <p:nvSpPr>
            <p:cNvPr name="Freeform 9" id="9"/>
            <p:cNvSpPr/>
            <p:nvPr/>
          </p:nvSpPr>
          <p:spPr>
            <a:xfrm flipH="false" flipV="false" rot="0">
              <a:off x="0" y="0"/>
              <a:ext cx="21874607" cy="6414643"/>
            </a:xfrm>
            <a:custGeom>
              <a:avLst/>
              <a:gdLst/>
              <a:ahLst/>
              <a:cxnLst/>
              <a:rect r="r" b="b" t="t" l="l"/>
              <a:pathLst>
                <a:path h="6414643" w="21874607">
                  <a:moveTo>
                    <a:pt x="0" y="138684"/>
                  </a:moveTo>
                  <a:cubicBezTo>
                    <a:pt x="0" y="62103"/>
                    <a:pt x="62230" y="0"/>
                    <a:pt x="138938" y="0"/>
                  </a:cubicBezTo>
                  <a:lnTo>
                    <a:pt x="21735669" y="0"/>
                  </a:lnTo>
                  <a:lnTo>
                    <a:pt x="21735669" y="6350"/>
                  </a:lnTo>
                  <a:lnTo>
                    <a:pt x="21735669" y="0"/>
                  </a:lnTo>
                  <a:cubicBezTo>
                    <a:pt x="21812377" y="0"/>
                    <a:pt x="21874607" y="62103"/>
                    <a:pt x="21874607" y="138684"/>
                  </a:cubicBezTo>
                  <a:lnTo>
                    <a:pt x="21868257" y="138684"/>
                  </a:lnTo>
                  <a:lnTo>
                    <a:pt x="21874607" y="138684"/>
                  </a:lnTo>
                  <a:lnTo>
                    <a:pt x="21874607" y="6275959"/>
                  </a:lnTo>
                  <a:lnTo>
                    <a:pt x="21868257" y="6275959"/>
                  </a:lnTo>
                  <a:lnTo>
                    <a:pt x="21874607" y="6275959"/>
                  </a:lnTo>
                  <a:cubicBezTo>
                    <a:pt x="21874607" y="6352540"/>
                    <a:pt x="21812377" y="6414643"/>
                    <a:pt x="21735669" y="6414643"/>
                  </a:cubicBezTo>
                  <a:lnTo>
                    <a:pt x="21735669" y="6408293"/>
                  </a:lnTo>
                  <a:lnTo>
                    <a:pt x="21735669" y="6414643"/>
                  </a:lnTo>
                  <a:lnTo>
                    <a:pt x="138938" y="6414643"/>
                  </a:lnTo>
                  <a:lnTo>
                    <a:pt x="138938" y="6408293"/>
                  </a:lnTo>
                  <a:lnTo>
                    <a:pt x="138938" y="6414643"/>
                  </a:lnTo>
                  <a:cubicBezTo>
                    <a:pt x="62230" y="6414643"/>
                    <a:pt x="0" y="6352540"/>
                    <a:pt x="0" y="6275959"/>
                  </a:cubicBezTo>
                  <a:lnTo>
                    <a:pt x="0" y="138684"/>
                  </a:lnTo>
                  <a:lnTo>
                    <a:pt x="6350" y="138684"/>
                  </a:lnTo>
                  <a:lnTo>
                    <a:pt x="0" y="138684"/>
                  </a:lnTo>
                  <a:moveTo>
                    <a:pt x="12700" y="138684"/>
                  </a:moveTo>
                  <a:lnTo>
                    <a:pt x="12700" y="6275959"/>
                  </a:lnTo>
                  <a:lnTo>
                    <a:pt x="6350" y="6275959"/>
                  </a:lnTo>
                  <a:lnTo>
                    <a:pt x="12700" y="6275959"/>
                  </a:lnTo>
                  <a:cubicBezTo>
                    <a:pt x="12700" y="6345555"/>
                    <a:pt x="69215" y="6401943"/>
                    <a:pt x="138938" y="6401943"/>
                  </a:cubicBezTo>
                  <a:lnTo>
                    <a:pt x="21735669" y="6401943"/>
                  </a:lnTo>
                  <a:cubicBezTo>
                    <a:pt x="21805392" y="6401943"/>
                    <a:pt x="21861907" y="6345555"/>
                    <a:pt x="21861907" y="6275959"/>
                  </a:cubicBezTo>
                  <a:lnTo>
                    <a:pt x="21861907" y="138684"/>
                  </a:lnTo>
                  <a:cubicBezTo>
                    <a:pt x="21861907" y="69088"/>
                    <a:pt x="21805392" y="12700"/>
                    <a:pt x="21735669" y="12700"/>
                  </a:cubicBezTo>
                  <a:lnTo>
                    <a:pt x="138938" y="12700"/>
                  </a:lnTo>
                  <a:lnTo>
                    <a:pt x="138938" y="6350"/>
                  </a:lnTo>
                  <a:lnTo>
                    <a:pt x="138938" y="12700"/>
                  </a:lnTo>
                  <a:cubicBezTo>
                    <a:pt x="69215" y="12700"/>
                    <a:pt x="12700" y="69088"/>
                    <a:pt x="12700" y="138684"/>
                  </a:cubicBezTo>
                  <a:close/>
                </a:path>
              </a:pathLst>
            </a:custGeom>
            <a:solidFill>
              <a:srgbClr val="000000">
                <a:alpha val="392"/>
              </a:srgbClr>
            </a:solidFill>
          </p:spPr>
        </p:sp>
      </p:grpSp>
      <p:grpSp>
        <p:nvGrpSpPr>
          <p:cNvPr name="Group 10" id="10"/>
          <p:cNvGrpSpPr/>
          <p:nvPr/>
        </p:nvGrpSpPr>
        <p:grpSpPr>
          <a:xfrm rot="0">
            <a:off x="955329" y="3598516"/>
            <a:ext cx="16377342" cy="658711"/>
            <a:chOff x="0" y="0"/>
            <a:chExt cx="21836456" cy="878281"/>
          </a:xfrm>
        </p:grpSpPr>
        <p:sp>
          <p:nvSpPr>
            <p:cNvPr name="Freeform 11" id="11"/>
            <p:cNvSpPr/>
            <p:nvPr/>
          </p:nvSpPr>
          <p:spPr>
            <a:xfrm flipH="false" flipV="false" rot="0">
              <a:off x="0" y="0"/>
              <a:ext cx="21836507" cy="878332"/>
            </a:xfrm>
            <a:custGeom>
              <a:avLst/>
              <a:gdLst/>
              <a:ahLst/>
              <a:cxnLst/>
              <a:rect r="r" b="b" t="t" l="l"/>
              <a:pathLst>
                <a:path h="878332" w="21836507">
                  <a:moveTo>
                    <a:pt x="0" y="0"/>
                  </a:moveTo>
                  <a:lnTo>
                    <a:pt x="21836507" y="0"/>
                  </a:lnTo>
                  <a:lnTo>
                    <a:pt x="21836507" y="878332"/>
                  </a:lnTo>
                  <a:lnTo>
                    <a:pt x="0" y="878332"/>
                  </a:lnTo>
                  <a:close/>
                </a:path>
              </a:pathLst>
            </a:custGeom>
            <a:solidFill>
              <a:srgbClr val="FFFFFF">
                <a:alpha val="0"/>
              </a:srgbClr>
            </a:solidFill>
          </p:spPr>
        </p:sp>
      </p:grpSp>
      <p:sp>
        <p:nvSpPr>
          <p:cNvPr name="TextBox 12" id="12"/>
          <p:cNvSpPr txBox="true"/>
          <p:nvPr/>
        </p:nvSpPr>
        <p:spPr>
          <a:xfrm rot="0">
            <a:off x="1191816" y="3647923"/>
            <a:ext cx="2797969" cy="464639"/>
          </a:xfrm>
          <a:prstGeom prst="rect">
            <a:avLst/>
          </a:prstGeom>
        </p:spPr>
        <p:txBody>
          <a:bodyPr anchor="t" rtlCol="false" tIns="0" lIns="0" bIns="0" rIns="0">
            <a:spAutoFit/>
          </a:bodyPr>
          <a:lstStyle/>
          <a:p>
            <a:pPr algn="l">
              <a:lnSpc>
                <a:spcPts val="2900"/>
              </a:lnSpc>
            </a:pPr>
            <a:r>
              <a:rPr lang="en-US" sz="1800" b="true">
                <a:solidFill>
                  <a:srgbClr val="404155"/>
                </a:solidFill>
                <a:latin typeface="Arimo Bold"/>
                <a:ea typeface="Arimo Bold"/>
                <a:cs typeface="Arimo Bold"/>
                <a:sym typeface="Arimo Bold"/>
              </a:rPr>
              <a:t>Endpoint</a:t>
            </a:r>
          </a:p>
        </p:txBody>
      </p:sp>
      <p:sp>
        <p:nvSpPr>
          <p:cNvPr name="TextBox 13" id="13"/>
          <p:cNvSpPr txBox="true"/>
          <p:nvPr/>
        </p:nvSpPr>
        <p:spPr>
          <a:xfrm rot="0">
            <a:off x="4471988" y="3647923"/>
            <a:ext cx="2793206" cy="464639"/>
          </a:xfrm>
          <a:prstGeom prst="rect">
            <a:avLst/>
          </a:prstGeom>
        </p:spPr>
        <p:txBody>
          <a:bodyPr anchor="t" rtlCol="false" tIns="0" lIns="0" bIns="0" rIns="0">
            <a:spAutoFit/>
          </a:bodyPr>
          <a:lstStyle/>
          <a:p>
            <a:pPr algn="l">
              <a:lnSpc>
                <a:spcPts val="2900"/>
              </a:lnSpc>
            </a:pPr>
            <a:r>
              <a:rPr lang="en-US" sz="1800" b="true">
                <a:solidFill>
                  <a:srgbClr val="404155"/>
                </a:solidFill>
                <a:latin typeface="Arimo Bold"/>
                <a:ea typeface="Arimo Bold"/>
                <a:cs typeface="Arimo Bold"/>
                <a:sym typeface="Arimo Bold"/>
              </a:rPr>
              <a:t>Method</a:t>
            </a:r>
          </a:p>
        </p:txBody>
      </p:sp>
      <p:sp>
        <p:nvSpPr>
          <p:cNvPr name="TextBox 14" id="14"/>
          <p:cNvSpPr txBox="true"/>
          <p:nvPr/>
        </p:nvSpPr>
        <p:spPr>
          <a:xfrm rot="0">
            <a:off x="7747397" y="3647923"/>
            <a:ext cx="9348940" cy="464639"/>
          </a:xfrm>
          <a:prstGeom prst="rect">
            <a:avLst/>
          </a:prstGeom>
        </p:spPr>
        <p:txBody>
          <a:bodyPr anchor="t" rtlCol="false" tIns="0" lIns="0" bIns="0" rIns="0">
            <a:spAutoFit/>
          </a:bodyPr>
          <a:lstStyle/>
          <a:p>
            <a:pPr algn="l">
              <a:lnSpc>
                <a:spcPts val="2900"/>
              </a:lnSpc>
            </a:pPr>
            <a:r>
              <a:rPr lang="en-US" sz="1800" b="true">
                <a:solidFill>
                  <a:srgbClr val="404155"/>
                </a:solidFill>
                <a:latin typeface="Arimo Bold"/>
                <a:ea typeface="Arimo Bold"/>
                <a:cs typeface="Arimo Bold"/>
                <a:sym typeface="Arimo Bold"/>
              </a:rPr>
              <a:t>Purpose</a:t>
            </a:r>
          </a:p>
        </p:txBody>
      </p:sp>
      <p:grpSp>
        <p:nvGrpSpPr>
          <p:cNvPr name="Group 15" id="15"/>
          <p:cNvGrpSpPr/>
          <p:nvPr/>
        </p:nvGrpSpPr>
        <p:grpSpPr>
          <a:xfrm rot="0">
            <a:off x="955329" y="4257227"/>
            <a:ext cx="16377342" cy="687286"/>
            <a:chOff x="0" y="0"/>
            <a:chExt cx="21836456" cy="916381"/>
          </a:xfrm>
        </p:grpSpPr>
        <p:sp>
          <p:nvSpPr>
            <p:cNvPr name="Freeform 16" id="16"/>
            <p:cNvSpPr/>
            <p:nvPr/>
          </p:nvSpPr>
          <p:spPr>
            <a:xfrm flipH="false" flipV="false" rot="0">
              <a:off x="0" y="0"/>
              <a:ext cx="21836507" cy="916432"/>
            </a:xfrm>
            <a:custGeom>
              <a:avLst/>
              <a:gdLst/>
              <a:ahLst/>
              <a:cxnLst/>
              <a:rect r="r" b="b" t="t" l="l"/>
              <a:pathLst>
                <a:path h="916432" w="21836507">
                  <a:moveTo>
                    <a:pt x="0" y="0"/>
                  </a:moveTo>
                  <a:lnTo>
                    <a:pt x="21836507" y="0"/>
                  </a:lnTo>
                  <a:lnTo>
                    <a:pt x="21836507" y="916432"/>
                  </a:lnTo>
                  <a:lnTo>
                    <a:pt x="0" y="916432"/>
                  </a:lnTo>
                  <a:close/>
                </a:path>
              </a:pathLst>
            </a:custGeom>
            <a:solidFill>
              <a:srgbClr val="000000">
                <a:alpha val="0"/>
              </a:srgbClr>
            </a:solidFill>
          </p:spPr>
        </p:sp>
      </p:grpSp>
      <p:sp>
        <p:nvSpPr>
          <p:cNvPr name="TextBox 17" id="17"/>
          <p:cNvSpPr txBox="true"/>
          <p:nvPr/>
        </p:nvSpPr>
        <p:spPr>
          <a:xfrm rot="0">
            <a:off x="1191816" y="4287593"/>
            <a:ext cx="2797969" cy="512264"/>
          </a:xfrm>
          <a:prstGeom prst="rect">
            <a:avLst/>
          </a:prstGeom>
        </p:spPr>
        <p:txBody>
          <a:bodyPr anchor="t" rtlCol="false" tIns="0" lIns="0" bIns="0" rIns="0">
            <a:spAutoFit/>
          </a:bodyPr>
          <a:lstStyle/>
          <a:p>
            <a:pPr algn="l">
              <a:lnSpc>
                <a:spcPts val="2900"/>
              </a:lnSpc>
            </a:pPr>
            <a:r>
              <a:rPr lang="en-US" sz="1800">
                <a:solidFill>
                  <a:srgbClr val="404155"/>
                </a:solidFill>
                <a:latin typeface="Consolas"/>
                <a:ea typeface="Consolas"/>
                <a:cs typeface="Consolas"/>
                <a:sym typeface="Consolas"/>
              </a:rPr>
              <a:t>/login</a:t>
            </a:r>
          </a:p>
        </p:txBody>
      </p:sp>
      <p:sp>
        <p:nvSpPr>
          <p:cNvPr name="TextBox 18" id="18"/>
          <p:cNvSpPr txBox="true"/>
          <p:nvPr/>
        </p:nvSpPr>
        <p:spPr>
          <a:xfrm rot="0">
            <a:off x="4471988" y="4306643"/>
            <a:ext cx="2793206"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POST</a:t>
            </a:r>
          </a:p>
        </p:txBody>
      </p:sp>
      <p:sp>
        <p:nvSpPr>
          <p:cNvPr name="TextBox 19" id="19"/>
          <p:cNvSpPr txBox="true"/>
          <p:nvPr/>
        </p:nvSpPr>
        <p:spPr>
          <a:xfrm rot="0">
            <a:off x="7747397" y="4306643"/>
            <a:ext cx="9348940"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User authentication</a:t>
            </a:r>
          </a:p>
        </p:txBody>
      </p:sp>
      <p:grpSp>
        <p:nvGrpSpPr>
          <p:cNvPr name="Group 20" id="20"/>
          <p:cNvGrpSpPr/>
          <p:nvPr/>
        </p:nvGrpSpPr>
        <p:grpSpPr>
          <a:xfrm rot="0">
            <a:off x="955329" y="4944513"/>
            <a:ext cx="16377342" cy="687286"/>
            <a:chOff x="0" y="0"/>
            <a:chExt cx="21836456" cy="916381"/>
          </a:xfrm>
        </p:grpSpPr>
        <p:sp>
          <p:nvSpPr>
            <p:cNvPr name="Freeform 21" id="21"/>
            <p:cNvSpPr/>
            <p:nvPr/>
          </p:nvSpPr>
          <p:spPr>
            <a:xfrm flipH="false" flipV="false" rot="0">
              <a:off x="0" y="0"/>
              <a:ext cx="21836507" cy="916432"/>
            </a:xfrm>
            <a:custGeom>
              <a:avLst/>
              <a:gdLst/>
              <a:ahLst/>
              <a:cxnLst/>
              <a:rect r="r" b="b" t="t" l="l"/>
              <a:pathLst>
                <a:path h="916432" w="21836507">
                  <a:moveTo>
                    <a:pt x="0" y="0"/>
                  </a:moveTo>
                  <a:lnTo>
                    <a:pt x="21836507" y="0"/>
                  </a:lnTo>
                  <a:lnTo>
                    <a:pt x="21836507" y="916432"/>
                  </a:lnTo>
                  <a:lnTo>
                    <a:pt x="0" y="916432"/>
                  </a:lnTo>
                  <a:close/>
                </a:path>
              </a:pathLst>
            </a:custGeom>
            <a:solidFill>
              <a:srgbClr val="FFFFFF">
                <a:alpha val="0"/>
              </a:srgbClr>
            </a:solidFill>
          </p:spPr>
        </p:sp>
      </p:grpSp>
      <p:sp>
        <p:nvSpPr>
          <p:cNvPr name="TextBox 22" id="22"/>
          <p:cNvSpPr txBox="true"/>
          <p:nvPr/>
        </p:nvSpPr>
        <p:spPr>
          <a:xfrm rot="0">
            <a:off x="1191816" y="4974879"/>
            <a:ext cx="2797969" cy="512264"/>
          </a:xfrm>
          <a:prstGeom prst="rect">
            <a:avLst/>
          </a:prstGeom>
        </p:spPr>
        <p:txBody>
          <a:bodyPr anchor="t" rtlCol="false" tIns="0" lIns="0" bIns="0" rIns="0">
            <a:spAutoFit/>
          </a:bodyPr>
          <a:lstStyle/>
          <a:p>
            <a:pPr algn="l">
              <a:lnSpc>
                <a:spcPts val="2900"/>
              </a:lnSpc>
            </a:pPr>
            <a:r>
              <a:rPr lang="en-US" sz="1800">
                <a:solidFill>
                  <a:srgbClr val="404155"/>
                </a:solidFill>
                <a:latin typeface="Consolas"/>
                <a:ea typeface="Consolas"/>
                <a:cs typeface="Consolas"/>
                <a:sym typeface="Consolas"/>
              </a:rPr>
              <a:t>/send</a:t>
            </a:r>
          </a:p>
        </p:txBody>
      </p:sp>
      <p:sp>
        <p:nvSpPr>
          <p:cNvPr name="TextBox 23" id="23"/>
          <p:cNvSpPr txBox="true"/>
          <p:nvPr/>
        </p:nvSpPr>
        <p:spPr>
          <a:xfrm rot="0">
            <a:off x="4471988" y="4993929"/>
            <a:ext cx="2793206"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POST</a:t>
            </a:r>
          </a:p>
        </p:txBody>
      </p:sp>
      <p:sp>
        <p:nvSpPr>
          <p:cNvPr name="TextBox 24" id="24"/>
          <p:cNvSpPr txBox="true"/>
          <p:nvPr/>
        </p:nvSpPr>
        <p:spPr>
          <a:xfrm rot="0">
            <a:off x="7747397" y="4993929"/>
            <a:ext cx="9348940"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Upload encrypted file</a:t>
            </a:r>
          </a:p>
        </p:txBody>
      </p:sp>
      <p:grpSp>
        <p:nvGrpSpPr>
          <p:cNvPr name="Group 25" id="25"/>
          <p:cNvGrpSpPr/>
          <p:nvPr/>
        </p:nvGrpSpPr>
        <p:grpSpPr>
          <a:xfrm rot="0">
            <a:off x="955329" y="5631809"/>
            <a:ext cx="16377342" cy="687286"/>
            <a:chOff x="0" y="0"/>
            <a:chExt cx="21836456" cy="916381"/>
          </a:xfrm>
        </p:grpSpPr>
        <p:sp>
          <p:nvSpPr>
            <p:cNvPr name="Freeform 26" id="26"/>
            <p:cNvSpPr/>
            <p:nvPr/>
          </p:nvSpPr>
          <p:spPr>
            <a:xfrm flipH="false" flipV="false" rot="0">
              <a:off x="0" y="0"/>
              <a:ext cx="21836507" cy="916432"/>
            </a:xfrm>
            <a:custGeom>
              <a:avLst/>
              <a:gdLst/>
              <a:ahLst/>
              <a:cxnLst/>
              <a:rect r="r" b="b" t="t" l="l"/>
              <a:pathLst>
                <a:path h="916432" w="21836507">
                  <a:moveTo>
                    <a:pt x="0" y="0"/>
                  </a:moveTo>
                  <a:lnTo>
                    <a:pt x="21836507" y="0"/>
                  </a:lnTo>
                  <a:lnTo>
                    <a:pt x="21836507" y="916432"/>
                  </a:lnTo>
                  <a:lnTo>
                    <a:pt x="0" y="916432"/>
                  </a:lnTo>
                  <a:close/>
                </a:path>
              </a:pathLst>
            </a:custGeom>
            <a:solidFill>
              <a:srgbClr val="000000">
                <a:alpha val="0"/>
              </a:srgbClr>
            </a:solidFill>
          </p:spPr>
        </p:sp>
      </p:grpSp>
      <p:sp>
        <p:nvSpPr>
          <p:cNvPr name="TextBox 27" id="27"/>
          <p:cNvSpPr txBox="true"/>
          <p:nvPr/>
        </p:nvSpPr>
        <p:spPr>
          <a:xfrm rot="0">
            <a:off x="1191816" y="5662165"/>
            <a:ext cx="2797969" cy="512264"/>
          </a:xfrm>
          <a:prstGeom prst="rect">
            <a:avLst/>
          </a:prstGeom>
        </p:spPr>
        <p:txBody>
          <a:bodyPr anchor="t" rtlCol="false" tIns="0" lIns="0" bIns="0" rIns="0">
            <a:spAutoFit/>
          </a:bodyPr>
          <a:lstStyle/>
          <a:p>
            <a:pPr algn="l">
              <a:lnSpc>
                <a:spcPts val="2900"/>
              </a:lnSpc>
            </a:pPr>
            <a:r>
              <a:rPr lang="en-US" sz="1800">
                <a:solidFill>
                  <a:srgbClr val="404155"/>
                </a:solidFill>
                <a:latin typeface="Consolas"/>
                <a:ea typeface="Consolas"/>
                <a:cs typeface="Consolas"/>
                <a:sym typeface="Consolas"/>
              </a:rPr>
              <a:t>/inbox</a:t>
            </a:r>
          </a:p>
        </p:txBody>
      </p:sp>
      <p:sp>
        <p:nvSpPr>
          <p:cNvPr name="TextBox 28" id="28"/>
          <p:cNvSpPr txBox="true"/>
          <p:nvPr/>
        </p:nvSpPr>
        <p:spPr>
          <a:xfrm rot="0">
            <a:off x="4471988" y="5681215"/>
            <a:ext cx="2793206"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GET</a:t>
            </a:r>
          </a:p>
        </p:txBody>
      </p:sp>
      <p:sp>
        <p:nvSpPr>
          <p:cNvPr name="TextBox 29" id="29"/>
          <p:cNvSpPr txBox="true"/>
          <p:nvPr/>
        </p:nvSpPr>
        <p:spPr>
          <a:xfrm rot="0">
            <a:off x="7747397" y="5681215"/>
            <a:ext cx="9348940"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Fetch receiver inbox</a:t>
            </a:r>
          </a:p>
        </p:txBody>
      </p:sp>
      <p:grpSp>
        <p:nvGrpSpPr>
          <p:cNvPr name="Group 30" id="30"/>
          <p:cNvGrpSpPr/>
          <p:nvPr/>
        </p:nvGrpSpPr>
        <p:grpSpPr>
          <a:xfrm rot="0">
            <a:off x="955329" y="6319095"/>
            <a:ext cx="16377342" cy="687286"/>
            <a:chOff x="0" y="0"/>
            <a:chExt cx="21836456" cy="916381"/>
          </a:xfrm>
        </p:grpSpPr>
        <p:sp>
          <p:nvSpPr>
            <p:cNvPr name="Freeform 31" id="31"/>
            <p:cNvSpPr/>
            <p:nvPr/>
          </p:nvSpPr>
          <p:spPr>
            <a:xfrm flipH="false" flipV="false" rot="0">
              <a:off x="0" y="0"/>
              <a:ext cx="21836507" cy="916432"/>
            </a:xfrm>
            <a:custGeom>
              <a:avLst/>
              <a:gdLst/>
              <a:ahLst/>
              <a:cxnLst/>
              <a:rect r="r" b="b" t="t" l="l"/>
              <a:pathLst>
                <a:path h="916432" w="21836507">
                  <a:moveTo>
                    <a:pt x="0" y="0"/>
                  </a:moveTo>
                  <a:lnTo>
                    <a:pt x="21836507" y="0"/>
                  </a:lnTo>
                  <a:lnTo>
                    <a:pt x="21836507" y="916432"/>
                  </a:lnTo>
                  <a:lnTo>
                    <a:pt x="0" y="916432"/>
                  </a:lnTo>
                  <a:close/>
                </a:path>
              </a:pathLst>
            </a:custGeom>
            <a:solidFill>
              <a:srgbClr val="FFFFFF">
                <a:alpha val="0"/>
              </a:srgbClr>
            </a:solidFill>
          </p:spPr>
        </p:sp>
      </p:grpSp>
      <p:sp>
        <p:nvSpPr>
          <p:cNvPr name="TextBox 32" id="32"/>
          <p:cNvSpPr txBox="true"/>
          <p:nvPr/>
        </p:nvSpPr>
        <p:spPr>
          <a:xfrm rot="0">
            <a:off x="1191816" y="6349451"/>
            <a:ext cx="2797969" cy="512264"/>
          </a:xfrm>
          <a:prstGeom prst="rect">
            <a:avLst/>
          </a:prstGeom>
        </p:spPr>
        <p:txBody>
          <a:bodyPr anchor="t" rtlCol="false" tIns="0" lIns="0" bIns="0" rIns="0">
            <a:spAutoFit/>
          </a:bodyPr>
          <a:lstStyle/>
          <a:p>
            <a:pPr algn="l">
              <a:lnSpc>
                <a:spcPts val="2900"/>
              </a:lnSpc>
            </a:pPr>
            <a:r>
              <a:rPr lang="en-US" sz="1800">
                <a:solidFill>
                  <a:srgbClr val="404155"/>
                </a:solidFill>
                <a:latin typeface="Consolas"/>
                <a:ea typeface="Consolas"/>
                <a:cs typeface="Consolas"/>
                <a:sym typeface="Consolas"/>
              </a:rPr>
              <a:t>/pending</a:t>
            </a:r>
          </a:p>
        </p:txBody>
      </p:sp>
      <p:sp>
        <p:nvSpPr>
          <p:cNvPr name="TextBox 33" id="33"/>
          <p:cNvSpPr txBox="true"/>
          <p:nvPr/>
        </p:nvSpPr>
        <p:spPr>
          <a:xfrm rot="0">
            <a:off x="4471988" y="6368501"/>
            <a:ext cx="2793206"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GET</a:t>
            </a:r>
          </a:p>
        </p:txBody>
      </p:sp>
      <p:sp>
        <p:nvSpPr>
          <p:cNvPr name="TextBox 34" id="34"/>
          <p:cNvSpPr txBox="true"/>
          <p:nvPr/>
        </p:nvSpPr>
        <p:spPr>
          <a:xfrm rot="0">
            <a:off x="7747397" y="6368501"/>
            <a:ext cx="9348940"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Fetch pending approvals</a:t>
            </a:r>
          </a:p>
        </p:txBody>
      </p:sp>
      <p:grpSp>
        <p:nvGrpSpPr>
          <p:cNvPr name="Group 35" id="35"/>
          <p:cNvGrpSpPr/>
          <p:nvPr/>
        </p:nvGrpSpPr>
        <p:grpSpPr>
          <a:xfrm rot="0">
            <a:off x="955329" y="7006380"/>
            <a:ext cx="16377342" cy="687286"/>
            <a:chOff x="0" y="0"/>
            <a:chExt cx="21836456" cy="916381"/>
          </a:xfrm>
        </p:grpSpPr>
        <p:sp>
          <p:nvSpPr>
            <p:cNvPr name="Freeform 36" id="36"/>
            <p:cNvSpPr/>
            <p:nvPr/>
          </p:nvSpPr>
          <p:spPr>
            <a:xfrm flipH="false" flipV="false" rot="0">
              <a:off x="0" y="0"/>
              <a:ext cx="21836507" cy="916432"/>
            </a:xfrm>
            <a:custGeom>
              <a:avLst/>
              <a:gdLst/>
              <a:ahLst/>
              <a:cxnLst/>
              <a:rect r="r" b="b" t="t" l="l"/>
              <a:pathLst>
                <a:path h="916432" w="21836507">
                  <a:moveTo>
                    <a:pt x="0" y="0"/>
                  </a:moveTo>
                  <a:lnTo>
                    <a:pt x="21836507" y="0"/>
                  </a:lnTo>
                  <a:lnTo>
                    <a:pt x="21836507" y="916432"/>
                  </a:lnTo>
                  <a:lnTo>
                    <a:pt x="0" y="916432"/>
                  </a:lnTo>
                  <a:close/>
                </a:path>
              </a:pathLst>
            </a:custGeom>
            <a:solidFill>
              <a:srgbClr val="000000">
                <a:alpha val="0"/>
              </a:srgbClr>
            </a:solidFill>
          </p:spPr>
        </p:sp>
      </p:grpSp>
      <p:sp>
        <p:nvSpPr>
          <p:cNvPr name="TextBox 37" id="37"/>
          <p:cNvSpPr txBox="true"/>
          <p:nvPr/>
        </p:nvSpPr>
        <p:spPr>
          <a:xfrm rot="0">
            <a:off x="1191816" y="7036746"/>
            <a:ext cx="2797969" cy="512264"/>
          </a:xfrm>
          <a:prstGeom prst="rect">
            <a:avLst/>
          </a:prstGeom>
        </p:spPr>
        <p:txBody>
          <a:bodyPr anchor="t" rtlCol="false" tIns="0" lIns="0" bIns="0" rIns="0">
            <a:spAutoFit/>
          </a:bodyPr>
          <a:lstStyle/>
          <a:p>
            <a:pPr algn="l">
              <a:lnSpc>
                <a:spcPts val="2900"/>
              </a:lnSpc>
            </a:pPr>
            <a:r>
              <a:rPr lang="en-US" sz="1800">
                <a:solidFill>
                  <a:srgbClr val="404155"/>
                </a:solidFill>
                <a:latin typeface="Consolas"/>
                <a:ea typeface="Consolas"/>
                <a:cs typeface="Consolas"/>
                <a:sym typeface="Consolas"/>
              </a:rPr>
              <a:t>/approve</a:t>
            </a:r>
          </a:p>
        </p:txBody>
      </p:sp>
      <p:sp>
        <p:nvSpPr>
          <p:cNvPr name="TextBox 38" id="38"/>
          <p:cNvSpPr txBox="true"/>
          <p:nvPr/>
        </p:nvSpPr>
        <p:spPr>
          <a:xfrm rot="0">
            <a:off x="4471988" y="7055796"/>
            <a:ext cx="2793206"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POST</a:t>
            </a:r>
          </a:p>
        </p:txBody>
      </p:sp>
      <p:sp>
        <p:nvSpPr>
          <p:cNvPr name="TextBox 39" id="39"/>
          <p:cNvSpPr txBox="true"/>
          <p:nvPr/>
        </p:nvSpPr>
        <p:spPr>
          <a:xfrm rot="0">
            <a:off x="7747397" y="7055796"/>
            <a:ext cx="9348940"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Approve encrypted message</a:t>
            </a:r>
          </a:p>
        </p:txBody>
      </p:sp>
      <p:grpSp>
        <p:nvGrpSpPr>
          <p:cNvPr name="Group 40" id="40"/>
          <p:cNvGrpSpPr/>
          <p:nvPr/>
        </p:nvGrpSpPr>
        <p:grpSpPr>
          <a:xfrm rot="0">
            <a:off x="955329" y="7693666"/>
            <a:ext cx="16377342" cy="687286"/>
            <a:chOff x="0" y="0"/>
            <a:chExt cx="21836456" cy="916381"/>
          </a:xfrm>
        </p:grpSpPr>
        <p:sp>
          <p:nvSpPr>
            <p:cNvPr name="Freeform 41" id="41"/>
            <p:cNvSpPr/>
            <p:nvPr/>
          </p:nvSpPr>
          <p:spPr>
            <a:xfrm flipH="false" flipV="false" rot="0">
              <a:off x="0" y="0"/>
              <a:ext cx="21836507" cy="916432"/>
            </a:xfrm>
            <a:custGeom>
              <a:avLst/>
              <a:gdLst/>
              <a:ahLst/>
              <a:cxnLst/>
              <a:rect r="r" b="b" t="t" l="l"/>
              <a:pathLst>
                <a:path h="916432" w="21836507">
                  <a:moveTo>
                    <a:pt x="0" y="0"/>
                  </a:moveTo>
                  <a:lnTo>
                    <a:pt x="21836507" y="0"/>
                  </a:lnTo>
                  <a:lnTo>
                    <a:pt x="21836507" y="916432"/>
                  </a:lnTo>
                  <a:lnTo>
                    <a:pt x="0" y="916432"/>
                  </a:lnTo>
                  <a:close/>
                </a:path>
              </a:pathLst>
            </a:custGeom>
            <a:solidFill>
              <a:srgbClr val="FFFFFF">
                <a:alpha val="0"/>
              </a:srgbClr>
            </a:solidFill>
          </p:spPr>
        </p:sp>
      </p:grpSp>
      <p:sp>
        <p:nvSpPr>
          <p:cNvPr name="TextBox 42" id="42"/>
          <p:cNvSpPr txBox="true"/>
          <p:nvPr/>
        </p:nvSpPr>
        <p:spPr>
          <a:xfrm rot="0">
            <a:off x="1191816" y="7724032"/>
            <a:ext cx="2797969" cy="512264"/>
          </a:xfrm>
          <a:prstGeom prst="rect">
            <a:avLst/>
          </a:prstGeom>
        </p:spPr>
        <p:txBody>
          <a:bodyPr anchor="t" rtlCol="false" tIns="0" lIns="0" bIns="0" rIns="0">
            <a:spAutoFit/>
          </a:bodyPr>
          <a:lstStyle/>
          <a:p>
            <a:pPr algn="l">
              <a:lnSpc>
                <a:spcPts val="2900"/>
              </a:lnSpc>
            </a:pPr>
            <a:r>
              <a:rPr lang="en-US" sz="1800">
                <a:solidFill>
                  <a:srgbClr val="404155"/>
                </a:solidFill>
                <a:latin typeface="Consolas"/>
                <a:ea typeface="Consolas"/>
                <a:cs typeface="Consolas"/>
                <a:sym typeface="Consolas"/>
              </a:rPr>
              <a:t>/read</a:t>
            </a:r>
          </a:p>
        </p:txBody>
      </p:sp>
      <p:sp>
        <p:nvSpPr>
          <p:cNvPr name="TextBox 43" id="43"/>
          <p:cNvSpPr txBox="true"/>
          <p:nvPr/>
        </p:nvSpPr>
        <p:spPr>
          <a:xfrm rot="0">
            <a:off x="4471988" y="7743082"/>
            <a:ext cx="2793206"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GET</a:t>
            </a:r>
          </a:p>
        </p:txBody>
      </p:sp>
      <p:sp>
        <p:nvSpPr>
          <p:cNvPr name="TextBox 44" id="44"/>
          <p:cNvSpPr txBox="true"/>
          <p:nvPr/>
        </p:nvSpPr>
        <p:spPr>
          <a:xfrm rot="0">
            <a:off x="7747397" y="7743082"/>
            <a:ext cx="9348940" cy="464639"/>
          </a:xfrm>
          <a:prstGeom prst="rect">
            <a:avLst/>
          </a:prstGeom>
        </p:spPr>
        <p:txBody>
          <a:bodyPr anchor="t" rtlCol="false" tIns="0" lIns="0" bIns="0" rIns="0">
            <a:spAutoFit/>
          </a:bodyPr>
          <a:lstStyle/>
          <a:p>
            <a:pPr algn="l">
              <a:lnSpc>
                <a:spcPts val="2900"/>
              </a:lnSpc>
            </a:pPr>
            <a:r>
              <a:rPr lang="en-US" sz="1800">
                <a:solidFill>
                  <a:srgbClr val="404155"/>
                </a:solidFill>
                <a:latin typeface="Arimo"/>
                <a:ea typeface="Arimo"/>
                <a:cs typeface="Arimo"/>
                <a:sym typeface="Arimo"/>
              </a:rPr>
              <a:t>Decrypt and download file</a:t>
            </a:r>
          </a:p>
        </p:txBody>
      </p:sp>
      <p:grpSp>
        <p:nvGrpSpPr>
          <p:cNvPr name="Group 45" id="45"/>
          <p:cNvGrpSpPr/>
          <p:nvPr/>
        </p:nvGrpSpPr>
        <p:grpSpPr>
          <a:xfrm rot="0">
            <a:off x="945804" y="8643938"/>
            <a:ext cx="16396392" cy="974674"/>
            <a:chOff x="0" y="0"/>
            <a:chExt cx="21861856" cy="1299566"/>
          </a:xfrm>
        </p:grpSpPr>
        <p:sp>
          <p:nvSpPr>
            <p:cNvPr name="Freeform 46" id="46"/>
            <p:cNvSpPr/>
            <p:nvPr/>
          </p:nvSpPr>
          <p:spPr>
            <a:xfrm flipH="false" flipV="false" rot="0">
              <a:off x="0" y="0"/>
              <a:ext cx="21861907" cy="1299591"/>
            </a:xfrm>
            <a:custGeom>
              <a:avLst/>
              <a:gdLst/>
              <a:ahLst/>
              <a:cxnLst/>
              <a:rect r="r" b="b" t="t" l="l"/>
              <a:pathLst>
                <a:path h="1299591" w="21861907">
                  <a:moveTo>
                    <a:pt x="0" y="132461"/>
                  </a:moveTo>
                  <a:cubicBezTo>
                    <a:pt x="0" y="59309"/>
                    <a:pt x="59309" y="0"/>
                    <a:pt x="132461" y="0"/>
                  </a:cubicBezTo>
                  <a:lnTo>
                    <a:pt x="21729446" y="0"/>
                  </a:lnTo>
                  <a:cubicBezTo>
                    <a:pt x="21802598" y="0"/>
                    <a:pt x="21861907" y="59309"/>
                    <a:pt x="21861907" y="132461"/>
                  </a:cubicBezTo>
                  <a:lnTo>
                    <a:pt x="21861907" y="1167130"/>
                  </a:lnTo>
                  <a:cubicBezTo>
                    <a:pt x="21861907" y="1240282"/>
                    <a:pt x="21802598" y="1299591"/>
                    <a:pt x="21729446" y="1299591"/>
                  </a:cubicBezTo>
                  <a:lnTo>
                    <a:pt x="132461" y="1299591"/>
                  </a:lnTo>
                  <a:cubicBezTo>
                    <a:pt x="59309" y="1299591"/>
                    <a:pt x="0" y="1240282"/>
                    <a:pt x="0" y="1167130"/>
                  </a:cubicBezTo>
                  <a:close/>
                </a:path>
              </a:pathLst>
            </a:custGeom>
            <a:solidFill>
              <a:srgbClr val="B6D6FC"/>
            </a:solidFill>
          </p:spPr>
        </p:sp>
      </p:grpSp>
      <p:grpSp>
        <p:nvGrpSpPr>
          <p:cNvPr name="Group 47" id="47"/>
          <p:cNvGrpSpPr/>
          <p:nvPr/>
        </p:nvGrpSpPr>
        <p:grpSpPr>
          <a:xfrm rot="0">
            <a:off x="1182138" y="8980141"/>
            <a:ext cx="295570" cy="236344"/>
            <a:chOff x="0" y="0"/>
            <a:chExt cx="394094" cy="315125"/>
          </a:xfrm>
        </p:grpSpPr>
        <p:sp>
          <p:nvSpPr>
            <p:cNvPr name="Freeform 48" id="48" descr="preencoded.png"/>
            <p:cNvSpPr/>
            <p:nvPr/>
          </p:nvSpPr>
          <p:spPr>
            <a:xfrm flipH="false" flipV="false" rot="0">
              <a:off x="0" y="0"/>
              <a:ext cx="394081" cy="315087"/>
            </a:xfrm>
            <a:custGeom>
              <a:avLst/>
              <a:gdLst/>
              <a:ahLst/>
              <a:cxnLst/>
              <a:rect r="r" b="b" t="t" l="l"/>
              <a:pathLst>
                <a:path h="315087" w="394081">
                  <a:moveTo>
                    <a:pt x="0" y="0"/>
                  </a:moveTo>
                  <a:lnTo>
                    <a:pt x="394081" y="0"/>
                  </a:lnTo>
                  <a:lnTo>
                    <a:pt x="394081" y="315087"/>
                  </a:lnTo>
                  <a:lnTo>
                    <a:pt x="0" y="315087"/>
                  </a:lnTo>
                  <a:lnTo>
                    <a:pt x="0" y="0"/>
                  </a:lnTo>
                  <a:close/>
                </a:path>
              </a:pathLst>
            </a:custGeom>
            <a:blipFill>
              <a:blip r:embed="rId4"/>
              <a:stretch>
                <a:fillRect l="0" t="-427" r="-3" b="-439"/>
              </a:stretch>
            </a:blipFill>
          </p:spPr>
        </p:sp>
      </p:grpSp>
      <p:sp>
        <p:nvSpPr>
          <p:cNvPr name="TextBox 49" id="49"/>
          <p:cNvSpPr txBox="true"/>
          <p:nvPr/>
        </p:nvSpPr>
        <p:spPr>
          <a:xfrm rot="0">
            <a:off x="1714052" y="8833094"/>
            <a:ext cx="15391800" cy="464639"/>
          </a:xfrm>
          <a:prstGeom prst="rect">
            <a:avLst/>
          </a:prstGeom>
        </p:spPr>
        <p:txBody>
          <a:bodyPr anchor="t" rtlCol="false" tIns="0" lIns="0" bIns="0" rIns="0">
            <a:spAutoFit/>
          </a:bodyPr>
          <a:lstStyle/>
          <a:p>
            <a:pPr algn="l">
              <a:lnSpc>
                <a:spcPts val="2900"/>
              </a:lnSpc>
            </a:pPr>
            <a:r>
              <a:rPr lang="en-US" sz="1800">
                <a:solidFill>
                  <a:srgbClr val="000000"/>
                </a:solidFill>
                <a:latin typeface="Arimo"/>
                <a:ea typeface="Arimo"/>
                <a:cs typeface="Arimo"/>
                <a:sym typeface="Arimo"/>
              </a:rPr>
              <a:t>All API responses are returned in JSON or file format, enabling clean separation of frontend and backend logic.</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1417291"/>
            <a:ext cx="10493873" cy="813197"/>
          </a:xfrm>
          <a:prstGeom prst="rect">
            <a:avLst/>
          </a:prstGeom>
        </p:spPr>
        <p:txBody>
          <a:bodyPr anchor="t" rtlCol="false" tIns="0" lIns="0" bIns="0" rIns="0">
            <a:spAutoFit/>
          </a:bodyPr>
          <a:lstStyle/>
          <a:p>
            <a:pPr algn="l">
              <a:lnSpc>
                <a:spcPts val="6100"/>
              </a:lnSpc>
            </a:pPr>
            <a:r>
              <a:rPr lang="en-US" sz="4800">
                <a:solidFill>
                  <a:srgbClr val="1B1B27"/>
                </a:solidFill>
                <a:latin typeface="Corben"/>
                <a:ea typeface="Corben"/>
                <a:cs typeface="Corben"/>
                <a:sym typeface="Corben"/>
              </a:rPr>
              <a:t>Encryption Methodology: AES-GCM</a:t>
            </a:r>
          </a:p>
        </p:txBody>
      </p:sp>
      <p:sp>
        <p:nvSpPr>
          <p:cNvPr name="TextBox 7" id="7"/>
          <p:cNvSpPr txBox="true"/>
          <p:nvPr/>
        </p:nvSpPr>
        <p:spPr>
          <a:xfrm rot="0">
            <a:off x="992238" y="2631281"/>
            <a:ext cx="16303523" cy="889102"/>
          </a:xfrm>
          <a:prstGeom prst="rect">
            <a:avLst/>
          </a:prstGeom>
        </p:spPr>
        <p:txBody>
          <a:bodyPr anchor="t" rtlCol="false" tIns="0" lIns="0" bIns="0" rIns="0">
            <a:spAutoFit/>
          </a:bodyPr>
          <a:lstStyle/>
          <a:p>
            <a:pPr algn="l">
              <a:lnSpc>
                <a:spcPts val="3100"/>
              </a:lnSpc>
            </a:pPr>
            <a:r>
              <a:rPr lang="en-US" sz="1900" b="true">
                <a:solidFill>
                  <a:srgbClr val="404155"/>
                </a:solidFill>
                <a:latin typeface="Arimo Bold"/>
                <a:ea typeface="Arimo Bold"/>
                <a:cs typeface="Arimo Bold"/>
                <a:sym typeface="Arimo Bold"/>
              </a:rPr>
              <a:t>AES (Advanced Encryption Standard)</a:t>
            </a:r>
            <a:r>
              <a:rPr lang="en-US" sz="1900">
                <a:solidFill>
                  <a:srgbClr val="404155"/>
                </a:solidFill>
                <a:latin typeface="Arimo"/>
                <a:ea typeface="Arimo"/>
                <a:cs typeface="Arimo"/>
                <a:sym typeface="Arimo"/>
              </a:rPr>
              <a:t> with </a:t>
            </a:r>
            <a:r>
              <a:rPr lang="en-US" sz="1900" b="true">
                <a:solidFill>
                  <a:srgbClr val="404155"/>
                </a:solidFill>
                <a:latin typeface="Arimo Bold"/>
                <a:ea typeface="Arimo Bold"/>
                <a:cs typeface="Arimo Bold"/>
                <a:sym typeface="Arimo Bold"/>
              </a:rPr>
              <a:t>GCM (Galois Counter Mode)</a:t>
            </a:r>
            <a:r>
              <a:rPr lang="en-US" sz="1900">
                <a:solidFill>
                  <a:srgbClr val="404155"/>
                </a:solidFill>
                <a:latin typeface="Arimo"/>
                <a:ea typeface="Arimo"/>
                <a:cs typeface="Arimo"/>
                <a:sym typeface="Arimo"/>
              </a:rPr>
              <a:t> is the core encryption standard used. GCM is a secure block cipher mode providing confidentiality, integrity, and authentication — widely adopted in modern secure communication systems.</a:t>
            </a:r>
          </a:p>
        </p:txBody>
      </p:sp>
      <p:grpSp>
        <p:nvGrpSpPr>
          <p:cNvPr name="Group 8" id="8"/>
          <p:cNvGrpSpPr/>
          <p:nvPr/>
        </p:nvGrpSpPr>
        <p:grpSpPr>
          <a:xfrm rot="0">
            <a:off x="813645" y="3799437"/>
            <a:ext cx="8206378" cy="3302051"/>
            <a:chOff x="0" y="0"/>
            <a:chExt cx="10941837" cy="4402734"/>
          </a:xfrm>
        </p:grpSpPr>
        <p:sp>
          <p:nvSpPr>
            <p:cNvPr name="Freeform 9" id="9"/>
            <p:cNvSpPr/>
            <p:nvPr/>
          </p:nvSpPr>
          <p:spPr>
            <a:xfrm flipH="false" flipV="false" rot="0">
              <a:off x="0" y="0"/>
              <a:ext cx="10941812" cy="4402709"/>
            </a:xfrm>
            <a:custGeom>
              <a:avLst/>
              <a:gdLst/>
              <a:ahLst/>
              <a:cxnLst/>
              <a:rect r="r" b="b" t="t" l="l"/>
              <a:pathLst>
                <a:path h="4402709" w="10941812">
                  <a:moveTo>
                    <a:pt x="0" y="238125"/>
                  </a:moveTo>
                  <a:cubicBezTo>
                    <a:pt x="0" y="106680"/>
                    <a:pt x="106680" y="0"/>
                    <a:pt x="238125" y="0"/>
                  </a:cubicBezTo>
                  <a:lnTo>
                    <a:pt x="10703687" y="0"/>
                  </a:lnTo>
                  <a:cubicBezTo>
                    <a:pt x="10835259" y="0"/>
                    <a:pt x="10941812" y="106680"/>
                    <a:pt x="10941812" y="238125"/>
                  </a:cubicBezTo>
                  <a:lnTo>
                    <a:pt x="10941812" y="4164584"/>
                  </a:lnTo>
                  <a:cubicBezTo>
                    <a:pt x="10941812" y="4296156"/>
                    <a:pt x="10835132" y="4402709"/>
                    <a:pt x="10703687" y="4402709"/>
                  </a:cubicBezTo>
                  <a:lnTo>
                    <a:pt x="238125" y="4402709"/>
                  </a:lnTo>
                  <a:cubicBezTo>
                    <a:pt x="106680" y="4402709"/>
                    <a:pt x="0" y="4296156"/>
                    <a:pt x="0" y="4164584"/>
                  </a:cubicBezTo>
                  <a:close/>
                </a:path>
              </a:pathLst>
            </a:custGeom>
            <a:solidFill>
              <a:srgbClr val="4967E9">
                <a:alpha val="90196"/>
              </a:srgbClr>
            </a:solidFill>
          </p:spPr>
        </p:sp>
      </p:grpSp>
      <p:sp>
        <p:nvSpPr>
          <p:cNvPr name="TextBox 10" id="10"/>
          <p:cNvSpPr txBox="true"/>
          <p:nvPr/>
        </p:nvSpPr>
        <p:spPr>
          <a:xfrm rot="0">
            <a:off x="1061590" y="4037857"/>
            <a:ext cx="3101130" cy="397221"/>
          </a:xfrm>
          <a:prstGeom prst="rect">
            <a:avLst/>
          </a:prstGeom>
        </p:spPr>
        <p:txBody>
          <a:bodyPr anchor="t" rtlCol="false" tIns="0" lIns="0" bIns="0" rIns="0">
            <a:spAutoFit/>
          </a:bodyPr>
          <a:lstStyle/>
          <a:p>
            <a:pPr algn="l">
              <a:lnSpc>
                <a:spcPts val="3000"/>
              </a:lnSpc>
            </a:pPr>
            <a:r>
              <a:rPr lang="en-US" sz="2400">
                <a:solidFill>
                  <a:srgbClr val="FFFFFF"/>
                </a:solidFill>
                <a:latin typeface="Corben"/>
                <a:ea typeface="Corben"/>
                <a:cs typeface="Corben"/>
                <a:sym typeface="Corben"/>
              </a:rPr>
              <a:t>Encryption Process</a:t>
            </a:r>
          </a:p>
        </p:txBody>
      </p:sp>
      <p:sp>
        <p:nvSpPr>
          <p:cNvPr name="TextBox 11" id="11"/>
          <p:cNvSpPr txBox="true"/>
          <p:nvPr/>
        </p:nvSpPr>
        <p:spPr>
          <a:xfrm rot="0">
            <a:off x="1061590" y="4587773"/>
            <a:ext cx="7710488" cy="2426941"/>
          </a:xfrm>
          <a:prstGeom prst="rect">
            <a:avLst/>
          </a:prstGeom>
        </p:spPr>
        <p:txBody>
          <a:bodyPr anchor="t" rtlCol="false" tIns="0" lIns="0" bIns="0" rIns="0">
            <a:spAutoFit/>
          </a:bodyPr>
          <a:lstStyle/>
          <a:p>
            <a:pPr algn="l" marL="458470" indent="-229235" lvl="1">
              <a:lnSpc>
                <a:spcPts val="3100"/>
              </a:lnSpc>
              <a:buAutoNum type="arabicPeriod" startAt="1"/>
            </a:pPr>
            <a:r>
              <a:rPr lang="en-US" sz="1900">
                <a:solidFill>
                  <a:srgbClr val="FFFFFF"/>
                </a:solidFill>
                <a:latin typeface="Arimo"/>
                <a:ea typeface="Arimo"/>
                <a:cs typeface="Arimo"/>
                <a:sym typeface="Arimo"/>
              </a:rPr>
              <a:t>Sender uploads a file</a:t>
            </a:r>
          </a:p>
          <a:p>
            <a:pPr algn="l" marL="458470" indent="-229235" lvl="1">
              <a:lnSpc>
                <a:spcPts val="3100"/>
              </a:lnSpc>
              <a:buAutoNum type="arabicPeriod" startAt="1"/>
            </a:pPr>
            <a:r>
              <a:rPr lang="en-US" sz="1900">
                <a:solidFill>
                  <a:srgbClr val="FFFFFF"/>
                </a:solidFill>
                <a:latin typeface="Arimo"/>
                <a:ea typeface="Arimo"/>
                <a:cs typeface="Arimo"/>
                <a:sym typeface="Arimo"/>
              </a:rPr>
              <a:t>Backend generates a random AES key</a:t>
            </a:r>
          </a:p>
          <a:p>
            <a:pPr algn="l" marL="458470" indent="-229235" lvl="1">
              <a:lnSpc>
                <a:spcPts val="3100"/>
              </a:lnSpc>
              <a:buAutoNum type="arabicPeriod" startAt="1"/>
            </a:pPr>
            <a:r>
              <a:rPr lang="en-US" sz="1900">
                <a:solidFill>
                  <a:srgbClr val="FFFFFF"/>
                </a:solidFill>
                <a:latin typeface="Arimo"/>
                <a:ea typeface="Arimo"/>
                <a:cs typeface="Arimo"/>
                <a:sym typeface="Arimo"/>
              </a:rPr>
              <a:t>File is encrypted using AES-GCM</a:t>
            </a:r>
          </a:p>
          <a:p>
            <a:pPr algn="l" marL="458470" indent="-229235" lvl="1">
              <a:lnSpc>
                <a:spcPts val="3100"/>
              </a:lnSpc>
              <a:buAutoNum type="arabicPeriod" startAt="1"/>
            </a:pPr>
            <a:r>
              <a:rPr lang="en-US" sz="1900">
                <a:solidFill>
                  <a:srgbClr val="FFFFFF"/>
                </a:solidFill>
                <a:latin typeface="Arimo"/>
                <a:ea typeface="Arimo"/>
                <a:cs typeface="Arimo"/>
                <a:sym typeface="Arimo"/>
              </a:rPr>
              <a:t>Nonce and authentication tag are generated</a:t>
            </a:r>
          </a:p>
          <a:p>
            <a:pPr algn="l" marL="458470" indent="-229235" lvl="1">
              <a:lnSpc>
                <a:spcPts val="3100"/>
              </a:lnSpc>
              <a:buAutoNum type="arabicPeriod" startAt="1"/>
            </a:pPr>
            <a:r>
              <a:rPr lang="en-US" sz="1900">
                <a:solidFill>
                  <a:srgbClr val="FFFFFF"/>
                </a:solidFill>
                <a:latin typeface="Arimo"/>
                <a:ea typeface="Arimo"/>
                <a:cs typeface="Arimo"/>
                <a:sym typeface="Arimo"/>
              </a:rPr>
              <a:t>Encrypted file is stored in secure memory</a:t>
            </a:r>
          </a:p>
        </p:txBody>
      </p:sp>
      <p:sp>
        <p:nvSpPr>
          <p:cNvPr name="TextBox 12" id="12"/>
          <p:cNvSpPr txBox="true"/>
          <p:nvPr/>
        </p:nvSpPr>
        <p:spPr>
          <a:xfrm rot="0">
            <a:off x="9456096" y="4037857"/>
            <a:ext cx="3101130" cy="397221"/>
          </a:xfrm>
          <a:prstGeom prst="rect">
            <a:avLst/>
          </a:prstGeom>
        </p:spPr>
        <p:txBody>
          <a:bodyPr anchor="t" rtlCol="false" tIns="0" lIns="0" bIns="0" rIns="0">
            <a:spAutoFit/>
          </a:bodyPr>
          <a:lstStyle/>
          <a:p>
            <a:pPr algn="l">
              <a:lnSpc>
                <a:spcPts val="3000"/>
              </a:lnSpc>
            </a:pPr>
            <a:r>
              <a:rPr lang="en-US" sz="2400">
                <a:solidFill>
                  <a:srgbClr val="1B1B27"/>
                </a:solidFill>
                <a:latin typeface="Corben"/>
                <a:ea typeface="Corben"/>
                <a:cs typeface="Corben"/>
                <a:sym typeface="Corben"/>
              </a:rPr>
              <a:t>Decryption Process</a:t>
            </a:r>
          </a:p>
        </p:txBody>
      </p:sp>
      <p:sp>
        <p:nvSpPr>
          <p:cNvPr name="TextBox 13" id="13"/>
          <p:cNvSpPr txBox="true"/>
          <p:nvPr/>
        </p:nvSpPr>
        <p:spPr>
          <a:xfrm rot="0">
            <a:off x="9456096" y="4587773"/>
            <a:ext cx="7849200" cy="2426941"/>
          </a:xfrm>
          <a:prstGeom prst="rect">
            <a:avLst/>
          </a:prstGeom>
        </p:spPr>
        <p:txBody>
          <a:bodyPr anchor="t" rtlCol="false" tIns="0" lIns="0" bIns="0" rIns="0">
            <a:spAutoFit/>
          </a:bodyPr>
          <a:lstStyle/>
          <a:p>
            <a:pPr algn="l" marL="458470" indent="-229235" lvl="1">
              <a:lnSpc>
                <a:spcPts val="3100"/>
              </a:lnSpc>
              <a:buAutoNum type="arabicPeriod" startAt="1"/>
            </a:pPr>
            <a:r>
              <a:rPr lang="en-US" sz="1900">
                <a:solidFill>
                  <a:srgbClr val="404155"/>
                </a:solidFill>
                <a:latin typeface="Arimo"/>
                <a:ea typeface="Arimo"/>
                <a:cs typeface="Arimo"/>
                <a:sym typeface="Arimo"/>
              </a:rPr>
              <a:t>Receiver requests file access</a:t>
            </a:r>
          </a:p>
          <a:p>
            <a:pPr algn="l" marL="458470" indent="-229235" lvl="1">
              <a:lnSpc>
                <a:spcPts val="3100"/>
              </a:lnSpc>
              <a:buAutoNum type="arabicPeriod" startAt="1"/>
            </a:pPr>
            <a:r>
              <a:rPr lang="en-US" sz="1900">
                <a:solidFill>
                  <a:srgbClr val="404155"/>
                </a:solidFill>
                <a:latin typeface="Arimo"/>
                <a:ea typeface="Arimo"/>
                <a:cs typeface="Arimo"/>
                <a:sym typeface="Arimo"/>
              </a:rPr>
              <a:t>Approval status is verified</a:t>
            </a:r>
          </a:p>
          <a:p>
            <a:pPr algn="l" marL="458470" indent="-229235" lvl="1">
              <a:lnSpc>
                <a:spcPts val="3100"/>
              </a:lnSpc>
              <a:buAutoNum type="arabicPeriod" startAt="1"/>
            </a:pPr>
            <a:r>
              <a:rPr lang="en-US" sz="1900">
                <a:solidFill>
                  <a:srgbClr val="404155"/>
                </a:solidFill>
                <a:latin typeface="Arimo"/>
                <a:ea typeface="Arimo"/>
                <a:cs typeface="Arimo"/>
                <a:sym typeface="Arimo"/>
              </a:rPr>
              <a:t>AES-GCM verifies integrity using authentication tag</a:t>
            </a:r>
          </a:p>
          <a:p>
            <a:pPr algn="l" marL="458470" indent="-229235" lvl="1">
              <a:lnSpc>
                <a:spcPts val="3100"/>
              </a:lnSpc>
              <a:buAutoNum type="arabicPeriod" startAt="1"/>
            </a:pPr>
            <a:r>
              <a:rPr lang="en-US" sz="1900">
                <a:solidFill>
                  <a:srgbClr val="404155"/>
                </a:solidFill>
                <a:latin typeface="Arimo"/>
                <a:ea typeface="Arimo"/>
                <a:cs typeface="Arimo"/>
                <a:sym typeface="Arimo"/>
              </a:rPr>
              <a:t>Original file is decrypted</a:t>
            </a:r>
          </a:p>
          <a:p>
            <a:pPr algn="l" marL="458470" indent="-229235" lvl="1">
              <a:lnSpc>
                <a:spcPts val="3100"/>
              </a:lnSpc>
              <a:buAutoNum type="arabicPeriod" startAt="1"/>
            </a:pPr>
            <a:r>
              <a:rPr lang="en-US" sz="1900">
                <a:solidFill>
                  <a:srgbClr val="404155"/>
                </a:solidFill>
                <a:latin typeface="Arimo"/>
                <a:ea typeface="Arimo"/>
                <a:cs typeface="Arimo"/>
                <a:sym typeface="Arimo"/>
              </a:rPr>
              <a:t>Exact original file is returned to receiver</a:t>
            </a:r>
          </a:p>
        </p:txBody>
      </p:sp>
      <p:grpSp>
        <p:nvGrpSpPr>
          <p:cNvPr name="Group 14" id="14"/>
          <p:cNvGrpSpPr/>
          <p:nvPr/>
        </p:nvGrpSpPr>
        <p:grpSpPr>
          <a:xfrm rot="0">
            <a:off x="992238" y="7380532"/>
            <a:ext cx="16303523" cy="1450924"/>
            <a:chOff x="0" y="0"/>
            <a:chExt cx="21738031" cy="1934566"/>
          </a:xfrm>
        </p:grpSpPr>
        <p:sp>
          <p:nvSpPr>
            <p:cNvPr name="Freeform 15" id="15"/>
            <p:cNvSpPr/>
            <p:nvPr/>
          </p:nvSpPr>
          <p:spPr>
            <a:xfrm flipH="false" flipV="false" rot="0">
              <a:off x="0" y="0"/>
              <a:ext cx="21738082" cy="1934591"/>
            </a:xfrm>
            <a:custGeom>
              <a:avLst/>
              <a:gdLst/>
              <a:ahLst/>
              <a:cxnLst/>
              <a:rect r="r" b="b" t="t" l="l"/>
              <a:pathLst>
                <a:path h="1934591" w="21738082">
                  <a:moveTo>
                    <a:pt x="0" y="138938"/>
                  </a:moveTo>
                  <a:cubicBezTo>
                    <a:pt x="0" y="62230"/>
                    <a:pt x="62230" y="0"/>
                    <a:pt x="138938" y="0"/>
                  </a:cubicBezTo>
                  <a:lnTo>
                    <a:pt x="21599144" y="0"/>
                  </a:lnTo>
                  <a:cubicBezTo>
                    <a:pt x="21675852" y="0"/>
                    <a:pt x="21738082" y="62230"/>
                    <a:pt x="21738082" y="138938"/>
                  </a:cubicBezTo>
                  <a:lnTo>
                    <a:pt x="21738082" y="1795653"/>
                  </a:lnTo>
                  <a:cubicBezTo>
                    <a:pt x="21738082" y="1872361"/>
                    <a:pt x="21675852" y="1934591"/>
                    <a:pt x="21599144" y="1934591"/>
                  </a:cubicBezTo>
                  <a:lnTo>
                    <a:pt x="138938" y="1934591"/>
                  </a:lnTo>
                  <a:cubicBezTo>
                    <a:pt x="62230" y="1934591"/>
                    <a:pt x="0" y="1872361"/>
                    <a:pt x="0" y="1795653"/>
                  </a:cubicBezTo>
                  <a:close/>
                </a:path>
              </a:pathLst>
            </a:custGeom>
            <a:solidFill>
              <a:srgbClr val="B6FCB8"/>
            </a:solidFill>
          </p:spPr>
        </p:sp>
      </p:grpSp>
      <p:grpSp>
        <p:nvGrpSpPr>
          <p:cNvPr name="Group 16" id="16"/>
          <p:cNvGrpSpPr/>
          <p:nvPr/>
        </p:nvGrpSpPr>
        <p:grpSpPr>
          <a:xfrm rot="0">
            <a:off x="1240184" y="7740101"/>
            <a:ext cx="310010" cy="247945"/>
            <a:chOff x="0" y="0"/>
            <a:chExt cx="413347" cy="330594"/>
          </a:xfrm>
        </p:grpSpPr>
        <p:sp>
          <p:nvSpPr>
            <p:cNvPr name="Freeform 17" id="17" descr="preencoded.png"/>
            <p:cNvSpPr/>
            <p:nvPr/>
          </p:nvSpPr>
          <p:spPr>
            <a:xfrm flipH="false" flipV="false" rot="0">
              <a:off x="0" y="0"/>
              <a:ext cx="413385" cy="330581"/>
            </a:xfrm>
            <a:custGeom>
              <a:avLst/>
              <a:gdLst/>
              <a:ahLst/>
              <a:cxnLst/>
              <a:rect r="r" b="b" t="t" l="l"/>
              <a:pathLst>
                <a:path h="330581" w="413385">
                  <a:moveTo>
                    <a:pt x="0" y="0"/>
                  </a:moveTo>
                  <a:lnTo>
                    <a:pt x="413385" y="0"/>
                  </a:lnTo>
                  <a:lnTo>
                    <a:pt x="413385" y="330581"/>
                  </a:lnTo>
                  <a:lnTo>
                    <a:pt x="0" y="330581"/>
                  </a:lnTo>
                  <a:lnTo>
                    <a:pt x="0" y="0"/>
                  </a:lnTo>
                  <a:close/>
                </a:path>
              </a:pathLst>
            </a:custGeom>
            <a:blipFill>
              <a:blip r:embed="rId4"/>
              <a:stretch>
                <a:fillRect l="-755" t="0" r="-749" b="-3"/>
              </a:stretch>
            </a:blipFill>
          </p:spPr>
        </p:sp>
      </p:grpSp>
      <p:sp>
        <p:nvSpPr>
          <p:cNvPr name="TextBox 18" id="18"/>
          <p:cNvSpPr txBox="true"/>
          <p:nvPr/>
        </p:nvSpPr>
        <p:spPr>
          <a:xfrm rot="0">
            <a:off x="1798139" y="7595149"/>
            <a:ext cx="15249677" cy="889102"/>
          </a:xfrm>
          <a:prstGeom prst="rect">
            <a:avLst/>
          </a:prstGeom>
        </p:spPr>
        <p:txBody>
          <a:bodyPr anchor="t" rtlCol="false" tIns="0" lIns="0" bIns="0" rIns="0">
            <a:spAutoFit/>
          </a:bodyPr>
          <a:lstStyle/>
          <a:p>
            <a:pPr algn="l">
              <a:lnSpc>
                <a:spcPts val="3100"/>
              </a:lnSpc>
            </a:pPr>
            <a:r>
              <a:rPr lang="en-US" sz="1900">
                <a:solidFill>
                  <a:srgbClr val="000000"/>
                </a:solidFill>
                <a:latin typeface="Arimo"/>
                <a:ea typeface="Arimo"/>
                <a:cs typeface="Arimo"/>
                <a:sym typeface="Arimo"/>
              </a:rPr>
              <a:t>AES-GCM ensures the original file name, type, and content are fully preserved — PDF remains PDF, PNG remains PNG, DOCX remains DOCX.</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76760" y="708717"/>
            <a:ext cx="8987133" cy="791613"/>
          </a:xfrm>
          <a:prstGeom prst="rect">
            <a:avLst/>
          </a:prstGeom>
        </p:spPr>
        <p:txBody>
          <a:bodyPr anchor="t" rtlCol="false" tIns="0" lIns="0" bIns="0" rIns="0">
            <a:spAutoFit/>
          </a:bodyPr>
          <a:lstStyle/>
          <a:p>
            <a:pPr algn="l">
              <a:lnSpc>
                <a:spcPts val="6000"/>
              </a:lnSpc>
            </a:pPr>
            <a:r>
              <a:rPr lang="en-US" sz="4800">
                <a:solidFill>
                  <a:srgbClr val="1B1B27"/>
                </a:solidFill>
                <a:latin typeface="Corben"/>
                <a:ea typeface="Corben"/>
                <a:cs typeface="Corben"/>
                <a:sym typeface="Corben"/>
              </a:rPr>
              <a:t>Threshold-Based Authorization</a:t>
            </a:r>
          </a:p>
        </p:txBody>
      </p:sp>
      <p:sp>
        <p:nvSpPr>
          <p:cNvPr name="TextBox 7" id="7"/>
          <p:cNvSpPr txBox="true"/>
          <p:nvPr/>
        </p:nvSpPr>
        <p:spPr>
          <a:xfrm rot="0">
            <a:off x="976760" y="1895323"/>
            <a:ext cx="16334480" cy="861117"/>
          </a:xfrm>
          <a:prstGeom prst="rect">
            <a:avLst/>
          </a:prstGeom>
        </p:spPr>
        <p:txBody>
          <a:bodyPr anchor="t" rtlCol="false" tIns="0" lIns="0" bIns="0" rIns="0">
            <a:spAutoFit/>
          </a:bodyPr>
          <a:lstStyle/>
          <a:p>
            <a:pPr algn="l">
              <a:lnSpc>
                <a:spcPts val="3000"/>
              </a:lnSpc>
            </a:pPr>
            <a:r>
              <a:rPr lang="en-US" sz="1900">
                <a:solidFill>
                  <a:srgbClr val="404155"/>
                </a:solidFill>
                <a:latin typeface="Arimo"/>
                <a:ea typeface="Arimo"/>
                <a:cs typeface="Arimo"/>
                <a:sym typeface="Arimo"/>
              </a:rPr>
              <a:t>The system implements a </a:t>
            </a:r>
            <a:r>
              <a:rPr lang="en-US" sz="1900" b="true">
                <a:solidFill>
                  <a:srgbClr val="404155"/>
                </a:solidFill>
                <a:latin typeface="Arimo Bold"/>
                <a:ea typeface="Arimo Bold"/>
                <a:cs typeface="Arimo Bold"/>
                <a:sym typeface="Arimo Bold"/>
              </a:rPr>
              <a:t>multi-user approval mechanism</a:t>
            </a:r>
            <a:r>
              <a:rPr lang="en-US" sz="1900">
                <a:solidFill>
                  <a:srgbClr val="404155"/>
                </a:solidFill>
                <a:latin typeface="Arimo"/>
                <a:ea typeface="Arimo"/>
                <a:cs typeface="Arimo"/>
                <a:sym typeface="Arimo"/>
              </a:rPr>
              <a:t> ensuring no single user can independently access sensitive information. Two distinct authorized users must approve a file before the receiver can decrypt it.</a:t>
            </a:r>
          </a:p>
        </p:txBody>
      </p:sp>
      <p:grpSp>
        <p:nvGrpSpPr>
          <p:cNvPr name="Group 8" id="8"/>
          <p:cNvGrpSpPr/>
          <p:nvPr/>
        </p:nvGrpSpPr>
        <p:grpSpPr>
          <a:xfrm rot="0">
            <a:off x="962473" y="3378841"/>
            <a:ext cx="8075562" cy="1825076"/>
            <a:chOff x="0" y="0"/>
            <a:chExt cx="10767416" cy="2433434"/>
          </a:xfrm>
        </p:grpSpPr>
        <p:sp>
          <p:nvSpPr>
            <p:cNvPr name="Freeform 9" id="9"/>
            <p:cNvSpPr/>
            <p:nvPr/>
          </p:nvSpPr>
          <p:spPr>
            <a:xfrm flipH="false" flipV="false" rot="0">
              <a:off x="19050" y="19050"/>
              <a:ext cx="10729341" cy="2395347"/>
            </a:xfrm>
            <a:custGeom>
              <a:avLst/>
              <a:gdLst/>
              <a:ahLst/>
              <a:cxnLst/>
              <a:rect r="r" b="b" t="t" l="l"/>
              <a:pathLst>
                <a:path h="2395347" w="10729341">
                  <a:moveTo>
                    <a:pt x="0" y="182880"/>
                  </a:moveTo>
                  <a:cubicBezTo>
                    <a:pt x="0" y="81915"/>
                    <a:pt x="82931" y="0"/>
                    <a:pt x="185166" y="0"/>
                  </a:cubicBezTo>
                  <a:lnTo>
                    <a:pt x="10544175" y="0"/>
                  </a:lnTo>
                  <a:cubicBezTo>
                    <a:pt x="10646410" y="0"/>
                    <a:pt x="10729341" y="81915"/>
                    <a:pt x="10729341" y="182880"/>
                  </a:cubicBezTo>
                  <a:lnTo>
                    <a:pt x="10729341" y="2212467"/>
                  </a:lnTo>
                  <a:cubicBezTo>
                    <a:pt x="10729341" y="2313432"/>
                    <a:pt x="10646410" y="2395347"/>
                    <a:pt x="10544175" y="2395347"/>
                  </a:cubicBezTo>
                  <a:lnTo>
                    <a:pt x="185166" y="2395347"/>
                  </a:lnTo>
                  <a:cubicBezTo>
                    <a:pt x="82931" y="2395347"/>
                    <a:pt x="0" y="2313432"/>
                    <a:pt x="0" y="2212467"/>
                  </a:cubicBezTo>
                  <a:close/>
                </a:path>
              </a:pathLst>
            </a:custGeom>
            <a:solidFill>
              <a:srgbClr val="F9F9FF">
                <a:alpha val="90196"/>
              </a:srgbClr>
            </a:solidFill>
          </p:spPr>
        </p:sp>
        <p:sp>
          <p:nvSpPr>
            <p:cNvPr name="Freeform 10" id="10"/>
            <p:cNvSpPr/>
            <p:nvPr/>
          </p:nvSpPr>
          <p:spPr>
            <a:xfrm flipH="false" flipV="false" rot="0">
              <a:off x="0" y="0"/>
              <a:ext cx="10767441" cy="2433447"/>
            </a:xfrm>
            <a:custGeom>
              <a:avLst/>
              <a:gdLst/>
              <a:ahLst/>
              <a:cxnLst/>
              <a:rect r="r" b="b" t="t" l="l"/>
              <a:pathLst>
                <a:path h="2433447" w="10767441">
                  <a:moveTo>
                    <a:pt x="0" y="201930"/>
                  </a:moveTo>
                  <a:cubicBezTo>
                    <a:pt x="0" y="90170"/>
                    <a:pt x="91694" y="0"/>
                    <a:pt x="204216" y="0"/>
                  </a:cubicBezTo>
                  <a:lnTo>
                    <a:pt x="10563225" y="0"/>
                  </a:lnTo>
                  <a:lnTo>
                    <a:pt x="10563225" y="19050"/>
                  </a:lnTo>
                  <a:lnTo>
                    <a:pt x="10563225" y="0"/>
                  </a:lnTo>
                  <a:cubicBezTo>
                    <a:pt x="10675747" y="0"/>
                    <a:pt x="10767441" y="90170"/>
                    <a:pt x="10767441" y="201930"/>
                  </a:cubicBezTo>
                  <a:lnTo>
                    <a:pt x="10748391" y="201930"/>
                  </a:lnTo>
                  <a:lnTo>
                    <a:pt x="10767441" y="201930"/>
                  </a:lnTo>
                  <a:lnTo>
                    <a:pt x="10767441" y="2231517"/>
                  </a:lnTo>
                  <a:lnTo>
                    <a:pt x="10748391" y="2231517"/>
                  </a:lnTo>
                  <a:lnTo>
                    <a:pt x="10767441" y="2231517"/>
                  </a:lnTo>
                  <a:cubicBezTo>
                    <a:pt x="10767441" y="2343277"/>
                    <a:pt x="10675747" y="2433447"/>
                    <a:pt x="10563225" y="2433447"/>
                  </a:cubicBezTo>
                  <a:lnTo>
                    <a:pt x="10563225" y="2414397"/>
                  </a:lnTo>
                  <a:lnTo>
                    <a:pt x="10563225" y="2433447"/>
                  </a:lnTo>
                  <a:lnTo>
                    <a:pt x="204216" y="2433447"/>
                  </a:lnTo>
                  <a:lnTo>
                    <a:pt x="204216" y="2414397"/>
                  </a:lnTo>
                  <a:lnTo>
                    <a:pt x="204216" y="2433447"/>
                  </a:lnTo>
                  <a:cubicBezTo>
                    <a:pt x="91694" y="2433447"/>
                    <a:pt x="0" y="2343277"/>
                    <a:pt x="0" y="2231517"/>
                  </a:cubicBezTo>
                  <a:lnTo>
                    <a:pt x="0" y="201930"/>
                  </a:lnTo>
                  <a:lnTo>
                    <a:pt x="19050" y="201930"/>
                  </a:lnTo>
                  <a:lnTo>
                    <a:pt x="0" y="201930"/>
                  </a:lnTo>
                  <a:moveTo>
                    <a:pt x="38100" y="201930"/>
                  </a:moveTo>
                  <a:lnTo>
                    <a:pt x="38100" y="2231517"/>
                  </a:lnTo>
                  <a:lnTo>
                    <a:pt x="19050" y="2231517"/>
                  </a:lnTo>
                  <a:lnTo>
                    <a:pt x="38100" y="2231517"/>
                  </a:lnTo>
                  <a:cubicBezTo>
                    <a:pt x="38100" y="2321814"/>
                    <a:pt x="112268" y="2395347"/>
                    <a:pt x="204216" y="2395347"/>
                  </a:cubicBezTo>
                  <a:lnTo>
                    <a:pt x="10563225" y="2395347"/>
                  </a:lnTo>
                  <a:cubicBezTo>
                    <a:pt x="10655173" y="2395347"/>
                    <a:pt x="10729341" y="2321814"/>
                    <a:pt x="10729341" y="2231517"/>
                  </a:cubicBezTo>
                  <a:lnTo>
                    <a:pt x="10729341" y="201930"/>
                  </a:lnTo>
                  <a:cubicBezTo>
                    <a:pt x="10729341" y="111633"/>
                    <a:pt x="10655173" y="38100"/>
                    <a:pt x="10563225" y="38100"/>
                  </a:cubicBezTo>
                  <a:lnTo>
                    <a:pt x="204216" y="38100"/>
                  </a:lnTo>
                  <a:lnTo>
                    <a:pt x="204216" y="19050"/>
                  </a:lnTo>
                  <a:lnTo>
                    <a:pt x="204216" y="38100"/>
                  </a:lnTo>
                  <a:cubicBezTo>
                    <a:pt x="112268" y="38100"/>
                    <a:pt x="38100" y="111633"/>
                    <a:pt x="38100" y="201930"/>
                  </a:cubicBezTo>
                  <a:close/>
                </a:path>
              </a:pathLst>
            </a:custGeom>
            <a:solidFill>
              <a:srgbClr val="B8BFDF"/>
            </a:solidFill>
          </p:spPr>
        </p:sp>
      </p:grpSp>
      <p:grpSp>
        <p:nvGrpSpPr>
          <p:cNvPr name="Group 11" id="11"/>
          <p:cNvGrpSpPr/>
          <p:nvPr/>
        </p:nvGrpSpPr>
        <p:grpSpPr>
          <a:xfrm rot="0">
            <a:off x="976760" y="3364554"/>
            <a:ext cx="8046987" cy="114300"/>
            <a:chOff x="0" y="0"/>
            <a:chExt cx="10729316" cy="152400"/>
          </a:xfrm>
        </p:grpSpPr>
        <p:sp>
          <p:nvSpPr>
            <p:cNvPr name="Freeform 12" id="12"/>
            <p:cNvSpPr/>
            <p:nvPr/>
          </p:nvSpPr>
          <p:spPr>
            <a:xfrm flipH="false" flipV="false" rot="0">
              <a:off x="0" y="0"/>
              <a:ext cx="10729341" cy="152400"/>
            </a:xfrm>
            <a:custGeom>
              <a:avLst/>
              <a:gdLst/>
              <a:ahLst/>
              <a:cxnLst/>
              <a:rect r="r" b="b" t="t" l="l"/>
              <a:pathLst>
                <a:path h="152400" w="10729341">
                  <a:moveTo>
                    <a:pt x="0" y="76200"/>
                  </a:moveTo>
                  <a:cubicBezTo>
                    <a:pt x="0" y="34163"/>
                    <a:pt x="34163" y="0"/>
                    <a:pt x="76200" y="0"/>
                  </a:cubicBezTo>
                  <a:lnTo>
                    <a:pt x="10653141" y="0"/>
                  </a:lnTo>
                  <a:cubicBezTo>
                    <a:pt x="10695178" y="0"/>
                    <a:pt x="10729341" y="34163"/>
                    <a:pt x="10729341" y="76200"/>
                  </a:cubicBezTo>
                  <a:cubicBezTo>
                    <a:pt x="10729341" y="118237"/>
                    <a:pt x="10695178" y="152400"/>
                    <a:pt x="10653141" y="152400"/>
                  </a:cubicBezTo>
                  <a:lnTo>
                    <a:pt x="76200" y="152400"/>
                  </a:lnTo>
                  <a:cubicBezTo>
                    <a:pt x="34163" y="152400"/>
                    <a:pt x="0" y="118237"/>
                    <a:pt x="0" y="76200"/>
                  </a:cubicBezTo>
                  <a:close/>
                </a:path>
              </a:pathLst>
            </a:custGeom>
            <a:solidFill>
              <a:srgbClr val="4967E9"/>
            </a:solidFill>
          </p:spPr>
        </p:sp>
      </p:grpSp>
      <p:grpSp>
        <p:nvGrpSpPr>
          <p:cNvPr name="Group 13" id="13"/>
          <p:cNvGrpSpPr/>
          <p:nvPr/>
        </p:nvGrpSpPr>
        <p:grpSpPr>
          <a:xfrm rot="0">
            <a:off x="4633912" y="3026864"/>
            <a:ext cx="732530" cy="732530"/>
            <a:chOff x="0" y="0"/>
            <a:chExt cx="976706" cy="976706"/>
          </a:xfrm>
        </p:grpSpPr>
        <p:sp>
          <p:nvSpPr>
            <p:cNvPr name="Freeform 14" id="14"/>
            <p:cNvSpPr/>
            <p:nvPr/>
          </p:nvSpPr>
          <p:spPr>
            <a:xfrm flipH="false" flipV="false" rot="0">
              <a:off x="0" y="0"/>
              <a:ext cx="976757" cy="976757"/>
            </a:xfrm>
            <a:custGeom>
              <a:avLst/>
              <a:gdLst/>
              <a:ahLst/>
              <a:cxnLst/>
              <a:rect r="r" b="b" t="t" l="l"/>
              <a:pathLst>
                <a:path h="976757" w="976757">
                  <a:moveTo>
                    <a:pt x="0" y="488315"/>
                  </a:moveTo>
                  <a:cubicBezTo>
                    <a:pt x="0" y="218694"/>
                    <a:pt x="218694" y="0"/>
                    <a:pt x="488315" y="0"/>
                  </a:cubicBezTo>
                  <a:cubicBezTo>
                    <a:pt x="757936" y="0"/>
                    <a:pt x="976757" y="218694"/>
                    <a:pt x="976757" y="488315"/>
                  </a:cubicBezTo>
                  <a:cubicBezTo>
                    <a:pt x="976757" y="757936"/>
                    <a:pt x="758063" y="976757"/>
                    <a:pt x="488315" y="976757"/>
                  </a:cubicBezTo>
                  <a:cubicBezTo>
                    <a:pt x="218567" y="976757"/>
                    <a:pt x="0" y="758063"/>
                    <a:pt x="0" y="488315"/>
                  </a:cubicBezTo>
                  <a:close/>
                </a:path>
              </a:pathLst>
            </a:custGeom>
            <a:solidFill>
              <a:srgbClr val="4967E9"/>
            </a:solidFill>
          </p:spPr>
        </p:sp>
      </p:grpSp>
      <p:grpSp>
        <p:nvGrpSpPr>
          <p:cNvPr name="Group 15" id="15"/>
          <p:cNvGrpSpPr/>
          <p:nvPr/>
        </p:nvGrpSpPr>
        <p:grpSpPr>
          <a:xfrm rot="0">
            <a:off x="4853578" y="3209925"/>
            <a:ext cx="293046" cy="366265"/>
            <a:chOff x="0" y="0"/>
            <a:chExt cx="390728" cy="488353"/>
          </a:xfrm>
        </p:grpSpPr>
        <p:sp>
          <p:nvSpPr>
            <p:cNvPr name="Freeform 16" id="16"/>
            <p:cNvSpPr/>
            <p:nvPr/>
          </p:nvSpPr>
          <p:spPr>
            <a:xfrm flipH="false" flipV="false" rot="0">
              <a:off x="0" y="0"/>
              <a:ext cx="390723" cy="488355"/>
            </a:xfrm>
            <a:custGeom>
              <a:avLst/>
              <a:gdLst/>
              <a:ahLst/>
              <a:cxnLst/>
              <a:rect r="r" b="b" t="t" l="l"/>
              <a:pathLst>
                <a:path h="488355" w="390723">
                  <a:moveTo>
                    <a:pt x="0" y="0"/>
                  </a:moveTo>
                  <a:lnTo>
                    <a:pt x="390723" y="0"/>
                  </a:lnTo>
                  <a:lnTo>
                    <a:pt x="390723" y="488355"/>
                  </a:lnTo>
                  <a:lnTo>
                    <a:pt x="0" y="488355"/>
                  </a:lnTo>
                  <a:close/>
                </a:path>
              </a:pathLst>
            </a:custGeom>
            <a:blipFill>
              <a:blip r:embed="rId4">
                <a:alphaModFix amt="0"/>
              </a:blip>
              <a:stretch>
                <a:fillRect l="-110362" t="0" r="-110363" b="0"/>
              </a:stretch>
            </a:blipFill>
          </p:spPr>
        </p:sp>
        <p:sp>
          <p:nvSpPr>
            <p:cNvPr name="TextBox 17" id="17"/>
            <p:cNvSpPr txBox="true"/>
            <p:nvPr/>
          </p:nvSpPr>
          <p:spPr>
            <a:xfrm>
              <a:off x="0" y="-9525"/>
              <a:ext cx="390728" cy="497878"/>
            </a:xfrm>
            <a:prstGeom prst="rect">
              <a:avLst/>
            </a:prstGeom>
          </p:spPr>
          <p:txBody>
            <a:bodyPr anchor="ctr" rtlCol="false" tIns="0" lIns="0" bIns="0" rIns="0"/>
            <a:lstStyle/>
            <a:p>
              <a:pPr algn="ctr">
                <a:lnSpc>
                  <a:spcPts val="2760"/>
                </a:lnSpc>
              </a:pPr>
              <a:r>
                <a:rPr lang="en-US" sz="2300">
                  <a:solidFill>
                    <a:srgbClr val="FFFFFF"/>
                  </a:solidFill>
                  <a:latin typeface="Corben"/>
                  <a:ea typeface="Corben"/>
                  <a:cs typeface="Corben"/>
                  <a:sym typeface="Corben"/>
                </a:rPr>
                <a:t>1</a:t>
              </a:r>
            </a:p>
          </p:txBody>
        </p:sp>
      </p:grpSp>
      <p:sp>
        <p:nvSpPr>
          <p:cNvPr name="TextBox 18" id="18"/>
          <p:cNvSpPr txBox="true"/>
          <p:nvPr/>
        </p:nvSpPr>
        <p:spPr>
          <a:xfrm rot="0">
            <a:off x="1249413" y="3994099"/>
            <a:ext cx="3052610" cy="390973"/>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Sender Uploads</a:t>
            </a:r>
          </a:p>
        </p:txBody>
      </p:sp>
      <p:sp>
        <p:nvSpPr>
          <p:cNvPr name="TextBox 19" id="19"/>
          <p:cNvSpPr txBox="true"/>
          <p:nvPr/>
        </p:nvSpPr>
        <p:spPr>
          <a:xfrm rot="0">
            <a:off x="1249413" y="4443565"/>
            <a:ext cx="7501680" cy="473421"/>
          </a:xfrm>
          <a:prstGeom prst="rect">
            <a:avLst/>
          </a:prstGeom>
        </p:spPr>
        <p:txBody>
          <a:bodyPr anchor="t" rtlCol="false" tIns="0" lIns="0" bIns="0" rIns="0">
            <a:spAutoFit/>
          </a:bodyPr>
          <a:lstStyle/>
          <a:p>
            <a:pPr algn="l">
              <a:lnSpc>
                <a:spcPts val="3000"/>
              </a:lnSpc>
            </a:pPr>
            <a:r>
              <a:rPr lang="en-US" sz="1900">
                <a:solidFill>
                  <a:srgbClr val="404155"/>
                </a:solidFill>
                <a:latin typeface="Arimo"/>
                <a:ea typeface="Arimo"/>
                <a:cs typeface="Arimo"/>
                <a:sym typeface="Arimo"/>
              </a:rPr>
              <a:t>Sender uploads an encrypted file targeting a specific receiver.</a:t>
            </a:r>
          </a:p>
        </p:txBody>
      </p:sp>
      <p:grpSp>
        <p:nvGrpSpPr>
          <p:cNvPr name="Group 20" id="20"/>
          <p:cNvGrpSpPr/>
          <p:nvPr/>
        </p:nvGrpSpPr>
        <p:grpSpPr>
          <a:xfrm rot="0">
            <a:off x="9249813" y="3378841"/>
            <a:ext cx="8075714" cy="1825076"/>
            <a:chOff x="0" y="0"/>
            <a:chExt cx="10767619" cy="2433434"/>
          </a:xfrm>
        </p:grpSpPr>
        <p:sp>
          <p:nvSpPr>
            <p:cNvPr name="Freeform 21" id="21"/>
            <p:cNvSpPr/>
            <p:nvPr/>
          </p:nvSpPr>
          <p:spPr>
            <a:xfrm flipH="false" flipV="false" rot="0">
              <a:off x="19050" y="19050"/>
              <a:ext cx="10729595" cy="2395347"/>
            </a:xfrm>
            <a:custGeom>
              <a:avLst/>
              <a:gdLst/>
              <a:ahLst/>
              <a:cxnLst/>
              <a:rect r="r" b="b" t="t" l="l"/>
              <a:pathLst>
                <a:path h="2395347" w="10729595">
                  <a:moveTo>
                    <a:pt x="0" y="182880"/>
                  </a:moveTo>
                  <a:cubicBezTo>
                    <a:pt x="0" y="81915"/>
                    <a:pt x="82931" y="0"/>
                    <a:pt x="185166" y="0"/>
                  </a:cubicBezTo>
                  <a:lnTo>
                    <a:pt x="10544429" y="0"/>
                  </a:lnTo>
                  <a:cubicBezTo>
                    <a:pt x="10646664" y="0"/>
                    <a:pt x="10729595" y="81915"/>
                    <a:pt x="10729595" y="182880"/>
                  </a:cubicBezTo>
                  <a:lnTo>
                    <a:pt x="10729595" y="2212467"/>
                  </a:lnTo>
                  <a:cubicBezTo>
                    <a:pt x="10729595" y="2313432"/>
                    <a:pt x="10646664" y="2395347"/>
                    <a:pt x="10544429" y="2395347"/>
                  </a:cubicBezTo>
                  <a:lnTo>
                    <a:pt x="185166" y="2395347"/>
                  </a:lnTo>
                  <a:cubicBezTo>
                    <a:pt x="82931" y="2395347"/>
                    <a:pt x="0" y="2313432"/>
                    <a:pt x="0" y="2212467"/>
                  </a:cubicBezTo>
                  <a:close/>
                </a:path>
              </a:pathLst>
            </a:custGeom>
            <a:solidFill>
              <a:srgbClr val="F9F9FF">
                <a:alpha val="90196"/>
              </a:srgbClr>
            </a:solidFill>
          </p:spPr>
        </p:sp>
        <p:sp>
          <p:nvSpPr>
            <p:cNvPr name="Freeform 22" id="22"/>
            <p:cNvSpPr/>
            <p:nvPr/>
          </p:nvSpPr>
          <p:spPr>
            <a:xfrm flipH="false" flipV="false" rot="0">
              <a:off x="0" y="0"/>
              <a:ext cx="10767695" cy="2433447"/>
            </a:xfrm>
            <a:custGeom>
              <a:avLst/>
              <a:gdLst/>
              <a:ahLst/>
              <a:cxnLst/>
              <a:rect r="r" b="b" t="t" l="l"/>
              <a:pathLst>
                <a:path h="2433447" w="10767695">
                  <a:moveTo>
                    <a:pt x="0" y="201930"/>
                  </a:moveTo>
                  <a:cubicBezTo>
                    <a:pt x="0" y="90170"/>
                    <a:pt x="91694" y="0"/>
                    <a:pt x="204216" y="0"/>
                  </a:cubicBezTo>
                  <a:lnTo>
                    <a:pt x="10563479" y="0"/>
                  </a:lnTo>
                  <a:lnTo>
                    <a:pt x="10563479" y="19050"/>
                  </a:lnTo>
                  <a:lnTo>
                    <a:pt x="10563479" y="0"/>
                  </a:lnTo>
                  <a:cubicBezTo>
                    <a:pt x="10676001" y="0"/>
                    <a:pt x="10767695" y="90170"/>
                    <a:pt x="10767695" y="201930"/>
                  </a:cubicBezTo>
                  <a:lnTo>
                    <a:pt x="10748645" y="201930"/>
                  </a:lnTo>
                  <a:lnTo>
                    <a:pt x="10767695" y="201930"/>
                  </a:lnTo>
                  <a:lnTo>
                    <a:pt x="10767695" y="2231517"/>
                  </a:lnTo>
                  <a:lnTo>
                    <a:pt x="10748645" y="2231517"/>
                  </a:lnTo>
                  <a:lnTo>
                    <a:pt x="10767695" y="2231517"/>
                  </a:lnTo>
                  <a:cubicBezTo>
                    <a:pt x="10767695" y="2343277"/>
                    <a:pt x="10676001" y="2433447"/>
                    <a:pt x="10563479" y="2433447"/>
                  </a:cubicBezTo>
                  <a:lnTo>
                    <a:pt x="10563479" y="2414397"/>
                  </a:lnTo>
                  <a:lnTo>
                    <a:pt x="10563479" y="2433447"/>
                  </a:lnTo>
                  <a:lnTo>
                    <a:pt x="204216" y="2433447"/>
                  </a:lnTo>
                  <a:lnTo>
                    <a:pt x="204216" y="2414397"/>
                  </a:lnTo>
                  <a:lnTo>
                    <a:pt x="204216" y="2433447"/>
                  </a:lnTo>
                  <a:cubicBezTo>
                    <a:pt x="91694" y="2433447"/>
                    <a:pt x="0" y="2343277"/>
                    <a:pt x="0" y="2231517"/>
                  </a:cubicBezTo>
                  <a:lnTo>
                    <a:pt x="0" y="201930"/>
                  </a:lnTo>
                  <a:lnTo>
                    <a:pt x="19050" y="201930"/>
                  </a:lnTo>
                  <a:lnTo>
                    <a:pt x="0" y="201930"/>
                  </a:lnTo>
                  <a:moveTo>
                    <a:pt x="38100" y="201930"/>
                  </a:moveTo>
                  <a:lnTo>
                    <a:pt x="38100" y="2231517"/>
                  </a:lnTo>
                  <a:lnTo>
                    <a:pt x="19050" y="2231517"/>
                  </a:lnTo>
                  <a:lnTo>
                    <a:pt x="38100" y="2231517"/>
                  </a:lnTo>
                  <a:cubicBezTo>
                    <a:pt x="38100" y="2321814"/>
                    <a:pt x="112268" y="2395347"/>
                    <a:pt x="204216" y="2395347"/>
                  </a:cubicBezTo>
                  <a:lnTo>
                    <a:pt x="10563479" y="2395347"/>
                  </a:lnTo>
                  <a:cubicBezTo>
                    <a:pt x="10655427" y="2395347"/>
                    <a:pt x="10729595" y="2321814"/>
                    <a:pt x="10729595" y="2231517"/>
                  </a:cubicBezTo>
                  <a:lnTo>
                    <a:pt x="10729595" y="201930"/>
                  </a:lnTo>
                  <a:cubicBezTo>
                    <a:pt x="10729595" y="111633"/>
                    <a:pt x="10655427" y="38100"/>
                    <a:pt x="10563479" y="38100"/>
                  </a:cubicBezTo>
                  <a:lnTo>
                    <a:pt x="204216" y="38100"/>
                  </a:lnTo>
                  <a:lnTo>
                    <a:pt x="204216" y="19050"/>
                  </a:lnTo>
                  <a:lnTo>
                    <a:pt x="204216" y="38100"/>
                  </a:lnTo>
                  <a:cubicBezTo>
                    <a:pt x="112268" y="38100"/>
                    <a:pt x="38100" y="111633"/>
                    <a:pt x="38100" y="201930"/>
                  </a:cubicBezTo>
                  <a:close/>
                </a:path>
              </a:pathLst>
            </a:custGeom>
            <a:solidFill>
              <a:srgbClr val="B8BFDF"/>
            </a:solidFill>
          </p:spPr>
        </p:sp>
      </p:grpSp>
      <p:grpSp>
        <p:nvGrpSpPr>
          <p:cNvPr name="Group 23" id="23"/>
          <p:cNvGrpSpPr/>
          <p:nvPr/>
        </p:nvGrpSpPr>
        <p:grpSpPr>
          <a:xfrm rot="0">
            <a:off x="9264101" y="3364554"/>
            <a:ext cx="8047139" cy="114300"/>
            <a:chOff x="0" y="0"/>
            <a:chExt cx="10729519" cy="152400"/>
          </a:xfrm>
        </p:grpSpPr>
        <p:sp>
          <p:nvSpPr>
            <p:cNvPr name="Freeform 24" id="24"/>
            <p:cNvSpPr/>
            <p:nvPr/>
          </p:nvSpPr>
          <p:spPr>
            <a:xfrm flipH="false" flipV="false" rot="0">
              <a:off x="0" y="0"/>
              <a:ext cx="10729468" cy="152400"/>
            </a:xfrm>
            <a:custGeom>
              <a:avLst/>
              <a:gdLst/>
              <a:ahLst/>
              <a:cxnLst/>
              <a:rect r="r" b="b" t="t" l="l"/>
              <a:pathLst>
                <a:path h="152400" w="10729468">
                  <a:moveTo>
                    <a:pt x="0" y="76200"/>
                  </a:moveTo>
                  <a:cubicBezTo>
                    <a:pt x="0" y="34163"/>
                    <a:pt x="34163" y="0"/>
                    <a:pt x="76200" y="0"/>
                  </a:cubicBezTo>
                  <a:lnTo>
                    <a:pt x="10653268" y="0"/>
                  </a:lnTo>
                  <a:cubicBezTo>
                    <a:pt x="10695305" y="0"/>
                    <a:pt x="10729468" y="34163"/>
                    <a:pt x="10729468" y="76200"/>
                  </a:cubicBezTo>
                  <a:cubicBezTo>
                    <a:pt x="10729468" y="118237"/>
                    <a:pt x="10695305" y="152400"/>
                    <a:pt x="10653268" y="152400"/>
                  </a:cubicBezTo>
                  <a:lnTo>
                    <a:pt x="76200" y="152400"/>
                  </a:lnTo>
                  <a:cubicBezTo>
                    <a:pt x="34163" y="152400"/>
                    <a:pt x="0" y="118237"/>
                    <a:pt x="0" y="76200"/>
                  </a:cubicBezTo>
                  <a:close/>
                </a:path>
              </a:pathLst>
            </a:custGeom>
            <a:solidFill>
              <a:srgbClr val="4967E9"/>
            </a:solidFill>
          </p:spPr>
        </p:sp>
      </p:grpSp>
      <p:grpSp>
        <p:nvGrpSpPr>
          <p:cNvPr name="Group 25" id="25"/>
          <p:cNvGrpSpPr/>
          <p:nvPr/>
        </p:nvGrpSpPr>
        <p:grpSpPr>
          <a:xfrm rot="0">
            <a:off x="12921405" y="3026864"/>
            <a:ext cx="732530" cy="732530"/>
            <a:chOff x="0" y="0"/>
            <a:chExt cx="976706" cy="976706"/>
          </a:xfrm>
        </p:grpSpPr>
        <p:sp>
          <p:nvSpPr>
            <p:cNvPr name="Freeform 26" id="26"/>
            <p:cNvSpPr/>
            <p:nvPr/>
          </p:nvSpPr>
          <p:spPr>
            <a:xfrm flipH="false" flipV="false" rot="0">
              <a:off x="0" y="0"/>
              <a:ext cx="976757" cy="976757"/>
            </a:xfrm>
            <a:custGeom>
              <a:avLst/>
              <a:gdLst/>
              <a:ahLst/>
              <a:cxnLst/>
              <a:rect r="r" b="b" t="t" l="l"/>
              <a:pathLst>
                <a:path h="976757" w="976757">
                  <a:moveTo>
                    <a:pt x="0" y="488315"/>
                  </a:moveTo>
                  <a:cubicBezTo>
                    <a:pt x="0" y="218694"/>
                    <a:pt x="218694" y="0"/>
                    <a:pt x="488315" y="0"/>
                  </a:cubicBezTo>
                  <a:cubicBezTo>
                    <a:pt x="757936" y="0"/>
                    <a:pt x="976757" y="218694"/>
                    <a:pt x="976757" y="488315"/>
                  </a:cubicBezTo>
                  <a:cubicBezTo>
                    <a:pt x="976757" y="757936"/>
                    <a:pt x="758063" y="976757"/>
                    <a:pt x="488315" y="976757"/>
                  </a:cubicBezTo>
                  <a:cubicBezTo>
                    <a:pt x="218567" y="976757"/>
                    <a:pt x="0" y="758063"/>
                    <a:pt x="0" y="488315"/>
                  </a:cubicBezTo>
                  <a:close/>
                </a:path>
              </a:pathLst>
            </a:custGeom>
            <a:solidFill>
              <a:srgbClr val="4967E9"/>
            </a:solidFill>
          </p:spPr>
        </p:sp>
      </p:grpSp>
      <p:grpSp>
        <p:nvGrpSpPr>
          <p:cNvPr name="Group 27" id="27"/>
          <p:cNvGrpSpPr/>
          <p:nvPr/>
        </p:nvGrpSpPr>
        <p:grpSpPr>
          <a:xfrm rot="0">
            <a:off x="13141081" y="3209925"/>
            <a:ext cx="293046" cy="366265"/>
            <a:chOff x="0" y="0"/>
            <a:chExt cx="390728" cy="488353"/>
          </a:xfrm>
        </p:grpSpPr>
        <p:sp>
          <p:nvSpPr>
            <p:cNvPr name="Freeform 28" id="28"/>
            <p:cNvSpPr/>
            <p:nvPr/>
          </p:nvSpPr>
          <p:spPr>
            <a:xfrm flipH="false" flipV="false" rot="0">
              <a:off x="0" y="0"/>
              <a:ext cx="390723" cy="488355"/>
            </a:xfrm>
            <a:custGeom>
              <a:avLst/>
              <a:gdLst/>
              <a:ahLst/>
              <a:cxnLst/>
              <a:rect r="r" b="b" t="t" l="l"/>
              <a:pathLst>
                <a:path h="488355" w="390723">
                  <a:moveTo>
                    <a:pt x="0" y="0"/>
                  </a:moveTo>
                  <a:lnTo>
                    <a:pt x="390723" y="0"/>
                  </a:lnTo>
                  <a:lnTo>
                    <a:pt x="390723" y="488355"/>
                  </a:lnTo>
                  <a:lnTo>
                    <a:pt x="0" y="488355"/>
                  </a:lnTo>
                  <a:close/>
                </a:path>
              </a:pathLst>
            </a:custGeom>
            <a:blipFill>
              <a:blip r:embed="rId4">
                <a:alphaModFix amt="0"/>
              </a:blip>
              <a:stretch>
                <a:fillRect l="-110362" t="0" r="-110363" b="0"/>
              </a:stretch>
            </a:blipFill>
          </p:spPr>
        </p:sp>
        <p:sp>
          <p:nvSpPr>
            <p:cNvPr name="TextBox 29" id="29"/>
            <p:cNvSpPr txBox="true"/>
            <p:nvPr/>
          </p:nvSpPr>
          <p:spPr>
            <a:xfrm>
              <a:off x="0" y="-9525"/>
              <a:ext cx="390728" cy="497878"/>
            </a:xfrm>
            <a:prstGeom prst="rect">
              <a:avLst/>
            </a:prstGeom>
          </p:spPr>
          <p:txBody>
            <a:bodyPr anchor="ctr" rtlCol="false" tIns="0" lIns="0" bIns="0" rIns="0"/>
            <a:lstStyle/>
            <a:p>
              <a:pPr algn="ctr">
                <a:lnSpc>
                  <a:spcPts val="2760"/>
                </a:lnSpc>
              </a:pPr>
              <a:r>
                <a:rPr lang="en-US" sz="2300">
                  <a:solidFill>
                    <a:srgbClr val="FFFFFF"/>
                  </a:solidFill>
                  <a:latin typeface="Corben"/>
                  <a:ea typeface="Corben"/>
                  <a:cs typeface="Corben"/>
                  <a:sym typeface="Corben"/>
                </a:rPr>
                <a:t>2</a:t>
              </a:r>
            </a:p>
          </p:txBody>
        </p:sp>
      </p:grpSp>
      <p:sp>
        <p:nvSpPr>
          <p:cNvPr name="TextBox 30" id="30"/>
          <p:cNvSpPr txBox="true"/>
          <p:nvPr/>
        </p:nvSpPr>
        <p:spPr>
          <a:xfrm rot="0">
            <a:off x="9536754" y="3994099"/>
            <a:ext cx="3052610" cy="390973"/>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Receiver Sees Inbox</a:t>
            </a:r>
          </a:p>
        </p:txBody>
      </p:sp>
      <p:sp>
        <p:nvSpPr>
          <p:cNvPr name="TextBox 31" id="31"/>
          <p:cNvSpPr txBox="true"/>
          <p:nvPr/>
        </p:nvSpPr>
        <p:spPr>
          <a:xfrm rot="0">
            <a:off x="9536754" y="4443565"/>
            <a:ext cx="7501833" cy="473421"/>
          </a:xfrm>
          <a:prstGeom prst="rect">
            <a:avLst/>
          </a:prstGeom>
        </p:spPr>
        <p:txBody>
          <a:bodyPr anchor="t" rtlCol="false" tIns="0" lIns="0" bIns="0" rIns="0">
            <a:spAutoFit/>
          </a:bodyPr>
          <a:lstStyle/>
          <a:p>
            <a:pPr algn="l">
              <a:lnSpc>
                <a:spcPts val="3000"/>
              </a:lnSpc>
            </a:pPr>
            <a:r>
              <a:rPr lang="en-US" sz="1900">
                <a:solidFill>
                  <a:srgbClr val="404155"/>
                </a:solidFill>
                <a:latin typeface="Arimo"/>
                <a:ea typeface="Arimo"/>
                <a:cs typeface="Arimo"/>
                <a:sym typeface="Arimo"/>
              </a:rPr>
              <a:t>Receiver sees the encrypted message but cannot access it yet.</a:t>
            </a:r>
          </a:p>
        </p:txBody>
      </p:sp>
      <p:grpSp>
        <p:nvGrpSpPr>
          <p:cNvPr name="Group 32" id="32"/>
          <p:cNvGrpSpPr/>
          <p:nvPr/>
        </p:nvGrpSpPr>
        <p:grpSpPr>
          <a:xfrm rot="0">
            <a:off x="962473" y="5781970"/>
            <a:ext cx="8075562" cy="2212781"/>
            <a:chOff x="0" y="0"/>
            <a:chExt cx="10767416" cy="2950375"/>
          </a:xfrm>
        </p:grpSpPr>
        <p:sp>
          <p:nvSpPr>
            <p:cNvPr name="Freeform 33" id="33"/>
            <p:cNvSpPr/>
            <p:nvPr/>
          </p:nvSpPr>
          <p:spPr>
            <a:xfrm flipH="false" flipV="false" rot="0">
              <a:off x="19050" y="19050"/>
              <a:ext cx="10729340" cy="2912237"/>
            </a:xfrm>
            <a:custGeom>
              <a:avLst/>
              <a:gdLst/>
              <a:ahLst/>
              <a:cxnLst/>
              <a:rect r="r" b="b" t="t" l="l"/>
              <a:pathLst>
                <a:path h="2912237" w="10729340">
                  <a:moveTo>
                    <a:pt x="0" y="182880"/>
                  </a:moveTo>
                  <a:cubicBezTo>
                    <a:pt x="0" y="81915"/>
                    <a:pt x="82677" y="0"/>
                    <a:pt x="184658" y="0"/>
                  </a:cubicBezTo>
                  <a:lnTo>
                    <a:pt x="10544683" y="0"/>
                  </a:lnTo>
                  <a:cubicBezTo>
                    <a:pt x="10646664" y="0"/>
                    <a:pt x="10729340" y="81915"/>
                    <a:pt x="10729340" y="182880"/>
                  </a:cubicBezTo>
                  <a:lnTo>
                    <a:pt x="10729340" y="2729357"/>
                  </a:lnTo>
                  <a:cubicBezTo>
                    <a:pt x="10729340" y="2830322"/>
                    <a:pt x="10646664" y="2912237"/>
                    <a:pt x="10544683" y="2912237"/>
                  </a:cubicBezTo>
                  <a:lnTo>
                    <a:pt x="184658" y="2912237"/>
                  </a:lnTo>
                  <a:cubicBezTo>
                    <a:pt x="82677" y="2912237"/>
                    <a:pt x="0" y="2830322"/>
                    <a:pt x="0" y="2729357"/>
                  </a:cubicBezTo>
                  <a:close/>
                </a:path>
              </a:pathLst>
            </a:custGeom>
            <a:solidFill>
              <a:srgbClr val="F9F9FF">
                <a:alpha val="90196"/>
              </a:srgbClr>
            </a:solidFill>
          </p:spPr>
        </p:sp>
        <p:sp>
          <p:nvSpPr>
            <p:cNvPr name="Freeform 34" id="34"/>
            <p:cNvSpPr/>
            <p:nvPr/>
          </p:nvSpPr>
          <p:spPr>
            <a:xfrm flipH="false" flipV="false" rot="0">
              <a:off x="0" y="0"/>
              <a:ext cx="10767440" cy="2950337"/>
            </a:xfrm>
            <a:custGeom>
              <a:avLst/>
              <a:gdLst/>
              <a:ahLst/>
              <a:cxnLst/>
              <a:rect r="r" b="b" t="t" l="l"/>
              <a:pathLst>
                <a:path h="2950337" w="10767440">
                  <a:moveTo>
                    <a:pt x="0" y="201930"/>
                  </a:moveTo>
                  <a:cubicBezTo>
                    <a:pt x="0" y="90297"/>
                    <a:pt x="91313" y="0"/>
                    <a:pt x="203708" y="0"/>
                  </a:cubicBezTo>
                  <a:lnTo>
                    <a:pt x="10563733" y="0"/>
                  </a:lnTo>
                  <a:lnTo>
                    <a:pt x="10563733" y="19050"/>
                  </a:lnTo>
                  <a:lnTo>
                    <a:pt x="10563733" y="0"/>
                  </a:lnTo>
                  <a:cubicBezTo>
                    <a:pt x="10676001" y="0"/>
                    <a:pt x="10767440" y="90297"/>
                    <a:pt x="10767440" y="201930"/>
                  </a:cubicBezTo>
                  <a:lnTo>
                    <a:pt x="10748390" y="201930"/>
                  </a:lnTo>
                  <a:lnTo>
                    <a:pt x="10767440" y="201930"/>
                  </a:lnTo>
                  <a:lnTo>
                    <a:pt x="10767440" y="2748407"/>
                  </a:lnTo>
                  <a:lnTo>
                    <a:pt x="10748390" y="2748407"/>
                  </a:lnTo>
                  <a:lnTo>
                    <a:pt x="10767440" y="2748407"/>
                  </a:lnTo>
                  <a:cubicBezTo>
                    <a:pt x="10767440" y="2860167"/>
                    <a:pt x="10676127" y="2950337"/>
                    <a:pt x="10563733" y="2950337"/>
                  </a:cubicBezTo>
                  <a:lnTo>
                    <a:pt x="10563733" y="2931287"/>
                  </a:lnTo>
                  <a:lnTo>
                    <a:pt x="10563733" y="2950337"/>
                  </a:lnTo>
                  <a:lnTo>
                    <a:pt x="203708" y="2950337"/>
                  </a:lnTo>
                  <a:lnTo>
                    <a:pt x="203708" y="2931287"/>
                  </a:lnTo>
                  <a:lnTo>
                    <a:pt x="203708" y="2950337"/>
                  </a:lnTo>
                  <a:cubicBezTo>
                    <a:pt x="91313" y="2950337"/>
                    <a:pt x="0" y="2860167"/>
                    <a:pt x="0" y="2748407"/>
                  </a:cubicBezTo>
                  <a:lnTo>
                    <a:pt x="0" y="201930"/>
                  </a:lnTo>
                  <a:lnTo>
                    <a:pt x="19050" y="201930"/>
                  </a:lnTo>
                  <a:lnTo>
                    <a:pt x="0" y="201930"/>
                  </a:lnTo>
                  <a:moveTo>
                    <a:pt x="38100" y="201930"/>
                  </a:moveTo>
                  <a:lnTo>
                    <a:pt x="38100" y="2748407"/>
                  </a:lnTo>
                  <a:lnTo>
                    <a:pt x="19050" y="2748407"/>
                  </a:lnTo>
                  <a:lnTo>
                    <a:pt x="38100" y="2748407"/>
                  </a:lnTo>
                  <a:cubicBezTo>
                    <a:pt x="38100" y="2838704"/>
                    <a:pt x="112014" y="2912237"/>
                    <a:pt x="203708" y="2912237"/>
                  </a:cubicBezTo>
                  <a:lnTo>
                    <a:pt x="10563733" y="2912237"/>
                  </a:lnTo>
                  <a:cubicBezTo>
                    <a:pt x="10655300" y="2912237"/>
                    <a:pt x="10729340" y="2838704"/>
                    <a:pt x="10729340" y="2748407"/>
                  </a:cubicBezTo>
                  <a:lnTo>
                    <a:pt x="10729340" y="201930"/>
                  </a:lnTo>
                  <a:cubicBezTo>
                    <a:pt x="10729341" y="111633"/>
                    <a:pt x="10655300" y="38100"/>
                    <a:pt x="10563733" y="38100"/>
                  </a:cubicBezTo>
                  <a:lnTo>
                    <a:pt x="203708" y="38100"/>
                  </a:lnTo>
                  <a:lnTo>
                    <a:pt x="203708" y="19050"/>
                  </a:lnTo>
                  <a:lnTo>
                    <a:pt x="203708" y="38100"/>
                  </a:lnTo>
                  <a:cubicBezTo>
                    <a:pt x="112014" y="38100"/>
                    <a:pt x="38100" y="111633"/>
                    <a:pt x="38100" y="201930"/>
                  </a:cubicBezTo>
                  <a:close/>
                </a:path>
              </a:pathLst>
            </a:custGeom>
            <a:solidFill>
              <a:srgbClr val="B8BFDF"/>
            </a:solidFill>
          </p:spPr>
        </p:sp>
      </p:grpSp>
      <p:grpSp>
        <p:nvGrpSpPr>
          <p:cNvPr name="Group 35" id="35"/>
          <p:cNvGrpSpPr/>
          <p:nvPr/>
        </p:nvGrpSpPr>
        <p:grpSpPr>
          <a:xfrm rot="0">
            <a:off x="976760" y="5767683"/>
            <a:ext cx="8046987" cy="114300"/>
            <a:chOff x="0" y="0"/>
            <a:chExt cx="10729316" cy="152400"/>
          </a:xfrm>
        </p:grpSpPr>
        <p:sp>
          <p:nvSpPr>
            <p:cNvPr name="Freeform 36" id="36"/>
            <p:cNvSpPr/>
            <p:nvPr/>
          </p:nvSpPr>
          <p:spPr>
            <a:xfrm flipH="false" flipV="false" rot="0">
              <a:off x="0" y="0"/>
              <a:ext cx="10729341" cy="152400"/>
            </a:xfrm>
            <a:custGeom>
              <a:avLst/>
              <a:gdLst/>
              <a:ahLst/>
              <a:cxnLst/>
              <a:rect r="r" b="b" t="t" l="l"/>
              <a:pathLst>
                <a:path h="152400" w="10729341">
                  <a:moveTo>
                    <a:pt x="0" y="76200"/>
                  </a:moveTo>
                  <a:cubicBezTo>
                    <a:pt x="0" y="34163"/>
                    <a:pt x="34163" y="0"/>
                    <a:pt x="76200" y="0"/>
                  </a:cubicBezTo>
                  <a:lnTo>
                    <a:pt x="10653141" y="0"/>
                  </a:lnTo>
                  <a:cubicBezTo>
                    <a:pt x="10695178" y="0"/>
                    <a:pt x="10729341" y="34163"/>
                    <a:pt x="10729341" y="76200"/>
                  </a:cubicBezTo>
                  <a:cubicBezTo>
                    <a:pt x="10729341" y="118237"/>
                    <a:pt x="10695178" y="152400"/>
                    <a:pt x="10653141" y="152400"/>
                  </a:cubicBezTo>
                  <a:lnTo>
                    <a:pt x="76200" y="152400"/>
                  </a:lnTo>
                  <a:cubicBezTo>
                    <a:pt x="34163" y="152400"/>
                    <a:pt x="0" y="118237"/>
                    <a:pt x="0" y="76200"/>
                  </a:cubicBezTo>
                  <a:close/>
                </a:path>
              </a:pathLst>
            </a:custGeom>
            <a:solidFill>
              <a:srgbClr val="4967E9"/>
            </a:solidFill>
          </p:spPr>
        </p:sp>
      </p:grpSp>
      <p:grpSp>
        <p:nvGrpSpPr>
          <p:cNvPr name="Group 37" id="37"/>
          <p:cNvGrpSpPr/>
          <p:nvPr/>
        </p:nvGrpSpPr>
        <p:grpSpPr>
          <a:xfrm rot="0">
            <a:off x="4633912" y="5429993"/>
            <a:ext cx="732530" cy="732530"/>
            <a:chOff x="0" y="0"/>
            <a:chExt cx="976706" cy="976706"/>
          </a:xfrm>
        </p:grpSpPr>
        <p:sp>
          <p:nvSpPr>
            <p:cNvPr name="Freeform 38" id="38"/>
            <p:cNvSpPr/>
            <p:nvPr/>
          </p:nvSpPr>
          <p:spPr>
            <a:xfrm flipH="false" flipV="false" rot="0">
              <a:off x="0" y="0"/>
              <a:ext cx="976757" cy="976757"/>
            </a:xfrm>
            <a:custGeom>
              <a:avLst/>
              <a:gdLst/>
              <a:ahLst/>
              <a:cxnLst/>
              <a:rect r="r" b="b" t="t" l="l"/>
              <a:pathLst>
                <a:path h="976757" w="976757">
                  <a:moveTo>
                    <a:pt x="0" y="488315"/>
                  </a:moveTo>
                  <a:cubicBezTo>
                    <a:pt x="0" y="218694"/>
                    <a:pt x="218694" y="0"/>
                    <a:pt x="488315" y="0"/>
                  </a:cubicBezTo>
                  <a:cubicBezTo>
                    <a:pt x="757936" y="0"/>
                    <a:pt x="976757" y="218694"/>
                    <a:pt x="976757" y="488315"/>
                  </a:cubicBezTo>
                  <a:cubicBezTo>
                    <a:pt x="976757" y="757936"/>
                    <a:pt x="758063" y="976757"/>
                    <a:pt x="488315" y="976757"/>
                  </a:cubicBezTo>
                  <a:cubicBezTo>
                    <a:pt x="218567" y="976757"/>
                    <a:pt x="0" y="758063"/>
                    <a:pt x="0" y="488315"/>
                  </a:cubicBezTo>
                  <a:close/>
                </a:path>
              </a:pathLst>
            </a:custGeom>
            <a:solidFill>
              <a:srgbClr val="4967E9"/>
            </a:solidFill>
          </p:spPr>
        </p:sp>
      </p:grpSp>
      <p:grpSp>
        <p:nvGrpSpPr>
          <p:cNvPr name="Group 39" id="39"/>
          <p:cNvGrpSpPr/>
          <p:nvPr/>
        </p:nvGrpSpPr>
        <p:grpSpPr>
          <a:xfrm rot="0">
            <a:off x="4853578" y="5613054"/>
            <a:ext cx="293046" cy="366265"/>
            <a:chOff x="0" y="0"/>
            <a:chExt cx="390728" cy="488353"/>
          </a:xfrm>
        </p:grpSpPr>
        <p:sp>
          <p:nvSpPr>
            <p:cNvPr name="Freeform 40" id="40"/>
            <p:cNvSpPr/>
            <p:nvPr/>
          </p:nvSpPr>
          <p:spPr>
            <a:xfrm flipH="false" flipV="false" rot="0">
              <a:off x="0" y="0"/>
              <a:ext cx="390723" cy="488355"/>
            </a:xfrm>
            <a:custGeom>
              <a:avLst/>
              <a:gdLst/>
              <a:ahLst/>
              <a:cxnLst/>
              <a:rect r="r" b="b" t="t" l="l"/>
              <a:pathLst>
                <a:path h="488355" w="390723">
                  <a:moveTo>
                    <a:pt x="0" y="0"/>
                  </a:moveTo>
                  <a:lnTo>
                    <a:pt x="390723" y="0"/>
                  </a:lnTo>
                  <a:lnTo>
                    <a:pt x="390723" y="488355"/>
                  </a:lnTo>
                  <a:lnTo>
                    <a:pt x="0" y="488355"/>
                  </a:lnTo>
                  <a:close/>
                </a:path>
              </a:pathLst>
            </a:custGeom>
            <a:blipFill>
              <a:blip r:embed="rId4">
                <a:alphaModFix amt="0"/>
              </a:blip>
              <a:stretch>
                <a:fillRect l="-110362" t="0" r="-110363" b="0"/>
              </a:stretch>
            </a:blipFill>
          </p:spPr>
        </p:sp>
        <p:sp>
          <p:nvSpPr>
            <p:cNvPr name="TextBox 41" id="41"/>
            <p:cNvSpPr txBox="true"/>
            <p:nvPr/>
          </p:nvSpPr>
          <p:spPr>
            <a:xfrm>
              <a:off x="0" y="-9525"/>
              <a:ext cx="390728" cy="497878"/>
            </a:xfrm>
            <a:prstGeom prst="rect">
              <a:avLst/>
            </a:prstGeom>
          </p:spPr>
          <p:txBody>
            <a:bodyPr anchor="ctr" rtlCol="false" tIns="0" lIns="0" bIns="0" rIns="0"/>
            <a:lstStyle/>
            <a:p>
              <a:pPr algn="ctr">
                <a:lnSpc>
                  <a:spcPts val="2760"/>
                </a:lnSpc>
              </a:pPr>
              <a:r>
                <a:rPr lang="en-US" sz="2300">
                  <a:solidFill>
                    <a:srgbClr val="FFFFFF"/>
                  </a:solidFill>
                  <a:latin typeface="Corben"/>
                  <a:ea typeface="Corben"/>
                  <a:cs typeface="Corben"/>
                  <a:sym typeface="Corben"/>
                </a:rPr>
                <a:t>3</a:t>
              </a:r>
            </a:p>
          </p:txBody>
        </p:sp>
      </p:grpSp>
      <p:sp>
        <p:nvSpPr>
          <p:cNvPr name="TextBox 42" id="42"/>
          <p:cNvSpPr txBox="true"/>
          <p:nvPr/>
        </p:nvSpPr>
        <p:spPr>
          <a:xfrm rot="0">
            <a:off x="1249413" y="6397228"/>
            <a:ext cx="3052610" cy="390973"/>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Two Users Approve</a:t>
            </a:r>
          </a:p>
        </p:txBody>
      </p:sp>
      <p:sp>
        <p:nvSpPr>
          <p:cNvPr name="TextBox 43" id="43"/>
          <p:cNvSpPr txBox="true"/>
          <p:nvPr/>
        </p:nvSpPr>
        <p:spPr>
          <a:xfrm rot="0">
            <a:off x="1249413" y="6846684"/>
            <a:ext cx="7501680" cy="861117"/>
          </a:xfrm>
          <a:prstGeom prst="rect">
            <a:avLst/>
          </a:prstGeom>
        </p:spPr>
        <p:txBody>
          <a:bodyPr anchor="t" rtlCol="false" tIns="0" lIns="0" bIns="0" rIns="0">
            <a:spAutoFit/>
          </a:bodyPr>
          <a:lstStyle/>
          <a:p>
            <a:pPr algn="l">
              <a:lnSpc>
                <a:spcPts val="3000"/>
              </a:lnSpc>
            </a:pPr>
            <a:r>
              <a:rPr lang="en-US" sz="1900">
                <a:solidFill>
                  <a:srgbClr val="404155"/>
                </a:solidFill>
                <a:latin typeface="Arimo"/>
                <a:ea typeface="Arimo"/>
                <a:cs typeface="Arimo"/>
                <a:sym typeface="Arimo"/>
              </a:rPr>
              <a:t>Two separate authorized users (neither sender nor receiver) approve the message.</a:t>
            </a:r>
          </a:p>
        </p:txBody>
      </p:sp>
      <p:grpSp>
        <p:nvGrpSpPr>
          <p:cNvPr name="Group 44" id="44"/>
          <p:cNvGrpSpPr/>
          <p:nvPr/>
        </p:nvGrpSpPr>
        <p:grpSpPr>
          <a:xfrm rot="0">
            <a:off x="9249813" y="5781970"/>
            <a:ext cx="8075714" cy="2212781"/>
            <a:chOff x="0" y="0"/>
            <a:chExt cx="10767619" cy="2950375"/>
          </a:xfrm>
        </p:grpSpPr>
        <p:sp>
          <p:nvSpPr>
            <p:cNvPr name="Freeform 45" id="45"/>
            <p:cNvSpPr/>
            <p:nvPr/>
          </p:nvSpPr>
          <p:spPr>
            <a:xfrm flipH="false" flipV="false" rot="0">
              <a:off x="19050" y="19050"/>
              <a:ext cx="10729595" cy="2912237"/>
            </a:xfrm>
            <a:custGeom>
              <a:avLst/>
              <a:gdLst/>
              <a:ahLst/>
              <a:cxnLst/>
              <a:rect r="r" b="b" t="t" l="l"/>
              <a:pathLst>
                <a:path h="2912237" w="10729595">
                  <a:moveTo>
                    <a:pt x="0" y="182880"/>
                  </a:moveTo>
                  <a:cubicBezTo>
                    <a:pt x="0" y="81915"/>
                    <a:pt x="82677" y="0"/>
                    <a:pt x="184658" y="0"/>
                  </a:cubicBezTo>
                  <a:lnTo>
                    <a:pt x="10544937" y="0"/>
                  </a:lnTo>
                  <a:cubicBezTo>
                    <a:pt x="10646918" y="0"/>
                    <a:pt x="10729595" y="81915"/>
                    <a:pt x="10729595" y="182880"/>
                  </a:cubicBezTo>
                  <a:lnTo>
                    <a:pt x="10729595" y="2729357"/>
                  </a:lnTo>
                  <a:cubicBezTo>
                    <a:pt x="10729595" y="2830322"/>
                    <a:pt x="10646918" y="2912237"/>
                    <a:pt x="10544937" y="2912237"/>
                  </a:cubicBezTo>
                  <a:lnTo>
                    <a:pt x="184658" y="2912237"/>
                  </a:lnTo>
                  <a:cubicBezTo>
                    <a:pt x="82677" y="2912237"/>
                    <a:pt x="0" y="2830322"/>
                    <a:pt x="0" y="2729357"/>
                  </a:cubicBezTo>
                  <a:close/>
                </a:path>
              </a:pathLst>
            </a:custGeom>
            <a:solidFill>
              <a:srgbClr val="F9F9FF">
                <a:alpha val="90196"/>
              </a:srgbClr>
            </a:solidFill>
          </p:spPr>
        </p:sp>
        <p:sp>
          <p:nvSpPr>
            <p:cNvPr name="Freeform 46" id="46"/>
            <p:cNvSpPr/>
            <p:nvPr/>
          </p:nvSpPr>
          <p:spPr>
            <a:xfrm flipH="false" flipV="false" rot="0">
              <a:off x="0" y="0"/>
              <a:ext cx="10767695" cy="2950337"/>
            </a:xfrm>
            <a:custGeom>
              <a:avLst/>
              <a:gdLst/>
              <a:ahLst/>
              <a:cxnLst/>
              <a:rect r="r" b="b" t="t" l="l"/>
              <a:pathLst>
                <a:path h="2950337" w="10767695">
                  <a:moveTo>
                    <a:pt x="0" y="201930"/>
                  </a:moveTo>
                  <a:cubicBezTo>
                    <a:pt x="0" y="90297"/>
                    <a:pt x="91313" y="0"/>
                    <a:pt x="203708" y="0"/>
                  </a:cubicBezTo>
                  <a:lnTo>
                    <a:pt x="10563987" y="0"/>
                  </a:lnTo>
                  <a:lnTo>
                    <a:pt x="10563987" y="19050"/>
                  </a:lnTo>
                  <a:lnTo>
                    <a:pt x="10563987" y="0"/>
                  </a:lnTo>
                  <a:cubicBezTo>
                    <a:pt x="10676255" y="0"/>
                    <a:pt x="10767695" y="90297"/>
                    <a:pt x="10767695" y="201930"/>
                  </a:cubicBezTo>
                  <a:lnTo>
                    <a:pt x="10748645" y="201930"/>
                  </a:lnTo>
                  <a:lnTo>
                    <a:pt x="10767695" y="201930"/>
                  </a:lnTo>
                  <a:lnTo>
                    <a:pt x="10767695" y="2748407"/>
                  </a:lnTo>
                  <a:lnTo>
                    <a:pt x="10748645" y="2748407"/>
                  </a:lnTo>
                  <a:lnTo>
                    <a:pt x="10767695" y="2748407"/>
                  </a:lnTo>
                  <a:cubicBezTo>
                    <a:pt x="10767695" y="2860167"/>
                    <a:pt x="10676382" y="2950337"/>
                    <a:pt x="10563987" y="2950337"/>
                  </a:cubicBezTo>
                  <a:lnTo>
                    <a:pt x="10563987" y="2931287"/>
                  </a:lnTo>
                  <a:lnTo>
                    <a:pt x="10563987" y="2950337"/>
                  </a:lnTo>
                  <a:lnTo>
                    <a:pt x="203708" y="2950337"/>
                  </a:lnTo>
                  <a:lnTo>
                    <a:pt x="203708" y="2931287"/>
                  </a:lnTo>
                  <a:lnTo>
                    <a:pt x="203708" y="2950337"/>
                  </a:lnTo>
                  <a:cubicBezTo>
                    <a:pt x="91313" y="2950337"/>
                    <a:pt x="0" y="2860167"/>
                    <a:pt x="0" y="2748407"/>
                  </a:cubicBezTo>
                  <a:lnTo>
                    <a:pt x="0" y="201930"/>
                  </a:lnTo>
                  <a:lnTo>
                    <a:pt x="19050" y="201930"/>
                  </a:lnTo>
                  <a:lnTo>
                    <a:pt x="0" y="201930"/>
                  </a:lnTo>
                  <a:moveTo>
                    <a:pt x="38100" y="201930"/>
                  </a:moveTo>
                  <a:lnTo>
                    <a:pt x="38100" y="2748407"/>
                  </a:lnTo>
                  <a:lnTo>
                    <a:pt x="19050" y="2748407"/>
                  </a:lnTo>
                  <a:lnTo>
                    <a:pt x="38100" y="2748407"/>
                  </a:lnTo>
                  <a:cubicBezTo>
                    <a:pt x="38100" y="2838704"/>
                    <a:pt x="112014" y="2912237"/>
                    <a:pt x="203708" y="2912237"/>
                  </a:cubicBezTo>
                  <a:lnTo>
                    <a:pt x="10563987" y="2912237"/>
                  </a:lnTo>
                  <a:cubicBezTo>
                    <a:pt x="10655554" y="2912237"/>
                    <a:pt x="10729595" y="2838704"/>
                    <a:pt x="10729595" y="2748407"/>
                  </a:cubicBezTo>
                  <a:lnTo>
                    <a:pt x="10729595" y="201930"/>
                  </a:lnTo>
                  <a:cubicBezTo>
                    <a:pt x="10729595" y="111633"/>
                    <a:pt x="10655681" y="38100"/>
                    <a:pt x="10563987" y="38100"/>
                  </a:cubicBezTo>
                  <a:lnTo>
                    <a:pt x="203708" y="38100"/>
                  </a:lnTo>
                  <a:lnTo>
                    <a:pt x="203708" y="19050"/>
                  </a:lnTo>
                  <a:lnTo>
                    <a:pt x="203708" y="38100"/>
                  </a:lnTo>
                  <a:cubicBezTo>
                    <a:pt x="112014" y="38100"/>
                    <a:pt x="38100" y="111633"/>
                    <a:pt x="38100" y="201930"/>
                  </a:cubicBezTo>
                  <a:close/>
                </a:path>
              </a:pathLst>
            </a:custGeom>
            <a:solidFill>
              <a:srgbClr val="B8BFDF"/>
            </a:solidFill>
          </p:spPr>
        </p:sp>
      </p:grpSp>
      <p:grpSp>
        <p:nvGrpSpPr>
          <p:cNvPr name="Group 47" id="47"/>
          <p:cNvGrpSpPr/>
          <p:nvPr/>
        </p:nvGrpSpPr>
        <p:grpSpPr>
          <a:xfrm rot="0">
            <a:off x="9264101" y="5767683"/>
            <a:ext cx="8047139" cy="114300"/>
            <a:chOff x="0" y="0"/>
            <a:chExt cx="10729519" cy="152400"/>
          </a:xfrm>
        </p:grpSpPr>
        <p:sp>
          <p:nvSpPr>
            <p:cNvPr name="Freeform 48" id="48"/>
            <p:cNvSpPr/>
            <p:nvPr/>
          </p:nvSpPr>
          <p:spPr>
            <a:xfrm flipH="false" flipV="false" rot="0">
              <a:off x="0" y="0"/>
              <a:ext cx="10729468" cy="152400"/>
            </a:xfrm>
            <a:custGeom>
              <a:avLst/>
              <a:gdLst/>
              <a:ahLst/>
              <a:cxnLst/>
              <a:rect r="r" b="b" t="t" l="l"/>
              <a:pathLst>
                <a:path h="152400" w="10729468">
                  <a:moveTo>
                    <a:pt x="0" y="76200"/>
                  </a:moveTo>
                  <a:cubicBezTo>
                    <a:pt x="0" y="34163"/>
                    <a:pt x="34163" y="0"/>
                    <a:pt x="76200" y="0"/>
                  </a:cubicBezTo>
                  <a:lnTo>
                    <a:pt x="10653268" y="0"/>
                  </a:lnTo>
                  <a:cubicBezTo>
                    <a:pt x="10695305" y="0"/>
                    <a:pt x="10729468" y="34163"/>
                    <a:pt x="10729468" y="76200"/>
                  </a:cubicBezTo>
                  <a:cubicBezTo>
                    <a:pt x="10729468" y="118237"/>
                    <a:pt x="10695305" y="152400"/>
                    <a:pt x="10653268" y="152400"/>
                  </a:cubicBezTo>
                  <a:lnTo>
                    <a:pt x="76200" y="152400"/>
                  </a:lnTo>
                  <a:cubicBezTo>
                    <a:pt x="34163" y="152400"/>
                    <a:pt x="0" y="118237"/>
                    <a:pt x="0" y="76200"/>
                  </a:cubicBezTo>
                  <a:close/>
                </a:path>
              </a:pathLst>
            </a:custGeom>
            <a:solidFill>
              <a:srgbClr val="4967E9"/>
            </a:solidFill>
          </p:spPr>
        </p:sp>
      </p:grpSp>
      <p:grpSp>
        <p:nvGrpSpPr>
          <p:cNvPr name="Group 49" id="49"/>
          <p:cNvGrpSpPr/>
          <p:nvPr/>
        </p:nvGrpSpPr>
        <p:grpSpPr>
          <a:xfrm rot="0">
            <a:off x="12921405" y="5429993"/>
            <a:ext cx="732530" cy="732530"/>
            <a:chOff x="0" y="0"/>
            <a:chExt cx="976706" cy="976706"/>
          </a:xfrm>
        </p:grpSpPr>
        <p:sp>
          <p:nvSpPr>
            <p:cNvPr name="Freeform 50" id="50"/>
            <p:cNvSpPr/>
            <p:nvPr/>
          </p:nvSpPr>
          <p:spPr>
            <a:xfrm flipH="false" flipV="false" rot="0">
              <a:off x="0" y="0"/>
              <a:ext cx="976757" cy="976757"/>
            </a:xfrm>
            <a:custGeom>
              <a:avLst/>
              <a:gdLst/>
              <a:ahLst/>
              <a:cxnLst/>
              <a:rect r="r" b="b" t="t" l="l"/>
              <a:pathLst>
                <a:path h="976757" w="976757">
                  <a:moveTo>
                    <a:pt x="0" y="488315"/>
                  </a:moveTo>
                  <a:cubicBezTo>
                    <a:pt x="0" y="218694"/>
                    <a:pt x="218694" y="0"/>
                    <a:pt x="488315" y="0"/>
                  </a:cubicBezTo>
                  <a:cubicBezTo>
                    <a:pt x="757936" y="0"/>
                    <a:pt x="976757" y="218694"/>
                    <a:pt x="976757" y="488315"/>
                  </a:cubicBezTo>
                  <a:cubicBezTo>
                    <a:pt x="976757" y="757936"/>
                    <a:pt x="758063" y="976757"/>
                    <a:pt x="488315" y="976757"/>
                  </a:cubicBezTo>
                  <a:cubicBezTo>
                    <a:pt x="218567" y="976757"/>
                    <a:pt x="0" y="758063"/>
                    <a:pt x="0" y="488315"/>
                  </a:cubicBezTo>
                  <a:close/>
                </a:path>
              </a:pathLst>
            </a:custGeom>
            <a:solidFill>
              <a:srgbClr val="4967E9"/>
            </a:solidFill>
          </p:spPr>
        </p:sp>
      </p:grpSp>
      <p:grpSp>
        <p:nvGrpSpPr>
          <p:cNvPr name="Group 51" id="51"/>
          <p:cNvGrpSpPr/>
          <p:nvPr/>
        </p:nvGrpSpPr>
        <p:grpSpPr>
          <a:xfrm rot="0">
            <a:off x="13141081" y="5613054"/>
            <a:ext cx="293046" cy="366265"/>
            <a:chOff x="0" y="0"/>
            <a:chExt cx="390728" cy="488353"/>
          </a:xfrm>
        </p:grpSpPr>
        <p:sp>
          <p:nvSpPr>
            <p:cNvPr name="Freeform 52" id="52"/>
            <p:cNvSpPr/>
            <p:nvPr/>
          </p:nvSpPr>
          <p:spPr>
            <a:xfrm flipH="false" flipV="false" rot="0">
              <a:off x="0" y="0"/>
              <a:ext cx="390723" cy="488355"/>
            </a:xfrm>
            <a:custGeom>
              <a:avLst/>
              <a:gdLst/>
              <a:ahLst/>
              <a:cxnLst/>
              <a:rect r="r" b="b" t="t" l="l"/>
              <a:pathLst>
                <a:path h="488355" w="390723">
                  <a:moveTo>
                    <a:pt x="0" y="0"/>
                  </a:moveTo>
                  <a:lnTo>
                    <a:pt x="390723" y="0"/>
                  </a:lnTo>
                  <a:lnTo>
                    <a:pt x="390723" y="488355"/>
                  </a:lnTo>
                  <a:lnTo>
                    <a:pt x="0" y="488355"/>
                  </a:lnTo>
                  <a:close/>
                </a:path>
              </a:pathLst>
            </a:custGeom>
            <a:blipFill>
              <a:blip r:embed="rId4">
                <a:alphaModFix amt="0"/>
              </a:blip>
              <a:stretch>
                <a:fillRect l="-110362" t="0" r="-110363" b="0"/>
              </a:stretch>
            </a:blipFill>
          </p:spPr>
        </p:sp>
        <p:sp>
          <p:nvSpPr>
            <p:cNvPr name="TextBox 53" id="53"/>
            <p:cNvSpPr txBox="true"/>
            <p:nvPr/>
          </p:nvSpPr>
          <p:spPr>
            <a:xfrm>
              <a:off x="0" y="-9525"/>
              <a:ext cx="390728" cy="497878"/>
            </a:xfrm>
            <a:prstGeom prst="rect">
              <a:avLst/>
            </a:prstGeom>
          </p:spPr>
          <p:txBody>
            <a:bodyPr anchor="ctr" rtlCol="false" tIns="0" lIns="0" bIns="0" rIns="0"/>
            <a:lstStyle/>
            <a:p>
              <a:pPr algn="ctr">
                <a:lnSpc>
                  <a:spcPts val="2760"/>
                </a:lnSpc>
              </a:pPr>
              <a:r>
                <a:rPr lang="en-US" sz="2300">
                  <a:solidFill>
                    <a:srgbClr val="FFFFFF"/>
                  </a:solidFill>
                  <a:latin typeface="Corben"/>
                  <a:ea typeface="Corben"/>
                  <a:cs typeface="Corben"/>
                  <a:sym typeface="Corben"/>
                </a:rPr>
                <a:t>4</a:t>
              </a:r>
            </a:p>
          </p:txBody>
        </p:sp>
      </p:grpSp>
      <p:sp>
        <p:nvSpPr>
          <p:cNvPr name="TextBox 54" id="54"/>
          <p:cNvSpPr txBox="true"/>
          <p:nvPr/>
        </p:nvSpPr>
        <p:spPr>
          <a:xfrm rot="0">
            <a:off x="9536754" y="6397228"/>
            <a:ext cx="3052610" cy="390973"/>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File Unlocked</a:t>
            </a:r>
          </a:p>
        </p:txBody>
      </p:sp>
      <p:sp>
        <p:nvSpPr>
          <p:cNvPr name="TextBox 55" id="55"/>
          <p:cNvSpPr txBox="true"/>
          <p:nvPr/>
        </p:nvSpPr>
        <p:spPr>
          <a:xfrm rot="0">
            <a:off x="9536754" y="6846684"/>
            <a:ext cx="7501833" cy="861117"/>
          </a:xfrm>
          <a:prstGeom prst="rect">
            <a:avLst/>
          </a:prstGeom>
        </p:spPr>
        <p:txBody>
          <a:bodyPr anchor="t" rtlCol="false" tIns="0" lIns="0" bIns="0" rIns="0">
            <a:spAutoFit/>
          </a:bodyPr>
          <a:lstStyle/>
          <a:p>
            <a:pPr algn="l">
              <a:lnSpc>
                <a:spcPts val="3000"/>
              </a:lnSpc>
            </a:pPr>
            <a:r>
              <a:rPr lang="en-US" sz="1900">
                <a:solidFill>
                  <a:srgbClr val="404155"/>
                </a:solidFill>
                <a:latin typeface="Arimo"/>
                <a:ea typeface="Arimo"/>
                <a:cs typeface="Arimo"/>
                <a:sym typeface="Arimo"/>
              </a:rPr>
              <a:t>System marks file as approved; receiver gains access to the decrypted file.</a:t>
            </a:r>
          </a:p>
        </p:txBody>
      </p:sp>
      <p:grpSp>
        <p:nvGrpSpPr>
          <p:cNvPr name="Group 56" id="56"/>
          <p:cNvGrpSpPr/>
          <p:nvPr/>
        </p:nvGrpSpPr>
        <p:grpSpPr>
          <a:xfrm rot="0">
            <a:off x="971998" y="8246116"/>
            <a:ext cx="3912841" cy="1308202"/>
            <a:chOff x="0" y="0"/>
            <a:chExt cx="5217122" cy="1744269"/>
          </a:xfrm>
        </p:grpSpPr>
        <p:sp>
          <p:nvSpPr>
            <p:cNvPr name="Freeform 57" id="57"/>
            <p:cNvSpPr/>
            <p:nvPr/>
          </p:nvSpPr>
          <p:spPr>
            <a:xfrm flipH="false" flipV="false" rot="0">
              <a:off x="6350" y="6350"/>
              <a:ext cx="5204460" cy="1731645"/>
            </a:xfrm>
            <a:custGeom>
              <a:avLst/>
              <a:gdLst/>
              <a:ahLst/>
              <a:cxnLst/>
              <a:rect r="r" b="b" t="t" l="l"/>
              <a:pathLst>
                <a:path h="1731645" w="5204460">
                  <a:moveTo>
                    <a:pt x="0" y="136779"/>
                  </a:moveTo>
                  <a:cubicBezTo>
                    <a:pt x="0" y="61214"/>
                    <a:pt x="61468" y="0"/>
                    <a:pt x="137414" y="0"/>
                  </a:cubicBezTo>
                  <a:lnTo>
                    <a:pt x="5067046" y="0"/>
                  </a:lnTo>
                  <a:cubicBezTo>
                    <a:pt x="5142992" y="0"/>
                    <a:pt x="5204460" y="61214"/>
                    <a:pt x="5204460" y="136779"/>
                  </a:cubicBezTo>
                  <a:lnTo>
                    <a:pt x="5204460" y="1594866"/>
                  </a:lnTo>
                  <a:cubicBezTo>
                    <a:pt x="5204460" y="1670431"/>
                    <a:pt x="5142992" y="1731645"/>
                    <a:pt x="5067046" y="1731645"/>
                  </a:cubicBezTo>
                  <a:lnTo>
                    <a:pt x="137414" y="1731645"/>
                  </a:lnTo>
                  <a:cubicBezTo>
                    <a:pt x="61468" y="1731518"/>
                    <a:pt x="0" y="1670304"/>
                    <a:pt x="0" y="1594866"/>
                  </a:cubicBezTo>
                  <a:close/>
                </a:path>
              </a:pathLst>
            </a:custGeom>
            <a:solidFill>
              <a:srgbClr val="D2D9F9"/>
            </a:solidFill>
          </p:spPr>
        </p:sp>
        <p:sp>
          <p:nvSpPr>
            <p:cNvPr name="Freeform 58" id="58"/>
            <p:cNvSpPr/>
            <p:nvPr/>
          </p:nvSpPr>
          <p:spPr>
            <a:xfrm flipH="false" flipV="false" rot="0">
              <a:off x="0" y="0"/>
              <a:ext cx="5217160" cy="1744345"/>
            </a:xfrm>
            <a:custGeom>
              <a:avLst/>
              <a:gdLst/>
              <a:ahLst/>
              <a:cxnLst/>
              <a:rect r="r" b="b" t="t" l="l"/>
              <a:pathLst>
                <a:path h="1744345" w="5217160">
                  <a:moveTo>
                    <a:pt x="0" y="143129"/>
                  </a:moveTo>
                  <a:cubicBezTo>
                    <a:pt x="0" y="64008"/>
                    <a:pt x="64389" y="0"/>
                    <a:pt x="143764" y="0"/>
                  </a:cubicBezTo>
                  <a:lnTo>
                    <a:pt x="5073396" y="0"/>
                  </a:lnTo>
                  <a:lnTo>
                    <a:pt x="5073396" y="6350"/>
                  </a:lnTo>
                  <a:lnTo>
                    <a:pt x="5073396" y="0"/>
                  </a:lnTo>
                  <a:cubicBezTo>
                    <a:pt x="5152771" y="0"/>
                    <a:pt x="5217160" y="64008"/>
                    <a:pt x="5217160" y="143129"/>
                  </a:cubicBezTo>
                  <a:lnTo>
                    <a:pt x="5210810" y="143129"/>
                  </a:lnTo>
                  <a:lnTo>
                    <a:pt x="5217160" y="143129"/>
                  </a:lnTo>
                  <a:lnTo>
                    <a:pt x="5217160" y="1601216"/>
                  </a:lnTo>
                  <a:lnTo>
                    <a:pt x="5210810" y="1601216"/>
                  </a:lnTo>
                  <a:lnTo>
                    <a:pt x="5217160" y="1601216"/>
                  </a:lnTo>
                  <a:cubicBezTo>
                    <a:pt x="5217160" y="1680337"/>
                    <a:pt x="5152771" y="1744345"/>
                    <a:pt x="5073396" y="1744345"/>
                  </a:cubicBezTo>
                  <a:lnTo>
                    <a:pt x="5073396" y="1737995"/>
                  </a:lnTo>
                  <a:lnTo>
                    <a:pt x="5073396" y="1744345"/>
                  </a:lnTo>
                  <a:lnTo>
                    <a:pt x="143764" y="1744345"/>
                  </a:lnTo>
                  <a:lnTo>
                    <a:pt x="143764" y="1737995"/>
                  </a:lnTo>
                  <a:lnTo>
                    <a:pt x="143764" y="1744345"/>
                  </a:lnTo>
                  <a:cubicBezTo>
                    <a:pt x="64389" y="1744218"/>
                    <a:pt x="0" y="1680210"/>
                    <a:pt x="0" y="1601216"/>
                  </a:cubicBezTo>
                  <a:lnTo>
                    <a:pt x="0" y="143129"/>
                  </a:lnTo>
                  <a:lnTo>
                    <a:pt x="6350" y="143129"/>
                  </a:lnTo>
                  <a:lnTo>
                    <a:pt x="0" y="143129"/>
                  </a:lnTo>
                  <a:moveTo>
                    <a:pt x="12700" y="143129"/>
                  </a:moveTo>
                  <a:lnTo>
                    <a:pt x="12700" y="1601216"/>
                  </a:lnTo>
                  <a:lnTo>
                    <a:pt x="6350" y="1601216"/>
                  </a:lnTo>
                  <a:lnTo>
                    <a:pt x="12700" y="1601216"/>
                  </a:lnTo>
                  <a:cubicBezTo>
                    <a:pt x="12700" y="1673225"/>
                    <a:pt x="71374" y="1731645"/>
                    <a:pt x="143764" y="1731645"/>
                  </a:cubicBezTo>
                  <a:lnTo>
                    <a:pt x="5073396" y="1731645"/>
                  </a:lnTo>
                  <a:cubicBezTo>
                    <a:pt x="5145786" y="1731645"/>
                    <a:pt x="5204460" y="1673225"/>
                    <a:pt x="5204460" y="1601216"/>
                  </a:cubicBezTo>
                  <a:lnTo>
                    <a:pt x="5204460" y="143129"/>
                  </a:lnTo>
                  <a:cubicBezTo>
                    <a:pt x="5204460" y="71120"/>
                    <a:pt x="5145786" y="12700"/>
                    <a:pt x="5073396" y="12700"/>
                  </a:cubicBezTo>
                  <a:lnTo>
                    <a:pt x="143764" y="12700"/>
                  </a:lnTo>
                  <a:lnTo>
                    <a:pt x="143764" y="6350"/>
                  </a:lnTo>
                  <a:lnTo>
                    <a:pt x="143764" y="12700"/>
                  </a:lnTo>
                  <a:cubicBezTo>
                    <a:pt x="71374" y="12700"/>
                    <a:pt x="12700" y="71120"/>
                    <a:pt x="12700" y="143129"/>
                  </a:cubicBezTo>
                  <a:close/>
                </a:path>
              </a:pathLst>
            </a:custGeom>
            <a:solidFill>
              <a:srgbClr val="B8BFDF"/>
            </a:solidFill>
          </p:spPr>
        </p:sp>
      </p:grpSp>
      <p:sp>
        <p:nvSpPr>
          <p:cNvPr name="TextBox 59" id="59"/>
          <p:cNvSpPr txBox="true"/>
          <p:nvPr/>
        </p:nvSpPr>
        <p:spPr>
          <a:xfrm rot="0">
            <a:off x="1230363" y="8494957"/>
            <a:ext cx="3396110" cy="800995"/>
          </a:xfrm>
          <a:prstGeom prst="rect">
            <a:avLst/>
          </a:prstGeom>
        </p:spPr>
        <p:txBody>
          <a:bodyPr anchor="t" rtlCol="false" tIns="0" lIns="0" bIns="0" rIns="0">
            <a:spAutoFit/>
          </a:bodyPr>
          <a:lstStyle/>
          <a:p>
            <a:pPr algn="l">
              <a:lnSpc>
                <a:spcPts val="3000"/>
              </a:lnSpc>
            </a:pPr>
            <a:r>
              <a:rPr lang="en-US" sz="2400">
                <a:solidFill>
                  <a:srgbClr val="000000"/>
                </a:solidFill>
                <a:latin typeface="Corben"/>
                <a:ea typeface="Corben"/>
                <a:cs typeface="Corben"/>
                <a:sym typeface="Corben"/>
              </a:rPr>
              <a:t>🚫</a:t>
            </a:r>
            <a:r>
              <a:rPr lang="en-US" sz="2400">
                <a:solidFill>
                  <a:srgbClr val="404155"/>
                </a:solidFill>
                <a:latin typeface="Corben"/>
                <a:ea typeface="Corben"/>
                <a:cs typeface="Corben"/>
                <a:sym typeface="Corben"/>
              </a:rPr>
              <a:t> Sender Cannot Self-Approve</a:t>
            </a:r>
          </a:p>
        </p:txBody>
      </p:sp>
      <p:grpSp>
        <p:nvGrpSpPr>
          <p:cNvPr name="Group 60" id="60"/>
          <p:cNvGrpSpPr/>
          <p:nvPr/>
        </p:nvGrpSpPr>
        <p:grpSpPr>
          <a:xfrm rot="0">
            <a:off x="5115668" y="8246116"/>
            <a:ext cx="3912841" cy="1308202"/>
            <a:chOff x="0" y="0"/>
            <a:chExt cx="5217122" cy="1744269"/>
          </a:xfrm>
        </p:grpSpPr>
        <p:sp>
          <p:nvSpPr>
            <p:cNvPr name="Freeform 61" id="61"/>
            <p:cNvSpPr/>
            <p:nvPr/>
          </p:nvSpPr>
          <p:spPr>
            <a:xfrm flipH="false" flipV="false" rot="0">
              <a:off x="6350" y="6350"/>
              <a:ext cx="5204460" cy="1731645"/>
            </a:xfrm>
            <a:custGeom>
              <a:avLst/>
              <a:gdLst/>
              <a:ahLst/>
              <a:cxnLst/>
              <a:rect r="r" b="b" t="t" l="l"/>
              <a:pathLst>
                <a:path h="1731645" w="5204460">
                  <a:moveTo>
                    <a:pt x="0" y="136779"/>
                  </a:moveTo>
                  <a:cubicBezTo>
                    <a:pt x="0" y="61214"/>
                    <a:pt x="61468" y="0"/>
                    <a:pt x="137414" y="0"/>
                  </a:cubicBezTo>
                  <a:lnTo>
                    <a:pt x="5067046" y="0"/>
                  </a:lnTo>
                  <a:cubicBezTo>
                    <a:pt x="5142992" y="0"/>
                    <a:pt x="5204460" y="61214"/>
                    <a:pt x="5204460" y="136779"/>
                  </a:cubicBezTo>
                  <a:lnTo>
                    <a:pt x="5204460" y="1594866"/>
                  </a:lnTo>
                  <a:cubicBezTo>
                    <a:pt x="5204460" y="1670431"/>
                    <a:pt x="5142992" y="1731645"/>
                    <a:pt x="5067046" y="1731645"/>
                  </a:cubicBezTo>
                  <a:lnTo>
                    <a:pt x="137414" y="1731645"/>
                  </a:lnTo>
                  <a:cubicBezTo>
                    <a:pt x="61468" y="1731518"/>
                    <a:pt x="0" y="1670304"/>
                    <a:pt x="0" y="1594866"/>
                  </a:cubicBezTo>
                  <a:close/>
                </a:path>
              </a:pathLst>
            </a:custGeom>
            <a:solidFill>
              <a:srgbClr val="D2D9F9"/>
            </a:solidFill>
          </p:spPr>
        </p:sp>
        <p:sp>
          <p:nvSpPr>
            <p:cNvPr name="Freeform 62" id="62"/>
            <p:cNvSpPr/>
            <p:nvPr/>
          </p:nvSpPr>
          <p:spPr>
            <a:xfrm flipH="false" flipV="false" rot="0">
              <a:off x="0" y="0"/>
              <a:ext cx="5217160" cy="1744345"/>
            </a:xfrm>
            <a:custGeom>
              <a:avLst/>
              <a:gdLst/>
              <a:ahLst/>
              <a:cxnLst/>
              <a:rect r="r" b="b" t="t" l="l"/>
              <a:pathLst>
                <a:path h="1744345" w="5217160">
                  <a:moveTo>
                    <a:pt x="0" y="143129"/>
                  </a:moveTo>
                  <a:cubicBezTo>
                    <a:pt x="0" y="64008"/>
                    <a:pt x="64389" y="0"/>
                    <a:pt x="143764" y="0"/>
                  </a:cubicBezTo>
                  <a:lnTo>
                    <a:pt x="5073396" y="0"/>
                  </a:lnTo>
                  <a:lnTo>
                    <a:pt x="5073396" y="6350"/>
                  </a:lnTo>
                  <a:lnTo>
                    <a:pt x="5073396" y="0"/>
                  </a:lnTo>
                  <a:cubicBezTo>
                    <a:pt x="5152771" y="0"/>
                    <a:pt x="5217160" y="64008"/>
                    <a:pt x="5217160" y="143129"/>
                  </a:cubicBezTo>
                  <a:lnTo>
                    <a:pt x="5210810" y="143129"/>
                  </a:lnTo>
                  <a:lnTo>
                    <a:pt x="5217160" y="143129"/>
                  </a:lnTo>
                  <a:lnTo>
                    <a:pt x="5217160" y="1601216"/>
                  </a:lnTo>
                  <a:lnTo>
                    <a:pt x="5210810" y="1601216"/>
                  </a:lnTo>
                  <a:lnTo>
                    <a:pt x="5217160" y="1601216"/>
                  </a:lnTo>
                  <a:cubicBezTo>
                    <a:pt x="5217160" y="1680337"/>
                    <a:pt x="5152771" y="1744345"/>
                    <a:pt x="5073396" y="1744345"/>
                  </a:cubicBezTo>
                  <a:lnTo>
                    <a:pt x="5073396" y="1737995"/>
                  </a:lnTo>
                  <a:lnTo>
                    <a:pt x="5073396" y="1744345"/>
                  </a:lnTo>
                  <a:lnTo>
                    <a:pt x="143764" y="1744345"/>
                  </a:lnTo>
                  <a:lnTo>
                    <a:pt x="143764" y="1737995"/>
                  </a:lnTo>
                  <a:lnTo>
                    <a:pt x="143764" y="1744345"/>
                  </a:lnTo>
                  <a:cubicBezTo>
                    <a:pt x="64389" y="1744218"/>
                    <a:pt x="0" y="1680210"/>
                    <a:pt x="0" y="1601216"/>
                  </a:cubicBezTo>
                  <a:lnTo>
                    <a:pt x="0" y="143129"/>
                  </a:lnTo>
                  <a:lnTo>
                    <a:pt x="6350" y="143129"/>
                  </a:lnTo>
                  <a:lnTo>
                    <a:pt x="0" y="143129"/>
                  </a:lnTo>
                  <a:moveTo>
                    <a:pt x="12700" y="143129"/>
                  </a:moveTo>
                  <a:lnTo>
                    <a:pt x="12700" y="1601216"/>
                  </a:lnTo>
                  <a:lnTo>
                    <a:pt x="6350" y="1601216"/>
                  </a:lnTo>
                  <a:lnTo>
                    <a:pt x="12700" y="1601216"/>
                  </a:lnTo>
                  <a:cubicBezTo>
                    <a:pt x="12700" y="1673225"/>
                    <a:pt x="71374" y="1731645"/>
                    <a:pt x="143764" y="1731645"/>
                  </a:cubicBezTo>
                  <a:lnTo>
                    <a:pt x="5073396" y="1731645"/>
                  </a:lnTo>
                  <a:cubicBezTo>
                    <a:pt x="5145786" y="1731645"/>
                    <a:pt x="5204460" y="1673225"/>
                    <a:pt x="5204460" y="1601216"/>
                  </a:cubicBezTo>
                  <a:lnTo>
                    <a:pt x="5204460" y="143129"/>
                  </a:lnTo>
                  <a:cubicBezTo>
                    <a:pt x="5204460" y="71120"/>
                    <a:pt x="5145786" y="12700"/>
                    <a:pt x="5073396" y="12700"/>
                  </a:cubicBezTo>
                  <a:lnTo>
                    <a:pt x="143764" y="12700"/>
                  </a:lnTo>
                  <a:lnTo>
                    <a:pt x="143764" y="6350"/>
                  </a:lnTo>
                  <a:lnTo>
                    <a:pt x="143764" y="12700"/>
                  </a:lnTo>
                  <a:cubicBezTo>
                    <a:pt x="71374" y="12700"/>
                    <a:pt x="12700" y="71120"/>
                    <a:pt x="12700" y="143129"/>
                  </a:cubicBezTo>
                  <a:close/>
                </a:path>
              </a:pathLst>
            </a:custGeom>
            <a:solidFill>
              <a:srgbClr val="B8BFDF"/>
            </a:solidFill>
          </p:spPr>
        </p:sp>
      </p:grpSp>
      <p:sp>
        <p:nvSpPr>
          <p:cNvPr name="TextBox 63" id="63"/>
          <p:cNvSpPr txBox="true"/>
          <p:nvPr/>
        </p:nvSpPr>
        <p:spPr>
          <a:xfrm rot="0">
            <a:off x="5374034" y="8494957"/>
            <a:ext cx="3396110" cy="800995"/>
          </a:xfrm>
          <a:prstGeom prst="rect">
            <a:avLst/>
          </a:prstGeom>
        </p:spPr>
        <p:txBody>
          <a:bodyPr anchor="t" rtlCol="false" tIns="0" lIns="0" bIns="0" rIns="0">
            <a:spAutoFit/>
          </a:bodyPr>
          <a:lstStyle/>
          <a:p>
            <a:pPr algn="l">
              <a:lnSpc>
                <a:spcPts val="3000"/>
              </a:lnSpc>
            </a:pPr>
            <a:r>
              <a:rPr lang="en-US" sz="2400">
                <a:solidFill>
                  <a:srgbClr val="000000"/>
                </a:solidFill>
                <a:latin typeface="Corben"/>
                <a:ea typeface="Corben"/>
                <a:cs typeface="Corben"/>
                <a:sym typeface="Corben"/>
              </a:rPr>
              <a:t>🚫</a:t>
            </a:r>
            <a:r>
              <a:rPr lang="en-US" sz="2400">
                <a:solidFill>
                  <a:srgbClr val="404155"/>
                </a:solidFill>
                <a:latin typeface="Corben"/>
                <a:ea typeface="Corben"/>
                <a:cs typeface="Corben"/>
                <a:sym typeface="Corben"/>
              </a:rPr>
              <a:t> Receiver Cannot Approve</a:t>
            </a:r>
          </a:p>
        </p:txBody>
      </p:sp>
      <p:grpSp>
        <p:nvGrpSpPr>
          <p:cNvPr name="Group 64" id="64"/>
          <p:cNvGrpSpPr/>
          <p:nvPr/>
        </p:nvGrpSpPr>
        <p:grpSpPr>
          <a:xfrm rot="0">
            <a:off x="9259338" y="8246116"/>
            <a:ext cx="3912841" cy="1308202"/>
            <a:chOff x="0" y="0"/>
            <a:chExt cx="5217122" cy="1744269"/>
          </a:xfrm>
        </p:grpSpPr>
        <p:sp>
          <p:nvSpPr>
            <p:cNvPr name="Freeform 65" id="65"/>
            <p:cNvSpPr/>
            <p:nvPr/>
          </p:nvSpPr>
          <p:spPr>
            <a:xfrm flipH="false" flipV="false" rot="0">
              <a:off x="6350" y="6350"/>
              <a:ext cx="5204460" cy="1731645"/>
            </a:xfrm>
            <a:custGeom>
              <a:avLst/>
              <a:gdLst/>
              <a:ahLst/>
              <a:cxnLst/>
              <a:rect r="r" b="b" t="t" l="l"/>
              <a:pathLst>
                <a:path h="1731645" w="5204460">
                  <a:moveTo>
                    <a:pt x="0" y="136779"/>
                  </a:moveTo>
                  <a:cubicBezTo>
                    <a:pt x="0" y="61214"/>
                    <a:pt x="61468" y="0"/>
                    <a:pt x="137414" y="0"/>
                  </a:cubicBezTo>
                  <a:lnTo>
                    <a:pt x="5067046" y="0"/>
                  </a:lnTo>
                  <a:cubicBezTo>
                    <a:pt x="5142992" y="0"/>
                    <a:pt x="5204460" y="61214"/>
                    <a:pt x="5204460" y="136779"/>
                  </a:cubicBezTo>
                  <a:lnTo>
                    <a:pt x="5204460" y="1594866"/>
                  </a:lnTo>
                  <a:cubicBezTo>
                    <a:pt x="5204460" y="1670431"/>
                    <a:pt x="5142992" y="1731645"/>
                    <a:pt x="5067046" y="1731645"/>
                  </a:cubicBezTo>
                  <a:lnTo>
                    <a:pt x="137414" y="1731645"/>
                  </a:lnTo>
                  <a:cubicBezTo>
                    <a:pt x="61468" y="1731518"/>
                    <a:pt x="0" y="1670304"/>
                    <a:pt x="0" y="1594866"/>
                  </a:cubicBezTo>
                  <a:close/>
                </a:path>
              </a:pathLst>
            </a:custGeom>
            <a:solidFill>
              <a:srgbClr val="D2D9F9"/>
            </a:solidFill>
          </p:spPr>
        </p:sp>
        <p:sp>
          <p:nvSpPr>
            <p:cNvPr name="Freeform 66" id="66"/>
            <p:cNvSpPr/>
            <p:nvPr/>
          </p:nvSpPr>
          <p:spPr>
            <a:xfrm flipH="false" flipV="false" rot="0">
              <a:off x="0" y="0"/>
              <a:ext cx="5217160" cy="1744345"/>
            </a:xfrm>
            <a:custGeom>
              <a:avLst/>
              <a:gdLst/>
              <a:ahLst/>
              <a:cxnLst/>
              <a:rect r="r" b="b" t="t" l="l"/>
              <a:pathLst>
                <a:path h="1744345" w="5217160">
                  <a:moveTo>
                    <a:pt x="0" y="143129"/>
                  </a:moveTo>
                  <a:cubicBezTo>
                    <a:pt x="0" y="64008"/>
                    <a:pt x="64389" y="0"/>
                    <a:pt x="143764" y="0"/>
                  </a:cubicBezTo>
                  <a:lnTo>
                    <a:pt x="5073396" y="0"/>
                  </a:lnTo>
                  <a:lnTo>
                    <a:pt x="5073396" y="6350"/>
                  </a:lnTo>
                  <a:lnTo>
                    <a:pt x="5073396" y="0"/>
                  </a:lnTo>
                  <a:cubicBezTo>
                    <a:pt x="5152771" y="0"/>
                    <a:pt x="5217160" y="64008"/>
                    <a:pt x="5217160" y="143129"/>
                  </a:cubicBezTo>
                  <a:lnTo>
                    <a:pt x="5210810" y="143129"/>
                  </a:lnTo>
                  <a:lnTo>
                    <a:pt x="5217160" y="143129"/>
                  </a:lnTo>
                  <a:lnTo>
                    <a:pt x="5217160" y="1601216"/>
                  </a:lnTo>
                  <a:lnTo>
                    <a:pt x="5210810" y="1601216"/>
                  </a:lnTo>
                  <a:lnTo>
                    <a:pt x="5217160" y="1601216"/>
                  </a:lnTo>
                  <a:cubicBezTo>
                    <a:pt x="5217160" y="1680337"/>
                    <a:pt x="5152771" y="1744345"/>
                    <a:pt x="5073396" y="1744345"/>
                  </a:cubicBezTo>
                  <a:lnTo>
                    <a:pt x="5073396" y="1737995"/>
                  </a:lnTo>
                  <a:lnTo>
                    <a:pt x="5073396" y="1744345"/>
                  </a:lnTo>
                  <a:lnTo>
                    <a:pt x="143764" y="1744345"/>
                  </a:lnTo>
                  <a:lnTo>
                    <a:pt x="143764" y="1737995"/>
                  </a:lnTo>
                  <a:lnTo>
                    <a:pt x="143764" y="1744345"/>
                  </a:lnTo>
                  <a:cubicBezTo>
                    <a:pt x="64389" y="1744218"/>
                    <a:pt x="0" y="1680210"/>
                    <a:pt x="0" y="1601216"/>
                  </a:cubicBezTo>
                  <a:lnTo>
                    <a:pt x="0" y="143129"/>
                  </a:lnTo>
                  <a:lnTo>
                    <a:pt x="6350" y="143129"/>
                  </a:lnTo>
                  <a:lnTo>
                    <a:pt x="0" y="143129"/>
                  </a:lnTo>
                  <a:moveTo>
                    <a:pt x="12700" y="143129"/>
                  </a:moveTo>
                  <a:lnTo>
                    <a:pt x="12700" y="1601216"/>
                  </a:lnTo>
                  <a:lnTo>
                    <a:pt x="6350" y="1601216"/>
                  </a:lnTo>
                  <a:lnTo>
                    <a:pt x="12700" y="1601216"/>
                  </a:lnTo>
                  <a:cubicBezTo>
                    <a:pt x="12700" y="1673225"/>
                    <a:pt x="71374" y="1731645"/>
                    <a:pt x="143764" y="1731645"/>
                  </a:cubicBezTo>
                  <a:lnTo>
                    <a:pt x="5073396" y="1731645"/>
                  </a:lnTo>
                  <a:cubicBezTo>
                    <a:pt x="5145786" y="1731645"/>
                    <a:pt x="5204460" y="1673225"/>
                    <a:pt x="5204460" y="1601216"/>
                  </a:cubicBezTo>
                  <a:lnTo>
                    <a:pt x="5204460" y="143129"/>
                  </a:lnTo>
                  <a:cubicBezTo>
                    <a:pt x="5204460" y="71120"/>
                    <a:pt x="5145786" y="12700"/>
                    <a:pt x="5073396" y="12700"/>
                  </a:cubicBezTo>
                  <a:lnTo>
                    <a:pt x="143764" y="12700"/>
                  </a:lnTo>
                  <a:lnTo>
                    <a:pt x="143764" y="6350"/>
                  </a:lnTo>
                  <a:lnTo>
                    <a:pt x="143764" y="12700"/>
                  </a:lnTo>
                  <a:cubicBezTo>
                    <a:pt x="71374" y="12700"/>
                    <a:pt x="12700" y="71120"/>
                    <a:pt x="12700" y="143129"/>
                  </a:cubicBezTo>
                  <a:close/>
                </a:path>
              </a:pathLst>
            </a:custGeom>
            <a:solidFill>
              <a:srgbClr val="B8BFDF"/>
            </a:solidFill>
          </p:spPr>
        </p:sp>
      </p:grpSp>
      <p:sp>
        <p:nvSpPr>
          <p:cNvPr name="TextBox 67" id="67"/>
          <p:cNvSpPr txBox="true"/>
          <p:nvPr/>
        </p:nvSpPr>
        <p:spPr>
          <a:xfrm rot="0">
            <a:off x="9517704" y="8494957"/>
            <a:ext cx="3396110" cy="800995"/>
          </a:xfrm>
          <a:prstGeom prst="rect">
            <a:avLst/>
          </a:prstGeom>
        </p:spPr>
        <p:txBody>
          <a:bodyPr anchor="t" rtlCol="false" tIns="0" lIns="0" bIns="0" rIns="0">
            <a:spAutoFit/>
          </a:bodyPr>
          <a:lstStyle/>
          <a:p>
            <a:pPr algn="l">
              <a:lnSpc>
                <a:spcPts val="3000"/>
              </a:lnSpc>
            </a:pPr>
            <a:r>
              <a:rPr lang="en-US" sz="2400">
                <a:solidFill>
                  <a:srgbClr val="000000"/>
                </a:solidFill>
                <a:latin typeface="Corben"/>
                <a:ea typeface="Corben"/>
                <a:cs typeface="Corben"/>
                <a:sym typeface="Corben"/>
              </a:rPr>
              <a:t>🚫</a:t>
            </a:r>
            <a:r>
              <a:rPr lang="en-US" sz="2400">
                <a:solidFill>
                  <a:srgbClr val="404155"/>
                </a:solidFill>
                <a:latin typeface="Corben"/>
                <a:ea typeface="Corben"/>
                <a:cs typeface="Corben"/>
                <a:sym typeface="Corben"/>
              </a:rPr>
              <a:t> No Duplicate Approvals</a:t>
            </a:r>
          </a:p>
        </p:txBody>
      </p:sp>
      <p:grpSp>
        <p:nvGrpSpPr>
          <p:cNvPr name="Group 68" id="68"/>
          <p:cNvGrpSpPr/>
          <p:nvPr/>
        </p:nvGrpSpPr>
        <p:grpSpPr>
          <a:xfrm rot="0">
            <a:off x="13403008" y="8246116"/>
            <a:ext cx="3912994" cy="1308202"/>
            <a:chOff x="0" y="0"/>
            <a:chExt cx="5217325" cy="1744269"/>
          </a:xfrm>
        </p:grpSpPr>
        <p:sp>
          <p:nvSpPr>
            <p:cNvPr name="Freeform 69" id="69"/>
            <p:cNvSpPr/>
            <p:nvPr/>
          </p:nvSpPr>
          <p:spPr>
            <a:xfrm flipH="false" flipV="false" rot="0">
              <a:off x="6350" y="6350"/>
              <a:ext cx="5204587" cy="1731645"/>
            </a:xfrm>
            <a:custGeom>
              <a:avLst/>
              <a:gdLst/>
              <a:ahLst/>
              <a:cxnLst/>
              <a:rect r="r" b="b" t="t" l="l"/>
              <a:pathLst>
                <a:path h="1731645" w="5204587">
                  <a:moveTo>
                    <a:pt x="0" y="136779"/>
                  </a:moveTo>
                  <a:cubicBezTo>
                    <a:pt x="0" y="61214"/>
                    <a:pt x="61468" y="0"/>
                    <a:pt x="137414" y="0"/>
                  </a:cubicBezTo>
                  <a:lnTo>
                    <a:pt x="5067173" y="0"/>
                  </a:lnTo>
                  <a:cubicBezTo>
                    <a:pt x="5143119" y="0"/>
                    <a:pt x="5204587" y="61214"/>
                    <a:pt x="5204587" y="136779"/>
                  </a:cubicBezTo>
                  <a:lnTo>
                    <a:pt x="5204587" y="1594866"/>
                  </a:lnTo>
                  <a:cubicBezTo>
                    <a:pt x="5204587" y="1670431"/>
                    <a:pt x="5143119" y="1731645"/>
                    <a:pt x="5067173" y="1731645"/>
                  </a:cubicBezTo>
                  <a:lnTo>
                    <a:pt x="137414" y="1731645"/>
                  </a:lnTo>
                  <a:cubicBezTo>
                    <a:pt x="61468" y="1731518"/>
                    <a:pt x="0" y="1670304"/>
                    <a:pt x="0" y="1594866"/>
                  </a:cubicBezTo>
                  <a:close/>
                </a:path>
              </a:pathLst>
            </a:custGeom>
            <a:solidFill>
              <a:srgbClr val="D2D9F9"/>
            </a:solidFill>
          </p:spPr>
        </p:sp>
        <p:sp>
          <p:nvSpPr>
            <p:cNvPr name="Freeform 70" id="70"/>
            <p:cNvSpPr/>
            <p:nvPr/>
          </p:nvSpPr>
          <p:spPr>
            <a:xfrm flipH="false" flipV="false" rot="0">
              <a:off x="0" y="0"/>
              <a:ext cx="5217287" cy="1744345"/>
            </a:xfrm>
            <a:custGeom>
              <a:avLst/>
              <a:gdLst/>
              <a:ahLst/>
              <a:cxnLst/>
              <a:rect r="r" b="b" t="t" l="l"/>
              <a:pathLst>
                <a:path h="1744345" w="5217287">
                  <a:moveTo>
                    <a:pt x="0" y="143129"/>
                  </a:moveTo>
                  <a:cubicBezTo>
                    <a:pt x="0" y="64008"/>
                    <a:pt x="64389" y="0"/>
                    <a:pt x="143764" y="0"/>
                  </a:cubicBezTo>
                  <a:lnTo>
                    <a:pt x="5073523" y="0"/>
                  </a:lnTo>
                  <a:lnTo>
                    <a:pt x="5073523" y="6350"/>
                  </a:lnTo>
                  <a:lnTo>
                    <a:pt x="5073523" y="0"/>
                  </a:lnTo>
                  <a:cubicBezTo>
                    <a:pt x="5152898" y="0"/>
                    <a:pt x="5217287" y="64008"/>
                    <a:pt x="5217287" y="143129"/>
                  </a:cubicBezTo>
                  <a:lnTo>
                    <a:pt x="5210937" y="143129"/>
                  </a:lnTo>
                  <a:lnTo>
                    <a:pt x="5217287" y="143129"/>
                  </a:lnTo>
                  <a:lnTo>
                    <a:pt x="5217287" y="1601216"/>
                  </a:lnTo>
                  <a:lnTo>
                    <a:pt x="5210937" y="1601216"/>
                  </a:lnTo>
                  <a:lnTo>
                    <a:pt x="5217287" y="1601216"/>
                  </a:lnTo>
                  <a:cubicBezTo>
                    <a:pt x="5217287" y="1680337"/>
                    <a:pt x="5152898" y="1744345"/>
                    <a:pt x="5073523" y="1744345"/>
                  </a:cubicBezTo>
                  <a:lnTo>
                    <a:pt x="5073523" y="1737995"/>
                  </a:lnTo>
                  <a:lnTo>
                    <a:pt x="5073523" y="1744345"/>
                  </a:lnTo>
                  <a:lnTo>
                    <a:pt x="143764" y="1744345"/>
                  </a:lnTo>
                  <a:lnTo>
                    <a:pt x="143764" y="1737995"/>
                  </a:lnTo>
                  <a:lnTo>
                    <a:pt x="143764" y="1744345"/>
                  </a:lnTo>
                  <a:cubicBezTo>
                    <a:pt x="64389" y="1744218"/>
                    <a:pt x="0" y="1680210"/>
                    <a:pt x="0" y="1601216"/>
                  </a:cubicBezTo>
                  <a:lnTo>
                    <a:pt x="0" y="143129"/>
                  </a:lnTo>
                  <a:lnTo>
                    <a:pt x="6350" y="143129"/>
                  </a:lnTo>
                  <a:lnTo>
                    <a:pt x="0" y="143129"/>
                  </a:lnTo>
                  <a:moveTo>
                    <a:pt x="12700" y="143129"/>
                  </a:moveTo>
                  <a:lnTo>
                    <a:pt x="12700" y="1601216"/>
                  </a:lnTo>
                  <a:lnTo>
                    <a:pt x="6350" y="1601216"/>
                  </a:lnTo>
                  <a:lnTo>
                    <a:pt x="12700" y="1601216"/>
                  </a:lnTo>
                  <a:cubicBezTo>
                    <a:pt x="12700" y="1673225"/>
                    <a:pt x="71374" y="1731645"/>
                    <a:pt x="143764" y="1731645"/>
                  </a:cubicBezTo>
                  <a:lnTo>
                    <a:pt x="5073523" y="1731645"/>
                  </a:lnTo>
                  <a:cubicBezTo>
                    <a:pt x="5145913" y="1731645"/>
                    <a:pt x="5204587" y="1673225"/>
                    <a:pt x="5204587" y="1601216"/>
                  </a:cubicBezTo>
                  <a:lnTo>
                    <a:pt x="5204587" y="143129"/>
                  </a:lnTo>
                  <a:cubicBezTo>
                    <a:pt x="5204587" y="71120"/>
                    <a:pt x="5145913" y="12700"/>
                    <a:pt x="5073523" y="12700"/>
                  </a:cubicBezTo>
                  <a:lnTo>
                    <a:pt x="143764" y="12700"/>
                  </a:lnTo>
                  <a:lnTo>
                    <a:pt x="143764" y="6350"/>
                  </a:lnTo>
                  <a:lnTo>
                    <a:pt x="143764" y="12700"/>
                  </a:lnTo>
                  <a:cubicBezTo>
                    <a:pt x="71374" y="12700"/>
                    <a:pt x="12700" y="71120"/>
                    <a:pt x="12700" y="143129"/>
                  </a:cubicBezTo>
                  <a:close/>
                </a:path>
              </a:pathLst>
            </a:custGeom>
            <a:solidFill>
              <a:srgbClr val="B8BFDF"/>
            </a:solidFill>
          </p:spPr>
        </p:sp>
      </p:grpSp>
      <p:sp>
        <p:nvSpPr>
          <p:cNvPr name="TextBox 71" id="71"/>
          <p:cNvSpPr txBox="true"/>
          <p:nvPr/>
        </p:nvSpPr>
        <p:spPr>
          <a:xfrm rot="0">
            <a:off x="13661384" y="8494957"/>
            <a:ext cx="3396263" cy="800995"/>
          </a:xfrm>
          <a:prstGeom prst="rect">
            <a:avLst/>
          </a:prstGeom>
        </p:spPr>
        <p:txBody>
          <a:bodyPr anchor="t" rtlCol="false" tIns="0" lIns="0" bIns="0" rIns="0">
            <a:spAutoFit/>
          </a:bodyPr>
          <a:lstStyle/>
          <a:p>
            <a:pPr algn="l">
              <a:lnSpc>
                <a:spcPts val="3000"/>
              </a:lnSpc>
            </a:pPr>
            <a:r>
              <a:rPr lang="en-US" sz="2400">
                <a:solidFill>
                  <a:srgbClr val="000000"/>
                </a:solidFill>
                <a:latin typeface="Corben"/>
                <a:ea typeface="Corben"/>
                <a:cs typeface="Corben"/>
                <a:sym typeface="Corben"/>
              </a:rPr>
              <a:t>✅</a:t>
            </a:r>
            <a:r>
              <a:rPr lang="en-US" sz="2400">
                <a:solidFill>
                  <a:srgbClr val="404155"/>
                </a:solidFill>
                <a:latin typeface="Corben"/>
                <a:ea typeface="Corben"/>
                <a:cs typeface="Corben"/>
                <a:sym typeface="Corben"/>
              </a:rPr>
              <a:t> Two Distinct Users Required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2724598" y="482651"/>
            <a:ext cx="7133634" cy="518217"/>
          </a:xfrm>
          <a:prstGeom prst="rect">
            <a:avLst/>
          </a:prstGeom>
        </p:spPr>
        <p:txBody>
          <a:bodyPr anchor="t" rtlCol="false" tIns="0" lIns="0" bIns="0" rIns="0">
            <a:spAutoFit/>
          </a:bodyPr>
          <a:lstStyle/>
          <a:p>
            <a:pPr algn="l">
              <a:lnSpc>
                <a:spcPts val="4000"/>
              </a:lnSpc>
            </a:pPr>
            <a:r>
              <a:rPr lang="en-US" sz="3200">
                <a:solidFill>
                  <a:srgbClr val="1B1B27"/>
                </a:solidFill>
                <a:latin typeface="Corben"/>
                <a:ea typeface="Corben"/>
                <a:cs typeface="Corben"/>
                <a:sym typeface="Corben"/>
              </a:rPr>
              <a:t>Frontend Design &amp; System Workflow</a:t>
            </a:r>
          </a:p>
        </p:txBody>
      </p:sp>
      <p:sp>
        <p:nvSpPr>
          <p:cNvPr name="TextBox 7" id="7"/>
          <p:cNvSpPr txBox="true"/>
          <p:nvPr/>
        </p:nvSpPr>
        <p:spPr>
          <a:xfrm rot="0">
            <a:off x="2724598" y="1176338"/>
            <a:ext cx="12838805" cy="469402"/>
          </a:xfrm>
          <a:prstGeom prst="rect">
            <a:avLst/>
          </a:prstGeom>
        </p:spPr>
        <p:txBody>
          <a:bodyPr anchor="t" rtlCol="false" tIns="0" lIns="0" bIns="0" rIns="0">
            <a:spAutoFit/>
          </a:bodyPr>
          <a:lstStyle/>
          <a:p>
            <a:pPr algn="l">
              <a:lnSpc>
                <a:spcPts val="1600"/>
              </a:lnSpc>
            </a:pPr>
            <a:r>
              <a:rPr lang="en-US" sz="1200">
                <a:solidFill>
                  <a:srgbClr val="404155"/>
                </a:solidFill>
                <a:latin typeface="Arimo"/>
                <a:ea typeface="Arimo"/>
                <a:cs typeface="Arimo"/>
                <a:sym typeface="Arimo"/>
              </a:rPr>
              <a:t>The frontend provides an </a:t>
            </a:r>
            <a:r>
              <a:rPr lang="en-US" sz="1200" b="true">
                <a:solidFill>
                  <a:srgbClr val="404155"/>
                </a:solidFill>
                <a:latin typeface="Arimo Bold"/>
                <a:ea typeface="Arimo Bold"/>
                <a:cs typeface="Arimo Bold"/>
                <a:sym typeface="Arimo Bold"/>
              </a:rPr>
              <a:t>interactive, user-friendly interface</a:t>
            </a:r>
            <a:r>
              <a:rPr lang="en-US" sz="1200">
                <a:solidFill>
                  <a:srgbClr val="404155"/>
                </a:solidFill>
                <a:latin typeface="Arimo"/>
                <a:ea typeface="Arimo"/>
                <a:cs typeface="Arimo"/>
                <a:sym typeface="Arimo"/>
              </a:rPr>
              <a:t> with glassmorphism UI, drag-and-drop upload, dynamic inbox, approval dashboard, notification system, and responsive design. Animations via Framer Motion enhance the user experience.</a:t>
            </a:r>
          </a:p>
        </p:txBody>
      </p:sp>
      <p:grpSp>
        <p:nvGrpSpPr>
          <p:cNvPr name="Group 8" id="8"/>
          <p:cNvGrpSpPr/>
          <p:nvPr/>
        </p:nvGrpSpPr>
        <p:grpSpPr>
          <a:xfrm rot="0">
            <a:off x="2719835" y="1761087"/>
            <a:ext cx="660654" cy="986285"/>
            <a:chOff x="0" y="0"/>
            <a:chExt cx="880872" cy="1315047"/>
          </a:xfrm>
        </p:grpSpPr>
        <p:sp>
          <p:nvSpPr>
            <p:cNvPr name="Freeform 9" id="9"/>
            <p:cNvSpPr/>
            <p:nvPr/>
          </p:nvSpPr>
          <p:spPr>
            <a:xfrm flipH="false" flipV="false" rot="0">
              <a:off x="6350" y="6350"/>
              <a:ext cx="868172" cy="1302258"/>
            </a:xfrm>
            <a:custGeom>
              <a:avLst/>
              <a:gdLst/>
              <a:ahLst/>
              <a:cxnLst/>
              <a:rect r="r" b="b" t="t" l="l"/>
              <a:pathLst>
                <a:path h="1302258" w="868172">
                  <a:moveTo>
                    <a:pt x="0" y="436118"/>
                  </a:moveTo>
                  <a:cubicBezTo>
                    <a:pt x="0" y="195326"/>
                    <a:pt x="194310" y="0"/>
                    <a:pt x="434086" y="0"/>
                  </a:cubicBezTo>
                  <a:cubicBezTo>
                    <a:pt x="673862" y="0"/>
                    <a:pt x="868172" y="195326"/>
                    <a:pt x="868172" y="436118"/>
                  </a:cubicBezTo>
                  <a:lnTo>
                    <a:pt x="868172" y="866140"/>
                  </a:lnTo>
                  <a:cubicBezTo>
                    <a:pt x="868172" y="1107059"/>
                    <a:pt x="673862" y="1302258"/>
                    <a:pt x="434086" y="1302258"/>
                  </a:cubicBezTo>
                  <a:cubicBezTo>
                    <a:pt x="194310" y="1302258"/>
                    <a:pt x="0" y="1107059"/>
                    <a:pt x="0" y="866140"/>
                  </a:cubicBezTo>
                  <a:close/>
                </a:path>
              </a:pathLst>
            </a:custGeom>
            <a:solidFill>
              <a:srgbClr val="D2D9F9"/>
            </a:solidFill>
          </p:spPr>
        </p:sp>
        <p:sp>
          <p:nvSpPr>
            <p:cNvPr name="Freeform 10" id="10"/>
            <p:cNvSpPr/>
            <p:nvPr/>
          </p:nvSpPr>
          <p:spPr>
            <a:xfrm flipH="false" flipV="false" rot="0">
              <a:off x="0" y="0"/>
              <a:ext cx="880872" cy="1314958"/>
            </a:xfrm>
            <a:custGeom>
              <a:avLst/>
              <a:gdLst/>
              <a:ahLst/>
              <a:cxnLst/>
              <a:rect r="r" b="b" t="t" l="l"/>
              <a:pathLst>
                <a:path h="1314958" w="880872">
                  <a:moveTo>
                    <a:pt x="0" y="442468"/>
                  </a:moveTo>
                  <a:cubicBezTo>
                    <a:pt x="0" y="198120"/>
                    <a:pt x="197104" y="0"/>
                    <a:pt x="440436" y="0"/>
                  </a:cubicBezTo>
                  <a:cubicBezTo>
                    <a:pt x="443992" y="0"/>
                    <a:pt x="446786" y="2794"/>
                    <a:pt x="446786" y="6350"/>
                  </a:cubicBezTo>
                  <a:lnTo>
                    <a:pt x="440436" y="6350"/>
                  </a:lnTo>
                  <a:lnTo>
                    <a:pt x="440436" y="0"/>
                  </a:lnTo>
                  <a:lnTo>
                    <a:pt x="440436" y="6350"/>
                  </a:lnTo>
                  <a:lnTo>
                    <a:pt x="440436" y="0"/>
                  </a:lnTo>
                  <a:cubicBezTo>
                    <a:pt x="683768" y="0"/>
                    <a:pt x="880872" y="198120"/>
                    <a:pt x="880872" y="442468"/>
                  </a:cubicBezTo>
                  <a:lnTo>
                    <a:pt x="880872" y="872490"/>
                  </a:lnTo>
                  <a:lnTo>
                    <a:pt x="874522" y="872490"/>
                  </a:lnTo>
                  <a:lnTo>
                    <a:pt x="880872" y="872490"/>
                  </a:lnTo>
                  <a:cubicBezTo>
                    <a:pt x="880872" y="1116838"/>
                    <a:pt x="683768" y="1314958"/>
                    <a:pt x="440436" y="1314958"/>
                  </a:cubicBezTo>
                  <a:lnTo>
                    <a:pt x="440436" y="1308608"/>
                  </a:lnTo>
                  <a:lnTo>
                    <a:pt x="440436" y="1314958"/>
                  </a:lnTo>
                  <a:cubicBezTo>
                    <a:pt x="197104" y="1315085"/>
                    <a:pt x="0" y="1116838"/>
                    <a:pt x="0" y="872490"/>
                  </a:cubicBezTo>
                  <a:lnTo>
                    <a:pt x="0" y="442468"/>
                  </a:lnTo>
                  <a:lnTo>
                    <a:pt x="6350" y="442468"/>
                  </a:lnTo>
                  <a:lnTo>
                    <a:pt x="0" y="442468"/>
                  </a:lnTo>
                  <a:moveTo>
                    <a:pt x="12700" y="442468"/>
                  </a:moveTo>
                  <a:lnTo>
                    <a:pt x="12700" y="872490"/>
                  </a:lnTo>
                  <a:lnTo>
                    <a:pt x="6350" y="872490"/>
                  </a:lnTo>
                  <a:lnTo>
                    <a:pt x="12700" y="872490"/>
                  </a:lnTo>
                  <a:cubicBezTo>
                    <a:pt x="12700" y="1109853"/>
                    <a:pt x="204216" y="1302258"/>
                    <a:pt x="440436" y="1302258"/>
                  </a:cubicBezTo>
                  <a:cubicBezTo>
                    <a:pt x="676656" y="1302258"/>
                    <a:pt x="868172" y="1109980"/>
                    <a:pt x="868172" y="872490"/>
                  </a:cubicBezTo>
                  <a:lnTo>
                    <a:pt x="868172" y="442468"/>
                  </a:lnTo>
                  <a:lnTo>
                    <a:pt x="874522" y="442468"/>
                  </a:lnTo>
                  <a:lnTo>
                    <a:pt x="868172" y="442468"/>
                  </a:lnTo>
                  <a:cubicBezTo>
                    <a:pt x="868172" y="205105"/>
                    <a:pt x="676656" y="12700"/>
                    <a:pt x="440436" y="12700"/>
                  </a:cubicBezTo>
                  <a:cubicBezTo>
                    <a:pt x="436880" y="12700"/>
                    <a:pt x="434086" y="9906"/>
                    <a:pt x="434086" y="6350"/>
                  </a:cubicBezTo>
                  <a:lnTo>
                    <a:pt x="440436" y="6350"/>
                  </a:lnTo>
                  <a:lnTo>
                    <a:pt x="440436" y="12700"/>
                  </a:lnTo>
                  <a:cubicBezTo>
                    <a:pt x="204216" y="12700"/>
                    <a:pt x="12700" y="205105"/>
                    <a:pt x="12700" y="442468"/>
                  </a:cubicBezTo>
                  <a:close/>
                </a:path>
              </a:pathLst>
            </a:custGeom>
            <a:solidFill>
              <a:srgbClr val="B8BFDF"/>
            </a:solidFill>
          </p:spPr>
        </p:sp>
      </p:grpSp>
      <p:grpSp>
        <p:nvGrpSpPr>
          <p:cNvPr name="Group 11" id="11"/>
          <p:cNvGrpSpPr/>
          <p:nvPr/>
        </p:nvGrpSpPr>
        <p:grpSpPr>
          <a:xfrm rot="0">
            <a:off x="2928042" y="2101606"/>
            <a:ext cx="244078" cy="305248"/>
            <a:chOff x="0" y="0"/>
            <a:chExt cx="325438" cy="406997"/>
          </a:xfrm>
        </p:grpSpPr>
        <p:sp>
          <p:nvSpPr>
            <p:cNvPr name="Freeform 12" id="12"/>
            <p:cNvSpPr/>
            <p:nvPr/>
          </p:nvSpPr>
          <p:spPr>
            <a:xfrm flipH="false" flipV="false" rot="0">
              <a:off x="0" y="0"/>
              <a:ext cx="325437" cy="406995"/>
            </a:xfrm>
            <a:custGeom>
              <a:avLst/>
              <a:gdLst/>
              <a:ahLst/>
              <a:cxnLst/>
              <a:rect r="r" b="b" t="t" l="l"/>
              <a:pathLst>
                <a:path h="406995" w="325437">
                  <a:moveTo>
                    <a:pt x="0" y="0"/>
                  </a:moveTo>
                  <a:lnTo>
                    <a:pt x="325437" y="0"/>
                  </a:lnTo>
                  <a:lnTo>
                    <a:pt x="325437" y="406995"/>
                  </a:lnTo>
                  <a:lnTo>
                    <a:pt x="0" y="406995"/>
                  </a:lnTo>
                  <a:close/>
                </a:path>
              </a:pathLst>
            </a:custGeom>
            <a:blipFill>
              <a:blip r:embed="rId4">
                <a:alphaModFix amt="0"/>
              </a:blip>
              <a:stretch>
                <a:fillRect l="-110458" t="0" r="-110458" b="0"/>
              </a:stretch>
            </a:blipFill>
          </p:spPr>
        </p:sp>
        <p:sp>
          <p:nvSpPr>
            <p:cNvPr name="TextBox 13" id="13"/>
            <p:cNvSpPr txBox="true"/>
            <p:nvPr/>
          </p:nvSpPr>
          <p:spPr>
            <a:xfrm>
              <a:off x="0" y="0"/>
              <a:ext cx="325438" cy="406997"/>
            </a:xfrm>
            <a:prstGeom prst="rect">
              <a:avLst/>
            </a:prstGeom>
          </p:spPr>
          <p:txBody>
            <a:bodyPr anchor="ctr" rtlCol="false" tIns="0" lIns="0" bIns="0" rIns="0"/>
            <a:lstStyle/>
            <a:p>
              <a:pPr algn="ctr">
                <a:lnSpc>
                  <a:spcPts val="2280"/>
                </a:lnSpc>
              </a:pPr>
              <a:r>
                <a:rPr lang="en-US" sz="1900">
                  <a:solidFill>
                    <a:srgbClr val="404155"/>
                  </a:solidFill>
                  <a:latin typeface="Corben"/>
                  <a:ea typeface="Corben"/>
                  <a:cs typeface="Corben"/>
                  <a:sym typeface="Corben"/>
                </a:rPr>
                <a:t>1</a:t>
              </a:r>
            </a:p>
          </p:txBody>
        </p:sp>
      </p:grpSp>
      <p:sp>
        <p:nvSpPr>
          <p:cNvPr name="TextBox 14" id="14"/>
          <p:cNvSpPr txBox="true"/>
          <p:nvPr/>
        </p:nvSpPr>
        <p:spPr>
          <a:xfrm rot="0">
            <a:off x="3482426" y="1918992"/>
            <a:ext cx="2571750" cy="263719"/>
          </a:xfrm>
          <a:prstGeom prst="rect">
            <a:avLst/>
          </a:prstGeom>
        </p:spPr>
        <p:txBody>
          <a:bodyPr anchor="t" rtlCol="false" tIns="0" lIns="0" bIns="0" rIns="0">
            <a:spAutoFit/>
          </a:bodyPr>
          <a:lstStyle/>
          <a:p>
            <a:pPr algn="l">
              <a:lnSpc>
                <a:spcPts val="2000"/>
              </a:lnSpc>
            </a:pPr>
            <a:r>
              <a:rPr lang="en-US" sz="1600">
                <a:solidFill>
                  <a:srgbClr val="404155"/>
                </a:solidFill>
                <a:latin typeface="Corben"/>
                <a:ea typeface="Corben"/>
                <a:cs typeface="Corben"/>
                <a:sym typeface="Corben"/>
              </a:rPr>
              <a:t>User1 uploads file for User2</a:t>
            </a:r>
          </a:p>
        </p:txBody>
      </p:sp>
      <p:grpSp>
        <p:nvGrpSpPr>
          <p:cNvPr name="Group 15" id="15"/>
          <p:cNvGrpSpPr/>
          <p:nvPr/>
        </p:nvGrpSpPr>
        <p:grpSpPr>
          <a:xfrm rot="0">
            <a:off x="2719835" y="2844556"/>
            <a:ext cx="660654" cy="986285"/>
            <a:chOff x="0" y="0"/>
            <a:chExt cx="880872" cy="1315047"/>
          </a:xfrm>
        </p:grpSpPr>
        <p:sp>
          <p:nvSpPr>
            <p:cNvPr name="Freeform 16" id="16"/>
            <p:cNvSpPr/>
            <p:nvPr/>
          </p:nvSpPr>
          <p:spPr>
            <a:xfrm flipH="false" flipV="false" rot="0">
              <a:off x="6350" y="6350"/>
              <a:ext cx="868172" cy="1302258"/>
            </a:xfrm>
            <a:custGeom>
              <a:avLst/>
              <a:gdLst/>
              <a:ahLst/>
              <a:cxnLst/>
              <a:rect r="r" b="b" t="t" l="l"/>
              <a:pathLst>
                <a:path h="1302258" w="868172">
                  <a:moveTo>
                    <a:pt x="0" y="436118"/>
                  </a:moveTo>
                  <a:cubicBezTo>
                    <a:pt x="0" y="195326"/>
                    <a:pt x="194310" y="0"/>
                    <a:pt x="434086" y="0"/>
                  </a:cubicBezTo>
                  <a:cubicBezTo>
                    <a:pt x="673862" y="0"/>
                    <a:pt x="868172" y="195326"/>
                    <a:pt x="868172" y="436118"/>
                  </a:cubicBezTo>
                  <a:lnTo>
                    <a:pt x="868172" y="866140"/>
                  </a:lnTo>
                  <a:cubicBezTo>
                    <a:pt x="868172" y="1107059"/>
                    <a:pt x="673862" y="1302258"/>
                    <a:pt x="434086" y="1302258"/>
                  </a:cubicBezTo>
                  <a:cubicBezTo>
                    <a:pt x="194310" y="1302258"/>
                    <a:pt x="0" y="1107059"/>
                    <a:pt x="0" y="866140"/>
                  </a:cubicBezTo>
                  <a:close/>
                </a:path>
              </a:pathLst>
            </a:custGeom>
            <a:solidFill>
              <a:srgbClr val="D2D9F9"/>
            </a:solidFill>
          </p:spPr>
        </p:sp>
        <p:sp>
          <p:nvSpPr>
            <p:cNvPr name="Freeform 17" id="17"/>
            <p:cNvSpPr/>
            <p:nvPr/>
          </p:nvSpPr>
          <p:spPr>
            <a:xfrm flipH="false" flipV="false" rot="0">
              <a:off x="0" y="0"/>
              <a:ext cx="880872" cy="1314958"/>
            </a:xfrm>
            <a:custGeom>
              <a:avLst/>
              <a:gdLst/>
              <a:ahLst/>
              <a:cxnLst/>
              <a:rect r="r" b="b" t="t" l="l"/>
              <a:pathLst>
                <a:path h="1314958" w="880872">
                  <a:moveTo>
                    <a:pt x="0" y="442468"/>
                  </a:moveTo>
                  <a:cubicBezTo>
                    <a:pt x="0" y="198120"/>
                    <a:pt x="197104" y="0"/>
                    <a:pt x="440436" y="0"/>
                  </a:cubicBezTo>
                  <a:cubicBezTo>
                    <a:pt x="443992" y="0"/>
                    <a:pt x="446786" y="2794"/>
                    <a:pt x="446786" y="6350"/>
                  </a:cubicBezTo>
                  <a:lnTo>
                    <a:pt x="440436" y="6350"/>
                  </a:lnTo>
                  <a:lnTo>
                    <a:pt x="440436" y="0"/>
                  </a:lnTo>
                  <a:lnTo>
                    <a:pt x="440436" y="6350"/>
                  </a:lnTo>
                  <a:lnTo>
                    <a:pt x="440436" y="0"/>
                  </a:lnTo>
                  <a:cubicBezTo>
                    <a:pt x="683768" y="0"/>
                    <a:pt x="880872" y="198120"/>
                    <a:pt x="880872" y="442468"/>
                  </a:cubicBezTo>
                  <a:lnTo>
                    <a:pt x="880872" y="872490"/>
                  </a:lnTo>
                  <a:lnTo>
                    <a:pt x="874522" y="872490"/>
                  </a:lnTo>
                  <a:lnTo>
                    <a:pt x="880872" y="872490"/>
                  </a:lnTo>
                  <a:cubicBezTo>
                    <a:pt x="880872" y="1116838"/>
                    <a:pt x="683768" y="1314958"/>
                    <a:pt x="440436" y="1314958"/>
                  </a:cubicBezTo>
                  <a:lnTo>
                    <a:pt x="440436" y="1308608"/>
                  </a:lnTo>
                  <a:lnTo>
                    <a:pt x="440436" y="1314958"/>
                  </a:lnTo>
                  <a:cubicBezTo>
                    <a:pt x="197104" y="1315085"/>
                    <a:pt x="0" y="1116838"/>
                    <a:pt x="0" y="872490"/>
                  </a:cubicBezTo>
                  <a:lnTo>
                    <a:pt x="0" y="442468"/>
                  </a:lnTo>
                  <a:lnTo>
                    <a:pt x="6350" y="442468"/>
                  </a:lnTo>
                  <a:lnTo>
                    <a:pt x="0" y="442468"/>
                  </a:lnTo>
                  <a:moveTo>
                    <a:pt x="12700" y="442468"/>
                  </a:moveTo>
                  <a:lnTo>
                    <a:pt x="12700" y="872490"/>
                  </a:lnTo>
                  <a:lnTo>
                    <a:pt x="6350" y="872490"/>
                  </a:lnTo>
                  <a:lnTo>
                    <a:pt x="12700" y="872490"/>
                  </a:lnTo>
                  <a:cubicBezTo>
                    <a:pt x="12700" y="1109853"/>
                    <a:pt x="204216" y="1302258"/>
                    <a:pt x="440436" y="1302258"/>
                  </a:cubicBezTo>
                  <a:cubicBezTo>
                    <a:pt x="676656" y="1302258"/>
                    <a:pt x="868172" y="1109980"/>
                    <a:pt x="868172" y="872490"/>
                  </a:cubicBezTo>
                  <a:lnTo>
                    <a:pt x="868172" y="442468"/>
                  </a:lnTo>
                  <a:lnTo>
                    <a:pt x="874522" y="442468"/>
                  </a:lnTo>
                  <a:lnTo>
                    <a:pt x="868172" y="442468"/>
                  </a:lnTo>
                  <a:cubicBezTo>
                    <a:pt x="868172" y="205105"/>
                    <a:pt x="676656" y="12700"/>
                    <a:pt x="440436" y="12700"/>
                  </a:cubicBezTo>
                  <a:cubicBezTo>
                    <a:pt x="436880" y="12700"/>
                    <a:pt x="434086" y="9906"/>
                    <a:pt x="434086" y="6350"/>
                  </a:cubicBezTo>
                  <a:lnTo>
                    <a:pt x="440436" y="6350"/>
                  </a:lnTo>
                  <a:lnTo>
                    <a:pt x="440436" y="12700"/>
                  </a:lnTo>
                  <a:cubicBezTo>
                    <a:pt x="204216" y="12700"/>
                    <a:pt x="12700" y="205105"/>
                    <a:pt x="12700" y="442468"/>
                  </a:cubicBezTo>
                  <a:close/>
                </a:path>
              </a:pathLst>
            </a:custGeom>
            <a:solidFill>
              <a:srgbClr val="B8BFDF"/>
            </a:solidFill>
          </p:spPr>
        </p:sp>
      </p:grpSp>
      <p:grpSp>
        <p:nvGrpSpPr>
          <p:cNvPr name="Group 18" id="18"/>
          <p:cNvGrpSpPr/>
          <p:nvPr/>
        </p:nvGrpSpPr>
        <p:grpSpPr>
          <a:xfrm rot="0">
            <a:off x="2928042" y="3185074"/>
            <a:ext cx="244078" cy="305248"/>
            <a:chOff x="0" y="0"/>
            <a:chExt cx="325438" cy="406997"/>
          </a:xfrm>
        </p:grpSpPr>
        <p:sp>
          <p:nvSpPr>
            <p:cNvPr name="Freeform 19" id="19"/>
            <p:cNvSpPr/>
            <p:nvPr/>
          </p:nvSpPr>
          <p:spPr>
            <a:xfrm flipH="false" flipV="false" rot="0">
              <a:off x="0" y="0"/>
              <a:ext cx="325437" cy="406995"/>
            </a:xfrm>
            <a:custGeom>
              <a:avLst/>
              <a:gdLst/>
              <a:ahLst/>
              <a:cxnLst/>
              <a:rect r="r" b="b" t="t" l="l"/>
              <a:pathLst>
                <a:path h="406995" w="325437">
                  <a:moveTo>
                    <a:pt x="0" y="0"/>
                  </a:moveTo>
                  <a:lnTo>
                    <a:pt x="325437" y="0"/>
                  </a:lnTo>
                  <a:lnTo>
                    <a:pt x="325437" y="406995"/>
                  </a:lnTo>
                  <a:lnTo>
                    <a:pt x="0" y="406995"/>
                  </a:lnTo>
                  <a:close/>
                </a:path>
              </a:pathLst>
            </a:custGeom>
            <a:blipFill>
              <a:blip r:embed="rId4">
                <a:alphaModFix amt="0"/>
              </a:blip>
              <a:stretch>
                <a:fillRect l="-110458" t="0" r="-110458" b="0"/>
              </a:stretch>
            </a:blipFill>
          </p:spPr>
        </p:sp>
        <p:sp>
          <p:nvSpPr>
            <p:cNvPr name="TextBox 20" id="20"/>
            <p:cNvSpPr txBox="true"/>
            <p:nvPr/>
          </p:nvSpPr>
          <p:spPr>
            <a:xfrm>
              <a:off x="0" y="0"/>
              <a:ext cx="325438" cy="406997"/>
            </a:xfrm>
            <a:prstGeom prst="rect">
              <a:avLst/>
            </a:prstGeom>
          </p:spPr>
          <p:txBody>
            <a:bodyPr anchor="ctr" rtlCol="false" tIns="0" lIns="0" bIns="0" rIns="0"/>
            <a:lstStyle/>
            <a:p>
              <a:pPr algn="ctr">
                <a:lnSpc>
                  <a:spcPts val="2280"/>
                </a:lnSpc>
              </a:pPr>
              <a:r>
                <a:rPr lang="en-US" sz="1900">
                  <a:solidFill>
                    <a:srgbClr val="404155"/>
                  </a:solidFill>
                  <a:latin typeface="Corben"/>
                  <a:ea typeface="Corben"/>
                  <a:cs typeface="Corben"/>
                  <a:sym typeface="Corben"/>
                </a:rPr>
                <a:t>2</a:t>
              </a:r>
            </a:p>
          </p:txBody>
        </p:sp>
      </p:grpSp>
      <p:sp>
        <p:nvSpPr>
          <p:cNvPr name="TextBox 21" id="21"/>
          <p:cNvSpPr txBox="true"/>
          <p:nvPr/>
        </p:nvSpPr>
        <p:spPr>
          <a:xfrm rot="0">
            <a:off x="3482426" y="3002461"/>
            <a:ext cx="3224212" cy="263719"/>
          </a:xfrm>
          <a:prstGeom prst="rect">
            <a:avLst/>
          </a:prstGeom>
        </p:spPr>
        <p:txBody>
          <a:bodyPr anchor="t" rtlCol="false" tIns="0" lIns="0" bIns="0" rIns="0">
            <a:spAutoFit/>
          </a:bodyPr>
          <a:lstStyle/>
          <a:p>
            <a:pPr algn="l">
              <a:lnSpc>
                <a:spcPts val="2000"/>
              </a:lnSpc>
            </a:pPr>
            <a:r>
              <a:rPr lang="en-US" sz="1600">
                <a:solidFill>
                  <a:srgbClr val="404155"/>
                </a:solidFill>
                <a:latin typeface="Corben"/>
                <a:ea typeface="Corben"/>
                <a:cs typeface="Corben"/>
                <a:sym typeface="Corben"/>
              </a:rPr>
              <a:t>Backend encrypts with AES-GCM</a:t>
            </a:r>
          </a:p>
        </p:txBody>
      </p:sp>
      <p:grpSp>
        <p:nvGrpSpPr>
          <p:cNvPr name="Group 22" id="22"/>
          <p:cNvGrpSpPr/>
          <p:nvPr/>
        </p:nvGrpSpPr>
        <p:grpSpPr>
          <a:xfrm rot="0">
            <a:off x="2719835" y="3928024"/>
            <a:ext cx="660654" cy="986285"/>
            <a:chOff x="0" y="0"/>
            <a:chExt cx="880872" cy="1315047"/>
          </a:xfrm>
        </p:grpSpPr>
        <p:sp>
          <p:nvSpPr>
            <p:cNvPr name="Freeform 23" id="23"/>
            <p:cNvSpPr/>
            <p:nvPr/>
          </p:nvSpPr>
          <p:spPr>
            <a:xfrm flipH="false" flipV="false" rot="0">
              <a:off x="6350" y="6350"/>
              <a:ext cx="868172" cy="1302258"/>
            </a:xfrm>
            <a:custGeom>
              <a:avLst/>
              <a:gdLst/>
              <a:ahLst/>
              <a:cxnLst/>
              <a:rect r="r" b="b" t="t" l="l"/>
              <a:pathLst>
                <a:path h="1302258" w="868172">
                  <a:moveTo>
                    <a:pt x="0" y="436118"/>
                  </a:moveTo>
                  <a:cubicBezTo>
                    <a:pt x="0" y="195326"/>
                    <a:pt x="194310" y="0"/>
                    <a:pt x="434086" y="0"/>
                  </a:cubicBezTo>
                  <a:cubicBezTo>
                    <a:pt x="673862" y="0"/>
                    <a:pt x="868172" y="195326"/>
                    <a:pt x="868172" y="436118"/>
                  </a:cubicBezTo>
                  <a:lnTo>
                    <a:pt x="868172" y="866140"/>
                  </a:lnTo>
                  <a:cubicBezTo>
                    <a:pt x="868172" y="1107059"/>
                    <a:pt x="673862" y="1302258"/>
                    <a:pt x="434086" y="1302258"/>
                  </a:cubicBezTo>
                  <a:cubicBezTo>
                    <a:pt x="194310" y="1302258"/>
                    <a:pt x="0" y="1107059"/>
                    <a:pt x="0" y="866140"/>
                  </a:cubicBezTo>
                  <a:close/>
                </a:path>
              </a:pathLst>
            </a:custGeom>
            <a:solidFill>
              <a:srgbClr val="D2D9F9"/>
            </a:solidFill>
          </p:spPr>
        </p:sp>
        <p:sp>
          <p:nvSpPr>
            <p:cNvPr name="Freeform 24" id="24"/>
            <p:cNvSpPr/>
            <p:nvPr/>
          </p:nvSpPr>
          <p:spPr>
            <a:xfrm flipH="false" flipV="false" rot="0">
              <a:off x="0" y="0"/>
              <a:ext cx="880872" cy="1314958"/>
            </a:xfrm>
            <a:custGeom>
              <a:avLst/>
              <a:gdLst/>
              <a:ahLst/>
              <a:cxnLst/>
              <a:rect r="r" b="b" t="t" l="l"/>
              <a:pathLst>
                <a:path h="1314958" w="880872">
                  <a:moveTo>
                    <a:pt x="0" y="442468"/>
                  </a:moveTo>
                  <a:cubicBezTo>
                    <a:pt x="0" y="198120"/>
                    <a:pt x="197104" y="0"/>
                    <a:pt x="440436" y="0"/>
                  </a:cubicBezTo>
                  <a:cubicBezTo>
                    <a:pt x="443992" y="0"/>
                    <a:pt x="446786" y="2794"/>
                    <a:pt x="446786" y="6350"/>
                  </a:cubicBezTo>
                  <a:lnTo>
                    <a:pt x="440436" y="6350"/>
                  </a:lnTo>
                  <a:lnTo>
                    <a:pt x="440436" y="0"/>
                  </a:lnTo>
                  <a:lnTo>
                    <a:pt x="440436" y="6350"/>
                  </a:lnTo>
                  <a:lnTo>
                    <a:pt x="440436" y="0"/>
                  </a:lnTo>
                  <a:cubicBezTo>
                    <a:pt x="683768" y="0"/>
                    <a:pt x="880872" y="198120"/>
                    <a:pt x="880872" y="442468"/>
                  </a:cubicBezTo>
                  <a:lnTo>
                    <a:pt x="880872" y="872490"/>
                  </a:lnTo>
                  <a:lnTo>
                    <a:pt x="874522" y="872490"/>
                  </a:lnTo>
                  <a:lnTo>
                    <a:pt x="880872" y="872490"/>
                  </a:lnTo>
                  <a:cubicBezTo>
                    <a:pt x="880872" y="1116838"/>
                    <a:pt x="683768" y="1314958"/>
                    <a:pt x="440436" y="1314958"/>
                  </a:cubicBezTo>
                  <a:lnTo>
                    <a:pt x="440436" y="1308608"/>
                  </a:lnTo>
                  <a:lnTo>
                    <a:pt x="440436" y="1314958"/>
                  </a:lnTo>
                  <a:cubicBezTo>
                    <a:pt x="197104" y="1315085"/>
                    <a:pt x="0" y="1116838"/>
                    <a:pt x="0" y="872490"/>
                  </a:cubicBezTo>
                  <a:lnTo>
                    <a:pt x="0" y="442468"/>
                  </a:lnTo>
                  <a:lnTo>
                    <a:pt x="6350" y="442468"/>
                  </a:lnTo>
                  <a:lnTo>
                    <a:pt x="0" y="442468"/>
                  </a:lnTo>
                  <a:moveTo>
                    <a:pt x="12700" y="442468"/>
                  </a:moveTo>
                  <a:lnTo>
                    <a:pt x="12700" y="872490"/>
                  </a:lnTo>
                  <a:lnTo>
                    <a:pt x="6350" y="872490"/>
                  </a:lnTo>
                  <a:lnTo>
                    <a:pt x="12700" y="872490"/>
                  </a:lnTo>
                  <a:cubicBezTo>
                    <a:pt x="12700" y="1109853"/>
                    <a:pt x="204216" y="1302258"/>
                    <a:pt x="440436" y="1302258"/>
                  </a:cubicBezTo>
                  <a:cubicBezTo>
                    <a:pt x="676656" y="1302258"/>
                    <a:pt x="868172" y="1109980"/>
                    <a:pt x="868172" y="872490"/>
                  </a:cubicBezTo>
                  <a:lnTo>
                    <a:pt x="868172" y="442468"/>
                  </a:lnTo>
                  <a:lnTo>
                    <a:pt x="874522" y="442468"/>
                  </a:lnTo>
                  <a:lnTo>
                    <a:pt x="868172" y="442468"/>
                  </a:lnTo>
                  <a:cubicBezTo>
                    <a:pt x="868172" y="205105"/>
                    <a:pt x="676656" y="12700"/>
                    <a:pt x="440436" y="12700"/>
                  </a:cubicBezTo>
                  <a:cubicBezTo>
                    <a:pt x="436880" y="12700"/>
                    <a:pt x="434086" y="9906"/>
                    <a:pt x="434086" y="6350"/>
                  </a:cubicBezTo>
                  <a:lnTo>
                    <a:pt x="440436" y="6350"/>
                  </a:lnTo>
                  <a:lnTo>
                    <a:pt x="440436" y="12700"/>
                  </a:lnTo>
                  <a:cubicBezTo>
                    <a:pt x="204216" y="12700"/>
                    <a:pt x="12700" y="205105"/>
                    <a:pt x="12700" y="442468"/>
                  </a:cubicBezTo>
                  <a:close/>
                </a:path>
              </a:pathLst>
            </a:custGeom>
            <a:solidFill>
              <a:srgbClr val="B8BFDF"/>
            </a:solidFill>
          </p:spPr>
        </p:sp>
      </p:grpSp>
      <p:grpSp>
        <p:nvGrpSpPr>
          <p:cNvPr name="Group 25" id="25"/>
          <p:cNvGrpSpPr/>
          <p:nvPr/>
        </p:nvGrpSpPr>
        <p:grpSpPr>
          <a:xfrm rot="0">
            <a:off x="2928042" y="4268543"/>
            <a:ext cx="244078" cy="305248"/>
            <a:chOff x="0" y="0"/>
            <a:chExt cx="325438" cy="406997"/>
          </a:xfrm>
        </p:grpSpPr>
        <p:sp>
          <p:nvSpPr>
            <p:cNvPr name="Freeform 26" id="26"/>
            <p:cNvSpPr/>
            <p:nvPr/>
          </p:nvSpPr>
          <p:spPr>
            <a:xfrm flipH="false" flipV="false" rot="0">
              <a:off x="0" y="0"/>
              <a:ext cx="325437" cy="406995"/>
            </a:xfrm>
            <a:custGeom>
              <a:avLst/>
              <a:gdLst/>
              <a:ahLst/>
              <a:cxnLst/>
              <a:rect r="r" b="b" t="t" l="l"/>
              <a:pathLst>
                <a:path h="406995" w="325437">
                  <a:moveTo>
                    <a:pt x="0" y="0"/>
                  </a:moveTo>
                  <a:lnTo>
                    <a:pt x="325437" y="0"/>
                  </a:lnTo>
                  <a:lnTo>
                    <a:pt x="325437" y="406995"/>
                  </a:lnTo>
                  <a:lnTo>
                    <a:pt x="0" y="406995"/>
                  </a:lnTo>
                  <a:close/>
                </a:path>
              </a:pathLst>
            </a:custGeom>
            <a:blipFill>
              <a:blip r:embed="rId4">
                <a:alphaModFix amt="0"/>
              </a:blip>
              <a:stretch>
                <a:fillRect l="-110458" t="0" r="-110458" b="0"/>
              </a:stretch>
            </a:blipFill>
          </p:spPr>
        </p:sp>
        <p:sp>
          <p:nvSpPr>
            <p:cNvPr name="TextBox 27" id="27"/>
            <p:cNvSpPr txBox="true"/>
            <p:nvPr/>
          </p:nvSpPr>
          <p:spPr>
            <a:xfrm>
              <a:off x="0" y="0"/>
              <a:ext cx="325438" cy="406997"/>
            </a:xfrm>
            <a:prstGeom prst="rect">
              <a:avLst/>
            </a:prstGeom>
          </p:spPr>
          <p:txBody>
            <a:bodyPr anchor="ctr" rtlCol="false" tIns="0" lIns="0" bIns="0" rIns="0"/>
            <a:lstStyle/>
            <a:p>
              <a:pPr algn="ctr">
                <a:lnSpc>
                  <a:spcPts val="2280"/>
                </a:lnSpc>
              </a:pPr>
              <a:r>
                <a:rPr lang="en-US" sz="1900">
                  <a:solidFill>
                    <a:srgbClr val="404155"/>
                  </a:solidFill>
                  <a:latin typeface="Corben"/>
                  <a:ea typeface="Corben"/>
                  <a:cs typeface="Corben"/>
                  <a:sym typeface="Corben"/>
                </a:rPr>
                <a:t>3</a:t>
              </a:r>
            </a:p>
          </p:txBody>
        </p:sp>
      </p:grpSp>
      <p:sp>
        <p:nvSpPr>
          <p:cNvPr name="TextBox 28" id="28"/>
          <p:cNvSpPr txBox="true"/>
          <p:nvPr/>
        </p:nvSpPr>
        <p:spPr>
          <a:xfrm rot="0">
            <a:off x="3482426" y="4085930"/>
            <a:ext cx="3151137" cy="263719"/>
          </a:xfrm>
          <a:prstGeom prst="rect">
            <a:avLst/>
          </a:prstGeom>
        </p:spPr>
        <p:txBody>
          <a:bodyPr anchor="t" rtlCol="false" tIns="0" lIns="0" bIns="0" rIns="0">
            <a:spAutoFit/>
          </a:bodyPr>
          <a:lstStyle/>
          <a:p>
            <a:pPr algn="l">
              <a:lnSpc>
                <a:spcPts val="2000"/>
              </a:lnSpc>
            </a:pPr>
            <a:r>
              <a:rPr lang="en-US" sz="1600">
                <a:solidFill>
                  <a:srgbClr val="404155"/>
                </a:solidFill>
                <a:latin typeface="Corben"/>
                <a:ea typeface="Corben"/>
                <a:cs typeface="Corben"/>
                <a:sym typeface="Corben"/>
              </a:rPr>
              <a:t>User2 sees encrypted file in inbox</a:t>
            </a:r>
          </a:p>
        </p:txBody>
      </p:sp>
      <p:grpSp>
        <p:nvGrpSpPr>
          <p:cNvPr name="Group 29" id="29"/>
          <p:cNvGrpSpPr/>
          <p:nvPr/>
        </p:nvGrpSpPr>
        <p:grpSpPr>
          <a:xfrm rot="0">
            <a:off x="2719835" y="5011493"/>
            <a:ext cx="660654" cy="986285"/>
            <a:chOff x="0" y="0"/>
            <a:chExt cx="880872" cy="1315047"/>
          </a:xfrm>
        </p:grpSpPr>
        <p:sp>
          <p:nvSpPr>
            <p:cNvPr name="Freeform 30" id="30"/>
            <p:cNvSpPr/>
            <p:nvPr/>
          </p:nvSpPr>
          <p:spPr>
            <a:xfrm flipH="false" flipV="false" rot="0">
              <a:off x="6350" y="6350"/>
              <a:ext cx="868172" cy="1302258"/>
            </a:xfrm>
            <a:custGeom>
              <a:avLst/>
              <a:gdLst/>
              <a:ahLst/>
              <a:cxnLst/>
              <a:rect r="r" b="b" t="t" l="l"/>
              <a:pathLst>
                <a:path h="1302258" w="868172">
                  <a:moveTo>
                    <a:pt x="0" y="436118"/>
                  </a:moveTo>
                  <a:cubicBezTo>
                    <a:pt x="0" y="195326"/>
                    <a:pt x="194310" y="0"/>
                    <a:pt x="434086" y="0"/>
                  </a:cubicBezTo>
                  <a:cubicBezTo>
                    <a:pt x="673862" y="0"/>
                    <a:pt x="868172" y="195326"/>
                    <a:pt x="868172" y="436118"/>
                  </a:cubicBezTo>
                  <a:lnTo>
                    <a:pt x="868172" y="866140"/>
                  </a:lnTo>
                  <a:cubicBezTo>
                    <a:pt x="868172" y="1107059"/>
                    <a:pt x="673862" y="1302258"/>
                    <a:pt x="434086" y="1302258"/>
                  </a:cubicBezTo>
                  <a:cubicBezTo>
                    <a:pt x="194310" y="1302258"/>
                    <a:pt x="0" y="1107059"/>
                    <a:pt x="0" y="866140"/>
                  </a:cubicBezTo>
                  <a:close/>
                </a:path>
              </a:pathLst>
            </a:custGeom>
            <a:solidFill>
              <a:srgbClr val="D2D9F9"/>
            </a:solidFill>
          </p:spPr>
        </p:sp>
        <p:sp>
          <p:nvSpPr>
            <p:cNvPr name="Freeform 31" id="31"/>
            <p:cNvSpPr/>
            <p:nvPr/>
          </p:nvSpPr>
          <p:spPr>
            <a:xfrm flipH="false" flipV="false" rot="0">
              <a:off x="0" y="0"/>
              <a:ext cx="880872" cy="1314958"/>
            </a:xfrm>
            <a:custGeom>
              <a:avLst/>
              <a:gdLst/>
              <a:ahLst/>
              <a:cxnLst/>
              <a:rect r="r" b="b" t="t" l="l"/>
              <a:pathLst>
                <a:path h="1314958" w="880872">
                  <a:moveTo>
                    <a:pt x="0" y="442468"/>
                  </a:moveTo>
                  <a:cubicBezTo>
                    <a:pt x="0" y="198120"/>
                    <a:pt x="197104" y="0"/>
                    <a:pt x="440436" y="0"/>
                  </a:cubicBezTo>
                  <a:cubicBezTo>
                    <a:pt x="443992" y="0"/>
                    <a:pt x="446786" y="2794"/>
                    <a:pt x="446786" y="6350"/>
                  </a:cubicBezTo>
                  <a:lnTo>
                    <a:pt x="440436" y="6350"/>
                  </a:lnTo>
                  <a:lnTo>
                    <a:pt x="440436" y="0"/>
                  </a:lnTo>
                  <a:lnTo>
                    <a:pt x="440436" y="6350"/>
                  </a:lnTo>
                  <a:lnTo>
                    <a:pt x="440436" y="0"/>
                  </a:lnTo>
                  <a:cubicBezTo>
                    <a:pt x="683768" y="0"/>
                    <a:pt x="880872" y="198120"/>
                    <a:pt x="880872" y="442468"/>
                  </a:cubicBezTo>
                  <a:lnTo>
                    <a:pt x="880872" y="872490"/>
                  </a:lnTo>
                  <a:lnTo>
                    <a:pt x="874522" y="872490"/>
                  </a:lnTo>
                  <a:lnTo>
                    <a:pt x="880872" y="872490"/>
                  </a:lnTo>
                  <a:cubicBezTo>
                    <a:pt x="880872" y="1116838"/>
                    <a:pt x="683768" y="1314958"/>
                    <a:pt x="440436" y="1314958"/>
                  </a:cubicBezTo>
                  <a:lnTo>
                    <a:pt x="440436" y="1308608"/>
                  </a:lnTo>
                  <a:lnTo>
                    <a:pt x="440436" y="1314958"/>
                  </a:lnTo>
                  <a:cubicBezTo>
                    <a:pt x="197104" y="1315085"/>
                    <a:pt x="0" y="1116838"/>
                    <a:pt x="0" y="872490"/>
                  </a:cubicBezTo>
                  <a:lnTo>
                    <a:pt x="0" y="442468"/>
                  </a:lnTo>
                  <a:lnTo>
                    <a:pt x="6350" y="442468"/>
                  </a:lnTo>
                  <a:lnTo>
                    <a:pt x="0" y="442468"/>
                  </a:lnTo>
                  <a:moveTo>
                    <a:pt x="12700" y="442468"/>
                  </a:moveTo>
                  <a:lnTo>
                    <a:pt x="12700" y="872490"/>
                  </a:lnTo>
                  <a:lnTo>
                    <a:pt x="6350" y="872490"/>
                  </a:lnTo>
                  <a:lnTo>
                    <a:pt x="12700" y="872490"/>
                  </a:lnTo>
                  <a:cubicBezTo>
                    <a:pt x="12700" y="1109853"/>
                    <a:pt x="204216" y="1302258"/>
                    <a:pt x="440436" y="1302258"/>
                  </a:cubicBezTo>
                  <a:cubicBezTo>
                    <a:pt x="676656" y="1302258"/>
                    <a:pt x="868172" y="1109980"/>
                    <a:pt x="868172" y="872490"/>
                  </a:cubicBezTo>
                  <a:lnTo>
                    <a:pt x="868172" y="442468"/>
                  </a:lnTo>
                  <a:lnTo>
                    <a:pt x="874522" y="442468"/>
                  </a:lnTo>
                  <a:lnTo>
                    <a:pt x="868172" y="442468"/>
                  </a:lnTo>
                  <a:cubicBezTo>
                    <a:pt x="868172" y="205105"/>
                    <a:pt x="676656" y="12700"/>
                    <a:pt x="440436" y="12700"/>
                  </a:cubicBezTo>
                  <a:cubicBezTo>
                    <a:pt x="436880" y="12700"/>
                    <a:pt x="434086" y="9906"/>
                    <a:pt x="434086" y="6350"/>
                  </a:cubicBezTo>
                  <a:lnTo>
                    <a:pt x="440436" y="6350"/>
                  </a:lnTo>
                  <a:lnTo>
                    <a:pt x="440436" y="12700"/>
                  </a:lnTo>
                  <a:cubicBezTo>
                    <a:pt x="204216" y="12700"/>
                    <a:pt x="12700" y="205105"/>
                    <a:pt x="12700" y="442468"/>
                  </a:cubicBezTo>
                  <a:close/>
                </a:path>
              </a:pathLst>
            </a:custGeom>
            <a:solidFill>
              <a:srgbClr val="B8BFDF"/>
            </a:solidFill>
          </p:spPr>
        </p:sp>
      </p:grpSp>
      <p:grpSp>
        <p:nvGrpSpPr>
          <p:cNvPr name="Group 32" id="32"/>
          <p:cNvGrpSpPr/>
          <p:nvPr/>
        </p:nvGrpSpPr>
        <p:grpSpPr>
          <a:xfrm rot="0">
            <a:off x="2928042" y="5352012"/>
            <a:ext cx="244078" cy="305248"/>
            <a:chOff x="0" y="0"/>
            <a:chExt cx="325438" cy="406997"/>
          </a:xfrm>
        </p:grpSpPr>
        <p:sp>
          <p:nvSpPr>
            <p:cNvPr name="Freeform 33" id="33"/>
            <p:cNvSpPr/>
            <p:nvPr/>
          </p:nvSpPr>
          <p:spPr>
            <a:xfrm flipH="false" flipV="false" rot="0">
              <a:off x="0" y="0"/>
              <a:ext cx="325437" cy="406995"/>
            </a:xfrm>
            <a:custGeom>
              <a:avLst/>
              <a:gdLst/>
              <a:ahLst/>
              <a:cxnLst/>
              <a:rect r="r" b="b" t="t" l="l"/>
              <a:pathLst>
                <a:path h="406995" w="325437">
                  <a:moveTo>
                    <a:pt x="0" y="0"/>
                  </a:moveTo>
                  <a:lnTo>
                    <a:pt x="325437" y="0"/>
                  </a:lnTo>
                  <a:lnTo>
                    <a:pt x="325437" y="406995"/>
                  </a:lnTo>
                  <a:lnTo>
                    <a:pt x="0" y="406995"/>
                  </a:lnTo>
                  <a:close/>
                </a:path>
              </a:pathLst>
            </a:custGeom>
            <a:blipFill>
              <a:blip r:embed="rId4">
                <a:alphaModFix amt="0"/>
              </a:blip>
              <a:stretch>
                <a:fillRect l="-110458" t="0" r="-110458" b="0"/>
              </a:stretch>
            </a:blipFill>
          </p:spPr>
        </p:sp>
        <p:sp>
          <p:nvSpPr>
            <p:cNvPr name="TextBox 34" id="34"/>
            <p:cNvSpPr txBox="true"/>
            <p:nvPr/>
          </p:nvSpPr>
          <p:spPr>
            <a:xfrm>
              <a:off x="0" y="0"/>
              <a:ext cx="325438" cy="406997"/>
            </a:xfrm>
            <a:prstGeom prst="rect">
              <a:avLst/>
            </a:prstGeom>
          </p:spPr>
          <p:txBody>
            <a:bodyPr anchor="ctr" rtlCol="false" tIns="0" lIns="0" bIns="0" rIns="0"/>
            <a:lstStyle/>
            <a:p>
              <a:pPr algn="ctr">
                <a:lnSpc>
                  <a:spcPts val="2280"/>
                </a:lnSpc>
              </a:pPr>
              <a:r>
                <a:rPr lang="en-US" sz="1900">
                  <a:solidFill>
                    <a:srgbClr val="404155"/>
                  </a:solidFill>
                  <a:latin typeface="Corben"/>
                  <a:ea typeface="Corben"/>
                  <a:cs typeface="Corben"/>
                  <a:sym typeface="Corben"/>
                </a:rPr>
                <a:t>4</a:t>
              </a:r>
            </a:p>
          </p:txBody>
        </p:sp>
      </p:grpSp>
      <p:sp>
        <p:nvSpPr>
          <p:cNvPr name="TextBox 35" id="35"/>
          <p:cNvSpPr txBox="true"/>
          <p:nvPr/>
        </p:nvSpPr>
        <p:spPr>
          <a:xfrm rot="0">
            <a:off x="3482426" y="5169398"/>
            <a:ext cx="2678754" cy="263719"/>
          </a:xfrm>
          <a:prstGeom prst="rect">
            <a:avLst/>
          </a:prstGeom>
        </p:spPr>
        <p:txBody>
          <a:bodyPr anchor="t" rtlCol="false" tIns="0" lIns="0" bIns="0" rIns="0">
            <a:spAutoFit/>
          </a:bodyPr>
          <a:lstStyle/>
          <a:p>
            <a:pPr algn="l">
              <a:lnSpc>
                <a:spcPts val="2000"/>
              </a:lnSpc>
            </a:pPr>
            <a:r>
              <a:rPr lang="en-US" sz="1600">
                <a:solidFill>
                  <a:srgbClr val="404155"/>
                </a:solidFill>
                <a:latin typeface="Corben"/>
                <a:ea typeface="Corben"/>
                <a:cs typeface="Corben"/>
                <a:sym typeface="Corben"/>
              </a:rPr>
              <a:t>User3 approves the message</a:t>
            </a:r>
          </a:p>
        </p:txBody>
      </p:sp>
      <p:grpSp>
        <p:nvGrpSpPr>
          <p:cNvPr name="Group 36" id="36"/>
          <p:cNvGrpSpPr/>
          <p:nvPr/>
        </p:nvGrpSpPr>
        <p:grpSpPr>
          <a:xfrm rot="0">
            <a:off x="2719835" y="6094952"/>
            <a:ext cx="660654" cy="986285"/>
            <a:chOff x="0" y="0"/>
            <a:chExt cx="880872" cy="1315047"/>
          </a:xfrm>
        </p:grpSpPr>
        <p:sp>
          <p:nvSpPr>
            <p:cNvPr name="Freeform 37" id="37"/>
            <p:cNvSpPr/>
            <p:nvPr/>
          </p:nvSpPr>
          <p:spPr>
            <a:xfrm flipH="false" flipV="false" rot="0">
              <a:off x="6350" y="6350"/>
              <a:ext cx="868172" cy="1302258"/>
            </a:xfrm>
            <a:custGeom>
              <a:avLst/>
              <a:gdLst/>
              <a:ahLst/>
              <a:cxnLst/>
              <a:rect r="r" b="b" t="t" l="l"/>
              <a:pathLst>
                <a:path h="1302258" w="868172">
                  <a:moveTo>
                    <a:pt x="0" y="436118"/>
                  </a:moveTo>
                  <a:cubicBezTo>
                    <a:pt x="0" y="195326"/>
                    <a:pt x="194310" y="0"/>
                    <a:pt x="434086" y="0"/>
                  </a:cubicBezTo>
                  <a:cubicBezTo>
                    <a:pt x="673862" y="0"/>
                    <a:pt x="868172" y="195326"/>
                    <a:pt x="868172" y="436118"/>
                  </a:cubicBezTo>
                  <a:lnTo>
                    <a:pt x="868172" y="866140"/>
                  </a:lnTo>
                  <a:cubicBezTo>
                    <a:pt x="868172" y="1107059"/>
                    <a:pt x="673862" y="1302258"/>
                    <a:pt x="434086" y="1302258"/>
                  </a:cubicBezTo>
                  <a:cubicBezTo>
                    <a:pt x="194310" y="1302258"/>
                    <a:pt x="0" y="1107059"/>
                    <a:pt x="0" y="866140"/>
                  </a:cubicBezTo>
                  <a:close/>
                </a:path>
              </a:pathLst>
            </a:custGeom>
            <a:solidFill>
              <a:srgbClr val="D2D9F9"/>
            </a:solidFill>
          </p:spPr>
        </p:sp>
        <p:sp>
          <p:nvSpPr>
            <p:cNvPr name="Freeform 38" id="38"/>
            <p:cNvSpPr/>
            <p:nvPr/>
          </p:nvSpPr>
          <p:spPr>
            <a:xfrm flipH="false" flipV="false" rot="0">
              <a:off x="0" y="0"/>
              <a:ext cx="880872" cy="1314958"/>
            </a:xfrm>
            <a:custGeom>
              <a:avLst/>
              <a:gdLst/>
              <a:ahLst/>
              <a:cxnLst/>
              <a:rect r="r" b="b" t="t" l="l"/>
              <a:pathLst>
                <a:path h="1314958" w="880872">
                  <a:moveTo>
                    <a:pt x="0" y="442468"/>
                  </a:moveTo>
                  <a:cubicBezTo>
                    <a:pt x="0" y="198120"/>
                    <a:pt x="197104" y="0"/>
                    <a:pt x="440436" y="0"/>
                  </a:cubicBezTo>
                  <a:cubicBezTo>
                    <a:pt x="443992" y="0"/>
                    <a:pt x="446786" y="2794"/>
                    <a:pt x="446786" y="6350"/>
                  </a:cubicBezTo>
                  <a:lnTo>
                    <a:pt x="440436" y="6350"/>
                  </a:lnTo>
                  <a:lnTo>
                    <a:pt x="440436" y="0"/>
                  </a:lnTo>
                  <a:lnTo>
                    <a:pt x="440436" y="6350"/>
                  </a:lnTo>
                  <a:lnTo>
                    <a:pt x="440436" y="0"/>
                  </a:lnTo>
                  <a:cubicBezTo>
                    <a:pt x="683768" y="0"/>
                    <a:pt x="880872" y="198120"/>
                    <a:pt x="880872" y="442468"/>
                  </a:cubicBezTo>
                  <a:lnTo>
                    <a:pt x="880872" y="872490"/>
                  </a:lnTo>
                  <a:lnTo>
                    <a:pt x="874522" y="872490"/>
                  </a:lnTo>
                  <a:lnTo>
                    <a:pt x="880872" y="872490"/>
                  </a:lnTo>
                  <a:cubicBezTo>
                    <a:pt x="880872" y="1116838"/>
                    <a:pt x="683768" y="1314958"/>
                    <a:pt x="440436" y="1314958"/>
                  </a:cubicBezTo>
                  <a:lnTo>
                    <a:pt x="440436" y="1308608"/>
                  </a:lnTo>
                  <a:lnTo>
                    <a:pt x="440436" y="1314958"/>
                  </a:lnTo>
                  <a:cubicBezTo>
                    <a:pt x="197104" y="1315085"/>
                    <a:pt x="0" y="1116838"/>
                    <a:pt x="0" y="872490"/>
                  </a:cubicBezTo>
                  <a:lnTo>
                    <a:pt x="0" y="442468"/>
                  </a:lnTo>
                  <a:lnTo>
                    <a:pt x="6350" y="442468"/>
                  </a:lnTo>
                  <a:lnTo>
                    <a:pt x="0" y="442468"/>
                  </a:lnTo>
                  <a:moveTo>
                    <a:pt x="12700" y="442468"/>
                  </a:moveTo>
                  <a:lnTo>
                    <a:pt x="12700" y="872490"/>
                  </a:lnTo>
                  <a:lnTo>
                    <a:pt x="6350" y="872490"/>
                  </a:lnTo>
                  <a:lnTo>
                    <a:pt x="12700" y="872490"/>
                  </a:lnTo>
                  <a:cubicBezTo>
                    <a:pt x="12700" y="1109853"/>
                    <a:pt x="204216" y="1302258"/>
                    <a:pt x="440436" y="1302258"/>
                  </a:cubicBezTo>
                  <a:cubicBezTo>
                    <a:pt x="676656" y="1302258"/>
                    <a:pt x="868172" y="1109980"/>
                    <a:pt x="868172" y="872490"/>
                  </a:cubicBezTo>
                  <a:lnTo>
                    <a:pt x="868172" y="442468"/>
                  </a:lnTo>
                  <a:lnTo>
                    <a:pt x="874522" y="442468"/>
                  </a:lnTo>
                  <a:lnTo>
                    <a:pt x="868172" y="442468"/>
                  </a:lnTo>
                  <a:cubicBezTo>
                    <a:pt x="868172" y="205105"/>
                    <a:pt x="676656" y="12700"/>
                    <a:pt x="440436" y="12700"/>
                  </a:cubicBezTo>
                  <a:cubicBezTo>
                    <a:pt x="436880" y="12700"/>
                    <a:pt x="434086" y="9906"/>
                    <a:pt x="434086" y="6350"/>
                  </a:cubicBezTo>
                  <a:lnTo>
                    <a:pt x="440436" y="6350"/>
                  </a:lnTo>
                  <a:lnTo>
                    <a:pt x="440436" y="12700"/>
                  </a:lnTo>
                  <a:cubicBezTo>
                    <a:pt x="204216" y="12700"/>
                    <a:pt x="12700" y="205105"/>
                    <a:pt x="12700" y="442468"/>
                  </a:cubicBezTo>
                  <a:close/>
                </a:path>
              </a:pathLst>
            </a:custGeom>
            <a:solidFill>
              <a:srgbClr val="B8BFDF"/>
            </a:solidFill>
          </p:spPr>
        </p:sp>
      </p:grpSp>
      <p:grpSp>
        <p:nvGrpSpPr>
          <p:cNvPr name="Group 39" id="39"/>
          <p:cNvGrpSpPr/>
          <p:nvPr/>
        </p:nvGrpSpPr>
        <p:grpSpPr>
          <a:xfrm rot="0">
            <a:off x="2928042" y="6435481"/>
            <a:ext cx="244078" cy="305248"/>
            <a:chOff x="0" y="0"/>
            <a:chExt cx="325438" cy="406997"/>
          </a:xfrm>
        </p:grpSpPr>
        <p:sp>
          <p:nvSpPr>
            <p:cNvPr name="Freeform 40" id="40"/>
            <p:cNvSpPr/>
            <p:nvPr/>
          </p:nvSpPr>
          <p:spPr>
            <a:xfrm flipH="false" flipV="false" rot="0">
              <a:off x="0" y="0"/>
              <a:ext cx="325437" cy="406995"/>
            </a:xfrm>
            <a:custGeom>
              <a:avLst/>
              <a:gdLst/>
              <a:ahLst/>
              <a:cxnLst/>
              <a:rect r="r" b="b" t="t" l="l"/>
              <a:pathLst>
                <a:path h="406995" w="325437">
                  <a:moveTo>
                    <a:pt x="0" y="0"/>
                  </a:moveTo>
                  <a:lnTo>
                    <a:pt x="325437" y="0"/>
                  </a:lnTo>
                  <a:lnTo>
                    <a:pt x="325437" y="406995"/>
                  </a:lnTo>
                  <a:lnTo>
                    <a:pt x="0" y="406995"/>
                  </a:lnTo>
                  <a:close/>
                </a:path>
              </a:pathLst>
            </a:custGeom>
            <a:blipFill>
              <a:blip r:embed="rId4">
                <a:alphaModFix amt="0"/>
              </a:blip>
              <a:stretch>
                <a:fillRect l="-110458" t="0" r="-110458" b="0"/>
              </a:stretch>
            </a:blipFill>
          </p:spPr>
        </p:sp>
        <p:sp>
          <p:nvSpPr>
            <p:cNvPr name="TextBox 41" id="41"/>
            <p:cNvSpPr txBox="true"/>
            <p:nvPr/>
          </p:nvSpPr>
          <p:spPr>
            <a:xfrm>
              <a:off x="0" y="0"/>
              <a:ext cx="325438" cy="406997"/>
            </a:xfrm>
            <a:prstGeom prst="rect">
              <a:avLst/>
            </a:prstGeom>
          </p:spPr>
          <p:txBody>
            <a:bodyPr anchor="ctr" rtlCol="false" tIns="0" lIns="0" bIns="0" rIns="0"/>
            <a:lstStyle/>
            <a:p>
              <a:pPr algn="ctr">
                <a:lnSpc>
                  <a:spcPts val="2280"/>
                </a:lnSpc>
              </a:pPr>
              <a:r>
                <a:rPr lang="en-US" sz="1900">
                  <a:solidFill>
                    <a:srgbClr val="404155"/>
                  </a:solidFill>
                  <a:latin typeface="Corben"/>
                  <a:ea typeface="Corben"/>
                  <a:cs typeface="Corben"/>
                  <a:sym typeface="Corben"/>
                </a:rPr>
                <a:t>5</a:t>
              </a:r>
            </a:p>
          </p:txBody>
        </p:sp>
      </p:grpSp>
      <p:sp>
        <p:nvSpPr>
          <p:cNvPr name="TextBox 42" id="42"/>
          <p:cNvSpPr txBox="true"/>
          <p:nvPr/>
        </p:nvSpPr>
        <p:spPr>
          <a:xfrm rot="0">
            <a:off x="3482426" y="6252867"/>
            <a:ext cx="2667895" cy="263719"/>
          </a:xfrm>
          <a:prstGeom prst="rect">
            <a:avLst/>
          </a:prstGeom>
        </p:spPr>
        <p:txBody>
          <a:bodyPr anchor="t" rtlCol="false" tIns="0" lIns="0" bIns="0" rIns="0">
            <a:spAutoFit/>
          </a:bodyPr>
          <a:lstStyle/>
          <a:p>
            <a:pPr algn="l">
              <a:lnSpc>
                <a:spcPts val="2000"/>
              </a:lnSpc>
            </a:pPr>
            <a:r>
              <a:rPr lang="en-US" sz="1600">
                <a:solidFill>
                  <a:srgbClr val="404155"/>
                </a:solidFill>
                <a:latin typeface="Corben"/>
                <a:ea typeface="Corben"/>
                <a:cs typeface="Corben"/>
                <a:sym typeface="Corben"/>
              </a:rPr>
              <a:t>User4 approves the message</a:t>
            </a:r>
          </a:p>
        </p:txBody>
      </p:sp>
      <p:grpSp>
        <p:nvGrpSpPr>
          <p:cNvPr name="Group 43" id="43"/>
          <p:cNvGrpSpPr/>
          <p:nvPr/>
        </p:nvGrpSpPr>
        <p:grpSpPr>
          <a:xfrm rot="0">
            <a:off x="2719835" y="7178431"/>
            <a:ext cx="660654" cy="986285"/>
            <a:chOff x="0" y="0"/>
            <a:chExt cx="880872" cy="1315047"/>
          </a:xfrm>
        </p:grpSpPr>
        <p:sp>
          <p:nvSpPr>
            <p:cNvPr name="Freeform 44" id="44"/>
            <p:cNvSpPr/>
            <p:nvPr/>
          </p:nvSpPr>
          <p:spPr>
            <a:xfrm flipH="false" flipV="false" rot="0">
              <a:off x="6350" y="6350"/>
              <a:ext cx="868172" cy="1302258"/>
            </a:xfrm>
            <a:custGeom>
              <a:avLst/>
              <a:gdLst/>
              <a:ahLst/>
              <a:cxnLst/>
              <a:rect r="r" b="b" t="t" l="l"/>
              <a:pathLst>
                <a:path h="1302258" w="868172">
                  <a:moveTo>
                    <a:pt x="0" y="436118"/>
                  </a:moveTo>
                  <a:cubicBezTo>
                    <a:pt x="0" y="195326"/>
                    <a:pt x="194310" y="0"/>
                    <a:pt x="434086" y="0"/>
                  </a:cubicBezTo>
                  <a:cubicBezTo>
                    <a:pt x="673862" y="0"/>
                    <a:pt x="868172" y="195326"/>
                    <a:pt x="868172" y="436118"/>
                  </a:cubicBezTo>
                  <a:lnTo>
                    <a:pt x="868172" y="866140"/>
                  </a:lnTo>
                  <a:cubicBezTo>
                    <a:pt x="868172" y="1107059"/>
                    <a:pt x="673862" y="1302258"/>
                    <a:pt x="434086" y="1302258"/>
                  </a:cubicBezTo>
                  <a:cubicBezTo>
                    <a:pt x="194310" y="1302258"/>
                    <a:pt x="0" y="1107059"/>
                    <a:pt x="0" y="866140"/>
                  </a:cubicBezTo>
                  <a:close/>
                </a:path>
              </a:pathLst>
            </a:custGeom>
            <a:solidFill>
              <a:srgbClr val="D2D9F9"/>
            </a:solidFill>
          </p:spPr>
        </p:sp>
        <p:sp>
          <p:nvSpPr>
            <p:cNvPr name="Freeform 45" id="45"/>
            <p:cNvSpPr/>
            <p:nvPr/>
          </p:nvSpPr>
          <p:spPr>
            <a:xfrm flipH="false" flipV="false" rot="0">
              <a:off x="0" y="0"/>
              <a:ext cx="880872" cy="1314958"/>
            </a:xfrm>
            <a:custGeom>
              <a:avLst/>
              <a:gdLst/>
              <a:ahLst/>
              <a:cxnLst/>
              <a:rect r="r" b="b" t="t" l="l"/>
              <a:pathLst>
                <a:path h="1314958" w="880872">
                  <a:moveTo>
                    <a:pt x="0" y="442468"/>
                  </a:moveTo>
                  <a:cubicBezTo>
                    <a:pt x="0" y="198120"/>
                    <a:pt x="197104" y="0"/>
                    <a:pt x="440436" y="0"/>
                  </a:cubicBezTo>
                  <a:cubicBezTo>
                    <a:pt x="443992" y="0"/>
                    <a:pt x="446786" y="2794"/>
                    <a:pt x="446786" y="6350"/>
                  </a:cubicBezTo>
                  <a:lnTo>
                    <a:pt x="440436" y="6350"/>
                  </a:lnTo>
                  <a:lnTo>
                    <a:pt x="440436" y="0"/>
                  </a:lnTo>
                  <a:lnTo>
                    <a:pt x="440436" y="6350"/>
                  </a:lnTo>
                  <a:lnTo>
                    <a:pt x="440436" y="0"/>
                  </a:lnTo>
                  <a:cubicBezTo>
                    <a:pt x="683768" y="0"/>
                    <a:pt x="880872" y="198120"/>
                    <a:pt x="880872" y="442468"/>
                  </a:cubicBezTo>
                  <a:lnTo>
                    <a:pt x="880872" y="872490"/>
                  </a:lnTo>
                  <a:lnTo>
                    <a:pt x="874522" y="872490"/>
                  </a:lnTo>
                  <a:lnTo>
                    <a:pt x="880872" y="872490"/>
                  </a:lnTo>
                  <a:cubicBezTo>
                    <a:pt x="880872" y="1116838"/>
                    <a:pt x="683768" y="1314958"/>
                    <a:pt x="440436" y="1314958"/>
                  </a:cubicBezTo>
                  <a:lnTo>
                    <a:pt x="440436" y="1308608"/>
                  </a:lnTo>
                  <a:lnTo>
                    <a:pt x="440436" y="1314958"/>
                  </a:lnTo>
                  <a:cubicBezTo>
                    <a:pt x="197104" y="1315085"/>
                    <a:pt x="0" y="1116838"/>
                    <a:pt x="0" y="872490"/>
                  </a:cubicBezTo>
                  <a:lnTo>
                    <a:pt x="0" y="442468"/>
                  </a:lnTo>
                  <a:lnTo>
                    <a:pt x="6350" y="442468"/>
                  </a:lnTo>
                  <a:lnTo>
                    <a:pt x="0" y="442468"/>
                  </a:lnTo>
                  <a:moveTo>
                    <a:pt x="12700" y="442468"/>
                  </a:moveTo>
                  <a:lnTo>
                    <a:pt x="12700" y="872490"/>
                  </a:lnTo>
                  <a:lnTo>
                    <a:pt x="6350" y="872490"/>
                  </a:lnTo>
                  <a:lnTo>
                    <a:pt x="12700" y="872490"/>
                  </a:lnTo>
                  <a:cubicBezTo>
                    <a:pt x="12700" y="1109853"/>
                    <a:pt x="204216" y="1302258"/>
                    <a:pt x="440436" y="1302258"/>
                  </a:cubicBezTo>
                  <a:cubicBezTo>
                    <a:pt x="676656" y="1302258"/>
                    <a:pt x="868172" y="1109980"/>
                    <a:pt x="868172" y="872490"/>
                  </a:cubicBezTo>
                  <a:lnTo>
                    <a:pt x="868172" y="442468"/>
                  </a:lnTo>
                  <a:lnTo>
                    <a:pt x="874522" y="442468"/>
                  </a:lnTo>
                  <a:lnTo>
                    <a:pt x="868172" y="442468"/>
                  </a:lnTo>
                  <a:cubicBezTo>
                    <a:pt x="868172" y="205105"/>
                    <a:pt x="676656" y="12700"/>
                    <a:pt x="440436" y="12700"/>
                  </a:cubicBezTo>
                  <a:cubicBezTo>
                    <a:pt x="436880" y="12700"/>
                    <a:pt x="434086" y="9906"/>
                    <a:pt x="434086" y="6350"/>
                  </a:cubicBezTo>
                  <a:lnTo>
                    <a:pt x="440436" y="6350"/>
                  </a:lnTo>
                  <a:lnTo>
                    <a:pt x="440436" y="12700"/>
                  </a:lnTo>
                  <a:cubicBezTo>
                    <a:pt x="204216" y="12700"/>
                    <a:pt x="12700" y="205105"/>
                    <a:pt x="12700" y="442468"/>
                  </a:cubicBezTo>
                  <a:close/>
                </a:path>
              </a:pathLst>
            </a:custGeom>
            <a:solidFill>
              <a:srgbClr val="B8BFDF"/>
            </a:solidFill>
          </p:spPr>
        </p:sp>
      </p:grpSp>
      <p:grpSp>
        <p:nvGrpSpPr>
          <p:cNvPr name="Group 46" id="46"/>
          <p:cNvGrpSpPr/>
          <p:nvPr/>
        </p:nvGrpSpPr>
        <p:grpSpPr>
          <a:xfrm rot="0">
            <a:off x="2928042" y="7518949"/>
            <a:ext cx="244078" cy="305248"/>
            <a:chOff x="0" y="0"/>
            <a:chExt cx="325438" cy="406997"/>
          </a:xfrm>
        </p:grpSpPr>
        <p:sp>
          <p:nvSpPr>
            <p:cNvPr name="Freeform 47" id="47"/>
            <p:cNvSpPr/>
            <p:nvPr/>
          </p:nvSpPr>
          <p:spPr>
            <a:xfrm flipH="false" flipV="false" rot="0">
              <a:off x="0" y="0"/>
              <a:ext cx="325437" cy="406995"/>
            </a:xfrm>
            <a:custGeom>
              <a:avLst/>
              <a:gdLst/>
              <a:ahLst/>
              <a:cxnLst/>
              <a:rect r="r" b="b" t="t" l="l"/>
              <a:pathLst>
                <a:path h="406995" w="325437">
                  <a:moveTo>
                    <a:pt x="0" y="0"/>
                  </a:moveTo>
                  <a:lnTo>
                    <a:pt x="325437" y="0"/>
                  </a:lnTo>
                  <a:lnTo>
                    <a:pt x="325437" y="406995"/>
                  </a:lnTo>
                  <a:lnTo>
                    <a:pt x="0" y="406995"/>
                  </a:lnTo>
                  <a:close/>
                </a:path>
              </a:pathLst>
            </a:custGeom>
            <a:blipFill>
              <a:blip r:embed="rId4">
                <a:alphaModFix amt="0"/>
              </a:blip>
              <a:stretch>
                <a:fillRect l="-110458" t="0" r="-110458" b="0"/>
              </a:stretch>
            </a:blipFill>
          </p:spPr>
        </p:sp>
        <p:sp>
          <p:nvSpPr>
            <p:cNvPr name="TextBox 48" id="48"/>
            <p:cNvSpPr txBox="true"/>
            <p:nvPr/>
          </p:nvSpPr>
          <p:spPr>
            <a:xfrm>
              <a:off x="0" y="0"/>
              <a:ext cx="325438" cy="406997"/>
            </a:xfrm>
            <a:prstGeom prst="rect">
              <a:avLst/>
            </a:prstGeom>
          </p:spPr>
          <p:txBody>
            <a:bodyPr anchor="ctr" rtlCol="false" tIns="0" lIns="0" bIns="0" rIns="0"/>
            <a:lstStyle/>
            <a:p>
              <a:pPr algn="ctr">
                <a:lnSpc>
                  <a:spcPts val="2280"/>
                </a:lnSpc>
              </a:pPr>
              <a:r>
                <a:rPr lang="en-US" sz="1900">
                  <a:solidFill>
                    <a:srgbClr val="404155"/>
                  </a:solidFill>
                  <a:latin typeface="Corben"/>
                  <a:ea typeface="Corben"/>
                  <a:cs typeface="Corben"/>
                  <a:sym typeface="Corben"/>
                </a:rPr>
                <a:t>6</a:t>
              </a:r>
            </a:p>
          </p:txBody>
        </p:sp>
      </p:grpSp>
      <p:sp>
        <p:nvSpPr>
          <p:cNvPr name="TextBox 49" id="49"/>
          <p:cNvSpPr txBox="true"/>
          <p:nvPr/>
        </p:nvSpPr>
        <p:spPr>
          <a:xfrm rot="0">
            <a:off x="3482426" y="7336336"/>
            <a:ext cx="2190302" cy="263719"/>
          </a:xfrm>
          <a:prstGeom prst="rect">
            <a:avLst/>
          </a:prstGeom>
        </p:spPr>
        <p:txBody>
          <a:bodyPr anchor="t" rtlCol="false" tIns="0" lIns="0" bIns="0" rIns="0">
            <a:spAutoFit/>
          </a:bodyPr>
          <a:lstStyle/>
          <a:p>
            <a:pPr algn="l">
              <a:lnSpc>
                <a:spcPts val="2000"/>
              </a:lnSpc>
            </a:pPr>
            <a:r>
              <a:rPr lang="en-US" sz="1600">
                <a:solidFill>
                  <a:srgbClr val="404155"/>
                </a:solidFill>
                <a:latin typeface="Corben"/>
                <a:ea typeface="Corben"/>
                <a:cs typeface="Corben"/>
                <a:sym typeface="Corben"/>
              </a:rPr>
              <a:t>System unlocks the file</a:t>
            </a:r>
          </a:p>
        </p:txBody>
      </p:sp>
      <p:grpSp>
        <p:nvGrpSpPr>
          <p:cNvPr name="Group 50" id="50"/>
          <p:cNvGrpSpPr/>
          <p:nvPr/>
        </p:nvGrpSpPr>
        <p:grpSpPr>
          <a:xfrm rot="0">
            <a:off x="2719835" y="8261899"/>
            <a:ext cx="660654" cy="986285"/>
            <a:chOff x="0" y="0"/>
            <a:chExt cx="880872" cy="1315047"/>
          </a:xfrm>
        </p:grpSpPr>
        <p:sp>
          <p:nvSpPr>
            <p:cNvPr name="Freeform 51" id="51"/>
            <p:cNvSpPr/>
            <p:nvPr/>
          </p:nvSpPr>
          <p:spPr>
            <a:xfrm flipH="false" flipV="false" rot="0">
              <a:off x="6350" y="6350"/>
              <a:ext cx="868172" cy="1302258"/>
            </a:xfrm>
            <a:custGeom>
              <a:avLst/>
              <a:gdLst/>
              <a:ahLst/>
              <a:cxnLst/>
              <a:rect r="r" b="b" t="t" l="l"/>
              <a:pathLst>
                <a:path h="1302258" w="868172">
                  <a:moveTo>
                    <a:pt x="0" y="436118"/>
                  </a:moveTo>
                  <a:cubicBezTo>
                    <a:pt x="0" y="195326"/>
                    <a:pt x="194310" y="0"/>
                    <a:pt x="434086" y="0"/>
                  </a:cubicBezTo>
                  <a:cubicBezTo>
                    <a:pt x="673862" y="0"/>
                    <a:pt x="868172" y="195326"/>
                    <a:pt x="868172" y="436118"/>
                  </a:cubicBezTo>
                  <a:lnTo>
                    <a:pt x="868172" y="866140"/>
                  </a:lnTo>
                  <a:cubicBezTo>
                    <a:pt x="868172" y="1107059"/>
                    <a:pt x="673862" y="1302258"/>
                    <a:pt x="434086" y="1302258"/>
                  </a:cubicBezTo>
                  <a:cubicBezTo>
                    <a:pt x="194310" y="1302258"/>
                    <a:pt x="0" y="1107059"/>
                    <a:pt x="0" y="866140"/>
                  </a:cubicBezTo>
                  <a:close/>
                </a:path>
              </a:pathLst>
            </a:custGeom>
            <a:solidFill>
              <a:srgbClr val="D2D9F9"/>
            </a:solidFill>
          </p:spPr>
        </p:sp>
        <p:sp>
          <p:nvSpPr>
            <p:cNvPr name="Freeform 52" id="52"/>
            <p:cNvSpPr/>
            <p:nvPr/>
          </p:nvSpPr>
          <p:spPr>
            <a:xfrm flipH="false" flipV="false" rot="0">
              <a:off x="0" y="0"/>
              <a:ext cx="880872" cy="1314958"/>
            </a:xfrm>
            <a:custGeom>
              <a:avLst/>
              <a:gdLst/>
              <a:ahLst/>
              <a:cxnLst/>
              <a:rect r="r" b="b" t="t" l="l"/>
              <a:pathLst>
                <a:path h="1314958" w="880872">
                  <a:moveTo>
                    <a:pt x="0" y="442468"/>
                  </a:moveTo>
                  <a:cubicBezTo>
                    <a:pt x="0" y="198120"/>
                    <a:pt x="197104" y="0"/>
                    <a:pt x="440436" y="0"/>
                  </a:cubicBezTo>
                  <a:cubicBezTo>
                    <a:pt x="443992" y="0"/>
                    <a:pt x="446786" y="2794"/>
                    <a:pt x="446786" y="6350"/>
                  </a:cubicBezTo>
                  <a:lnTo>
                    <a:pt x="440436" y="6350"/>
                  </a:lnTo>
                  <a:lnTo>
                    <a:pt x="440436" y="0"/>
                  </a:lnTo>
                  <a:lnTo>
                    <a:pt x="440436" y="6350"/>
                  </a:lnTo>
                  <a:lnTo>
                    <a:pt x="440436" y="0"/>
                  </a:lnTo>
                  <a:cubicBezTo>
                    <a:pt x="683768" y="0"/>
                    <a:pt x="880872" y="198120"/>
                    <a:pt x="880872" y="442468"/>
                  </a:cubicBezTo>
                  <a:lnTo>
                    <a:pt x="880872" y="872490"/>
                  </a:lnTo>
                  <a:lnTo>
                    <a:pt x="874522" y="872490"/>
                  </a:lnTo>
                  <a:lnTo>
                    <a:pt x="880872" y="872490"/>
                  </a:lnTo>
                  <a:cubicBezTo>
                    <a:pt x="880872" y="1116838"/>
                    <a:pt x="683768" y="1314958"/>
                    <a:pt x="440436" y="1314958"/>
                  </a:cubicBezTo>
                  <a:lnTo>
                    <a:pt x="440436" y="1308608"/>
                  </a:lnTo>
                  <a:lnTo>
                    <a:pt x="440436" y="1314958"/>
                  </a:lnTo>
                  <a:cubicBezTo>
                    <a:pt x="197104" y="1315085"/>
                    <a:pt x="0" y="1116838"/>
                    <a:pt x="0" y="872490"/>
                  </a:cubicBezTo>
                  <a:lnTo>
                    <a:pt x="0" y="442468"/>
                  </a:lnTo>
                  <a:lnTo>
                    <a:pt x="6350" y="442468"/>
                  </a:lnTo>
                  <a:lnTo>
                    <a:pt x="0" y="442468"/>
                  </a:lnTo>
                  <a:moveTo>
                    <a:pt x="12700" y="442468"/>
                  </a:moveTo>
                  <a:lnTo>
                    <a:pt x="12700" y="872490"/>
                  </a:lnTo>
                  <a:lnTo>
                    <a:pt x="6350" y="872490"/>
                  </a:lnTo>
                  <a:lnTo>
                    <a:pt x="12700" y="872490"/>
                  </a:lnTo>
                  <a:cubicBezTo>
                    <a:pt x="12700" y="1109853"/>
                    <a:pt x="204216" y="1302258"/>
                    <a:pt x="440436" y="1302258"/>
                  </a:cubicBezTo>
                  <a:cubicBezTo>
                    <a:pt x="676656" y="1302258"/>
                    <a:pt x="868172" y="1109980"/>
                    <a:pt x="868172" y="872490"/>
                  </a:cubicBezTo>
                  <a:lnTo>
                    <a:pt x="868172" y="442468"/>
                  </a:lnTo>
                  <a:lnTo>
                    <a:pt x="874522" y="442468"/>
                  </a:lnTo>
                  <a:lnTo>
                    <a:pt x="868172" y="442468"/>
                  </a:lnTo>
                  <a:cubicBezTo>
                    <a:pt x="868172" y="205105"/>
                    <a:pt x="676656" y="12700"/>
                    <a:pt x="440436" y="12700"/>
                  </a:cubicBezTo>
                  <a:cubicBezTo>
                    <a:pt x="436880" y="12700"/>
                    <a:pt x="434086" y="9906"/>
                    <a:pt x="434086" y="6350"/>
                  </a:cubicBezTo>
                  <a:lnTo>
                    <a:pt x="440436" y="6350"/>
                  </a:lnTo>
                  <a:lnTo>
                    <a:pt x="440436" y="12700"/>
                  </a:lnTo>
                  <a:cubicBezTo>
                    <a:pt x="204216" y="12700"/>
                    <a:pt x="12700" y="205105"/>
                    <a:pt x="12700" y="442468"/>
                  </a:cubicBezTo>
                  <a:close/>
                </a:path>
              </a:pathLst>
            </a:custGeom>
            <a:solidFill>
              <a:srgbClr val="B8BFDF"/>
            </a:solidFill>
          </p:spPr>
        </p:sp>
      </p:grpSp>
      <p:grpSp>
        <p:nvGrpSpPr>
          <p:cNvPr name="Group 53" id="53"/>
          <p:cNvGrpSpPr/>
          <p:nvPr/>
        </p:nvGrpSpPr>
        <p:grpSpPr>
          <a:xfrm rot="0">
            <a:off x="2928042" y="8602418"/>
            <a:ext cx="244078" cy="305248"/>
            <a:chOff x="0" y="0"/>
            <a:chExt cx="325438" cy="406997"/>
          </a:xfrm>
        </p:grpSpPr>
        <p:sp>
          <p:nvSpPr>
            <p:cNvPr name="Freeform 54" id="54"/>
            <p:cNvSpPr/>
            <p:nvPr/>
          </p:nvSpPr>
          <p:spPr>
            <a:xfrm flipH="false" flipV="false" rot="0">
              <a:off x="0" y="0"/>
              <a:ext cx="325437" cy="406995"/>
            </a:xfrm>
            <a:custGeom>
              <a:avLst/>
              <a:gdLst/>
              <a:ahLst/>
              <a:cxnLst/>
              <a:rect r="r" b="b" t="t" l="l"/>
              <a:pathLst>
                <a:path h="406995" w="325437">
                  <a:moveTo>
                    <a:pt x="0" y="0"/>
                  </a:moveTo>
                  <a:lnTo>
                    <a:pt x="325437" y="0"/>
                  </a:lnTo>
                  <a:lnTo>
                    <a:pt x="325437" y="406995"/>
                  </a:lnTo>
                  <a:lnTo>
                    <a:pt x="0" y="406995"/>
                  </a:lnTo>
                  <a:close/>
                </a:path>
              </a:pathLst>
            </a:custGeom>
            <a:blipFill>
              <a:blip r:embed="rId4">
                <a:alphaModFix amt="0"/>
              </a:blip>
              <a:stretch>
                <a:fillRect l="-110458" t="0" r="-110458" b="0"/>
              </a:stretch>
            </a:blipFill>
          </p:spPr>
        </p:sp>
        <p:sp>
          <p:nvSpPr>
            <p:cNvPr name="TextBox 55" id="55"/>
            <p:cNvSpPr txBox="true"/>
            <p:nvPr/>
          </p:nvSpPr>
          <p:spPr>
            <a:xfrm>
              <a:off x="0" y="0"/>
              <a:ext cx="325438" cy="406997"/>
            </a:xfrm>
            <a:prstGeom prst="rect">
              <a:avLst/>
            </a:prstGeom>
          </p:spPr>
          <p:txBody>
            <a:bodyPr anchor="ctr" rtlCol="false" tIns="0" lIns="0" bIns="0" rIns="0"/>
            <a:lstStyle/>
            <a:p>
              <a:pPr algn="ctr">
                <a:lnSpc>
                  <a:spcPts val="2280"/>
                </a:lnSpc>
              </a:pPr>
              <a:r>
                <a:rPr lang="en-US" sz="1900">
                  <a:solidFill>
                    <a:srgbClr val="404155"/>
                  </a:solidFill>
                  <a:latin typeface="Corben"/>
                  <a:ea typeface="Corben"/>
                  <a:cs typeface="Corben"/>
                  <a:sym typeface="Corben"/>
                </a:rPr>
                <a:t>7</a:t>
              </a:r>
            </a:p>
          </p:txBody>
        </p:sp>
      </p:grpSp>
      <p:sp>
        <p:nvSpPr>
          <p:cNvPr name="TextBox 56" id="56"/>
          <p:cNvSpPr txBox="true"/>
          <p:nvPr/>
        </p:nvSpPr>
        <p:spPr>
          <a:xfrm rot="0">
            <a:off x="3482426" y="8419805"/>
            <a:ext cx="2773118" cy="263719"/>
          </a:xfrm>
          <a:prstGeom prst="rect">
            <a:avLst/>
          </a:prstGeom>
        </p:spPr>
        <p:txBody>
          <a:bodyPr anchor="t" rtlCol="false" tIns="0" lIns="0" bIns="0" rIns="0">
            <a:spAutoFit/>
          </a:bodyPr>
          <a:lstStyle/>
          <a:p>
            <a:pPr algn="l">
              <a:lnSpc>
                <a:spcPts val="2000"/>
              </a:lnSpc>
            </a:pPr>
            <a:r>
              <a:rPr lang="en-US" sz="1600">
                <a:solidFill>
                  <a:srgbClr val="404155"/>
                </a:solidFill>
                <a:latin typeface="Corben"/>
                <a:ea typeface="Corben"/>
                <a:cs typeface="Corben"/>
                <a:sym typeface="Corben"/>
              </a:rPr>
              <a:t>User2 downloads original file</a:t>
            </a:r>
          </a:p>
        </p:txBody>
      </p:sp>
      <p:sp>
        <p:nvSpPr>
          <p:cNvPr name="TextBox 57" id="57"/>
          <p:cNvSpPr txBox="true"/>
          <p:nvPr/>
        </p:nvSpPr>
        <p:spPr>
          <a:xfrm rot="0">
            <a:off x="2724598" y="9325423"/>
            <a:ext cx="12838805" cy="469402"/>
          </a:xfrm>
          <a:prstGeom prst="rect">
            <a:avLst/>
          </a:prstGeom>
        </p:spPr>
        <p:txBody>
          <a:bodyPr anchor="t" rtlCol="false" tIns="0" lIns="0" bIns="0" rIns="0">
            <a:spAutoFit/>
          </a:bodyPr>
          <a:lstStyle/>
          <a:p>
            <a:pPr algn="l">
              <a:lnSpc>
                <a:spcPts val="1600"/>
              </a:lnSpc>
            </a:pPr>
            <a:r>
              <a:rPr lang="en-US" sz="1200">
                <a:solidFill>
                  <a:srgbClr val="404155"/>
                </a:solidFill>
                <a:latin typeface="Arimo"/>
                <a:ea typeface="Arimo"/>
                <a:cs typeface="Arimo"/>
                <a:sym typeface="Arimo"/>
              </a:rPr>
              <a:t>All file actions — sending, approving, downloading — are performed through API calls to the backend. The system preserves original file name, type, and content throughout the workflow.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917524"/>
            <a:ext cx="7823006" cy="813197"/>
          </a:xfrm>
          <a:prstGeom prst="rect">
            <a:avLst/>
          </a:prstGeom>
        </p:spPr>
        <p:txBody>
          <a:bodyPr anchor="t" rtlCol="false" tIns="0" lIns="0" bIns="0" rIns="0">
            <a:spAutoFit/>
          </a:bodyPr>
          <a:lstStyle/>
          <a:p>
            <a:pPr algn="l">
              <a:lnSpc>
                <a:spcPts val="6100"/>
              </a:lnSpc>
            </a:pPr>
            <a:r>
              <a:rPr lang="en-US" sz="4800">
                <a:solidFill>
                  <a:srgbClr val="1B1B27"/>
                </a:solidFill>
                <a:latin typeface="Corben"/>
                <a:ea typeface="Corben"/>
                <a:cs typeface="Corben"/>
                <a:sym typeface="Corben"/>
              </a:rPr>
              <a:t>Applications &amp; Advantages</a:t>
            </a:r>
          </a:p>
        </p:txBody>
      </p:sp>
      <p:sp>
        <p:nvSpPr>
          <p:cNvPr name="TextBox 7" id="7"/>
          <p:cNvSpPr txBox="true"/>
          <p:nvPr/>
        </p:nvSpPr>
        <p:spPr>
          <a:xfrm rot="0">
            <a:off x="992238" y="2131514"/>
            <a:ext cx="16303523" cy="492176"/>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This system has direct applications across multiple high-security domains where controlled, multi-party authorization is essential.</a:t>
            </a:r>
          </a:p>
        </p:txBody>
      </p:sp>
      <p:grpSp>
        <p:nvGrpSpPr>
          <p:cNvPr name="Group 8" id="8"/>
          <p:cNvGrpSpPr/>
          <p:nvPr/>
        </p:nvGrpSpPr>
        <p:grpSpPr>
          <a:xfrm rot="0">
            <a:off x="992238" y="2902744"/>
            <a:ext cx="1690983" cy="1045073"/>
            <a:chOff x="0" y="0"/>
            <a:chExt cx="2254644" cy="1393431"/>
          </a:xfrm>
        </p:grpSpPr>
        <p:sp>
          <p:nvSpPr>
            <p:cNvPr name="Freeform 9" id="9" descr="preencoded.png"/>
            <p:cNvSpPr/>
            <p:nvPr/>
          </p:nvSpPr>
          <p:spPr>
            <a:xfrm flipH="false" flipV="false" rot="0">
              <a:off x="0" y="0"/>
              <a:ext cx="2254631" cy="1393444"/>
            </a:xfrm>
            <a:custGeom>
              <a:avLst/>
              <a:gdLst/>
              <a:ahLst/>
              <a:cxnLst/>
              <a:rect r="r" b="b" t="t" l="l"/>
              <a:pathLst>
                <a:path h="1393444" w="2254631">
                  <a:moveTo>
                    <a:pt x="0" y="0"/>
                  </a:moveTo>
                  <a:lnTo>
                    <a:pt x="2254631" y="0"/>
                  </a:lnTo>
                  <a:lnTo>
                    <a:pt x="2254631" y="1393444"/>
                  </a:lnTo>
                  <a:lnTo>
                    <a:pt x="0" y="1393444"/>
                  </a:lnTo>
                  <a:lnTo>
                    <a:pt x="0" y="0"/>
                  </a:lnTo>
                  <a:close/>
                </a:path>
              </a:pathLst>
            </a:custGeom>
            <a:blipFill>
              <a:blip r:embed="rId4"/>
              <a:stretch>
                <a:fillRect l="-3" t="0" r="-4" b="0"/>
              </a:stretch>
            </a:blipFill>
          </p:spPr>
        </p:sp>
      </p:grpSp>
      <p:sp>
        <p:nvSpPr>
          <p:cNvPr name="TextBox 10" id="10"/>
          <p:cNvSpPr txBox="true"/>
          <p:nvPr/>
        </p:nvSpPr>
        <p:spPr>
          <a:xfrm rot="0">
            <a:off x="992238" y="4248302"/>
            <a:ext cx="3101130" cy="397221"/>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Banking Systems</a:t>
            </a:r>
          </a:p>
        </p:txBody>
      </p:sp>
      <p:sp>
        <p:nvSpPr>
          <p:cNvPr name="TextBox 11" id="11"/>
          <p:cNvSpPr txBox="true"/>
          <p:nvPr/>
        </p:nvSpPr>
        <p:spPr>
          <a:xfrm rot="0">
            <a:off x="992238" y="4699102"/>
            <a:ext cx="3843338" cy="1286027"/>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Sensitive financial documents require multi-level authorization before access.</a:t>
            </a:r>
          </a:p>
        </p:txBody>
      </p:sp>
      <p:grpSp>
        <p:nvGrpSpPr>
          <p:cNvPr name="Group 12" id="12"/>
          <p:cNvGrpSpPr/>
          <p:nvPr/>
        </p:nvGrpSpPr>
        <p:grpSpPr>
          <a:xfrm rot="0">
            <a:off x="5145586" y="2902744"/>
            <a:ext cx="1690983" cy="1045073"/>
            <a:chOff x="0" y="0"/>
            <a:chExt cx="2254644" cy="1393431"/>
          </a:xfrm>
        </p:grpSpPr>
        <p:sp>
          <p:nvSpPr>
            <p:cNvPr name="Freeform 13" id="13" descr="preencoded.png"/>
            <p:cNvSpPr/>
            <p:nvPr/>
          </p:nvSpPr>
          <p:spPr>
            <a:xfrm flipH="false" flipV="false" rot="0">
              <a:off x="0" y="0"/>
              <a:ext cx="2254631" cy="1393444"/>
            </a:xfrm>
            <a:custGeom>
              <a:avLst/>
              <a:gdLst/>
              <a:ahLst/>
              <a:cxnLst/>
              <a:rect r="r" b="b" t="t" l="l"/>
              <a:pathLst>
                <a:path h="1393444" w="2254631">
                  <a:moveTo>
                    <a:pt x="0" y="0"/>
                  </a:moveTo>
                  <a:lnTo>
                    <a:pt x="2254631" y="0"/>
                  </a:lnTo>
                  <a:lnTo>
                    <a:pt x="2254631" y="1393444"/>
                  </a:lnTo>
                  <a:lnTo>
                    <a:pt x="0" y="1393444"/>
                  </a:lnTo>
                  <a:lnTo>
                    <a:pt x="0" y="0"/>
                  </a:lnTo>
                  <a:close/>
                </a:path>
              </a:pathLst>
            </a:custGeom>
            <a:blipFill>
              <a:blip r:embed="rId5"/>
              <a:stretch>
                <a:fillRect l="-3" t="0" r="-4" b="0"/>
              </a:stretch>
            </a:blipFill>
          </p:spPr>
        </p:sp>
      </p:grpSp>
      <p:sp>
        <p:nvSpPr>
          <p:cNvPr name="TextBox 14" id="14"/>
          <p:cNvSpPr txBox="true"/>
          <p:nvPr/>
        </p:nvSpPr>
        <p:spPr>
          <a:xfrm rot="0">
            <a:off x="5145586" y="4248302"/>
            <a:ext cx="3636321" cy="397221"/>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Military Communication</a:t>
            </a:r>
          </a:p>
        </p:txBody>
      </p:sp>
      <p:sp>
        <p:nvSpPr>
          <p:cNvPr name="TextBox 15" id="15"/>
          <p:cNvSpPr txBox="true"/>
          <p:nvPr/>
        </p:nvSpPr>
        <p:spPr>
          <a:xfrm rot="0">
            <a:off x="5145586" y="4699102"/>
            <a:ext cx="3843338" cy="1286027"/>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Confidential mission files protected using threshold authorization.</a:t>
            </a:r>
          </a:p>
        </p:txBody>
      </p:sp>
      <p:grpSp>
        <p:nvGrpSpPr>
          <p:cNvPr name="Group 16" id="16"/>
          <p:cNvGrpSpPr/>
          <p:nvPr/>
        </p:nvGrpSpPr>
        <p:grpSpPr>
          <a:xfrm rot="0">
            <a:off x="9298934" y="2902744"/>
            <a:ext cx="1690983" cy="1045073"/>
            <a:chOff x="0" y="0"/>
            <a:chExt cx="2254644" cy="1393431"/>
          </a:xfrm>
        </p:grpSpPr>
        <p:sp>
          <p:nvSpPr>
            <p:cNvPr name="Freeform 17" id="17" descr="preencoded.png"/>
            <p:cNvSpPr/>
            <p:nvPr/>
          </p:nvSpPr>
          <p:spPr>
            <a:xfrm flipH="false" flipV="false" rot="0">
              <a:off x="0" y="0"/>
              <a:ext cx="2254631" cy="1393444"/>
            </a:xfrm>
            <a:custGeom>
              <a:avLst/>
              <a:gdLst/>
              <a:ahLst/>
              <a:cxnLst/>
              <a:rect r="r" b="b" t="t" l="l"/>
              <a:pathLst>
                <a:path h="1393444" w="2254631">
                  <a:moveTo>
                    <a:pt x="0" y="0"/>
                  </a:moveTo>
                  <a:lnTo>
                    <a:pt x="2254631" y="0"/>
                  </a:lnTo>
                  <a:lnTo>
                    <a:pt x="2254631" y="1393444"/>
                  </a:lnTo>
                  <a:lnTo>
                    <a:pt x="0" y="1393444"/>
                  </a:lnTo>
                  <a:lnTo>
                    <a:pt x="0" y="0"/>
                  </a:lnTo>
                  <a:close/>
                </a:path>
              </a:pathLst>
            </a:custGeom>
            <a:blipFill>
              <a:blip r:embed="rId6"/>
              <a:stretch>
                <a:fillRect l="-3" t="0" r="-4" b="0"/>
              </a:stretch>
            </a:blipFill>
          </p:spPr>
        </p:sp>
      </p:grpSp>
      <p:sp>
        <p:nvSpPr>
          <p:cNvPr name="TextBox 18" id="18"/>
          <p:cNvSpPr txBox="true"/>
          <p:nvPr/>
        </p:nvSpPr>
        <p:spPr>
          <a:xfrm rot="0">
            <a:off x="9298934" y="4248302"/>
            <a:ext cx="3101130" cy="397221"/>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Medical Systems</a:t>
            </a:r>
          </a:p>
        </p:txBody>
      </p:sp>
      <p:sp>
        <p:nvSpPr>
          <p:cNvPr name="TextBox 19" id="19"/>
          <p:cNvSpPr txBox="true"/>
          <p:nvPr/>
        </p:nvSpPr>
        <p:spPr>
          <a:xfrm rot="0">
            <a:off x="9298934" y="4699102"/>
            <a:ext cx="3843338" cy="1286027"/>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Patient records accessed only after approvals from authorized staff.</a:t>
            </a:r>
          </a:p>
        </p:txBody>
      </p:sp>
      <p:grpSp>
        <p:nvGrpSpPr>
          <p:cNvPr name="Group 20" id="20"/>
          <p:cNvGrpSpPr/>
          <p:nvPr/>
        </p:nvGrpSpPr>
        <p:grpSpPr>
          <a:xfrm rot="0">
            <a:off x="13452272" y="2902744"/>
            <a:ext cx="1691135" cy="1045073"/>
            <a:chOff x="0" y="0"/>
            <a:chExt cx="2254847" cy="1393431"/>
          </a:xfrm>
        </p:grpSpPr>
        <p:sp>
          <p:nvSpPr>
            <p:cNvPr name="Freeform 21" id="21" descr="preencoded.png"/>
            <p:cNvSpPr/>
            <p:nvPr/>
          </p:nvSpPr>
          <p:spPr>
            <a:xfrm flipH="false" flipV="false" rot="0">
              <a:off x="0" y="0"/>
              <a:ext cx="2254885" cy="1393444"/>
            </a:xfrm>
            <a:custGeom>
              <a:avLst/>
              <a:gdLst/>
              <a:ahLst/>
              <a:cxnLst/>
              <a:rect r="r" b="b" t="t" l="l"/>
              <a:pathLst>
                <a:path h="1393444" w="2254885">
                  <a:moveTo>
                    <a:pt x="0" y="0"/>
                  </a:moveTo>
                  <a:lnTo>
                    <a:pt x="2254885" y="0"/>
                  </a:lnTo>
                  <a:lnTo>
                    <a:pt x="2254885" y="1393444"/>
                  </a:lnTo>
                  <a:lnTo>
                    <a:pt x="0" y="1393444"/>
                  </a:lnTo>
                  <a:lnTo>
                    <a:pt x="0" y="0"/>
                  </a:lnTo>
                  <a:close/>
                </a:path>
              </a:pathLst>
            </a:custGeom>
            <a:blipFill>
              <a:blip r:embed="rId7"/>
              <a:stretch>
                <a:fillRect l="0" t="0" r="1" b="0"/>
              </a:stretch>
            </a:blipFill>
          </p:spPr>
        </p:sp>
      </p:grpSp>
      <p:sp>
        <p:nvSpPr>
          <p:cNvPr name="TextBox 22" id="22"/>
          <p:cNvSpPr txBox="true"/>
          <p:nvPr/>
        </p:nvSpPr>
        <p:spPr>
          <a:xfrm rot="0">
            <a:off x="13452272" y="4248302"/>
            <a:ext cx="3843490" cy="784917"/>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Enterprise &amp; Cloud Storage</a:t>
            </a:r>
          </a:p>
        </p:txBody>
      </p:sp>
      <p:sp>
        <p:nvSpPr>
          <p:cNvPr name="TextBox 23" id="23"/>
          <p:cNvSpPr txBox="true"/>
          <p:nvPr/>
        </p:nvSpPr>
        <p:spPr>
          <a:xfrm rot="0">
            <a:off x="13452272" y="5086798"/>
            <a:ext cx="3843490" cy="1682944"/>
          </a:xfrm>
          <a:prstGeom prst="rect">
            <a:avLst/>
          </a:prstGeom>
        </p:spPr>
        <p:txBody>
          <a:bodyPr anchor="t" rtlCol="false" tIns="0" lIns="0" bIns="0" rIns="0">
            <a:spAutoFit/>
          </a:bodyPr>
          <a:lstStyle/>
          <a:p>
            <a:pPr algn="l">
              <a:lnSpc>
                <a:spcPts val="3100"/>
              </a:lnSpc>
            </a:pPr>
            <a:r>
              <a:rPr lang="en-US" sz="1900">
                <a:solidFill>
                  <a:srgbClr val="404155"/>
                </a:solidFill>
                <a:latin typeface="Arimo"/>
                <a:ea typeface="Arimo"/>
                <a:cs typeface="Arimo"/>
                <a:sym typeface="Arimo"/>
              </a:rPr>
              <a:t>Corporate files securely shared via encrypted approval workflows; concepts similar to secure cloud document vaults.</a:t>
            </a:r>
          </a:p>
        </p:txBody>
      </p:sp>
      <p:grpSp>
        <p:nvGrpSpPr>
          <p:cNvPr name="Group 24" id="24"/>
          <p:cNvGrpSpPr/>
          <p:nvPr/>
        </p:nvGrpSpPr>
        <p:grpSpPr>
          <a:xfrm rot="0">
            <a:off x="987476" y="7044033"/>
            <a:ext cx="3899449" cy="2291953"/>
            <a:chOff x="0" y="0"/>
            <a:chExt cx="5199266" cy="3055938"/>
          </a:xfrm>
        </p:grpSpPr>
        <p:sp>
          <p:nvSpPr>
            <p:cNvPr name="Freeform 25" id="25"/>
            <p:cNvSpPr/>
            <p:nvPr/>
          </p:nvSpPr>
          <p:spPr>
            <a:xfrm flipH="false" flipV="false" rot="0">
              <a:off x="6350" y="6350"/>
              <a:ext cx="5186553" cy="3043301"/>
            </a:xfrm>
            <a:custGeom>
              <a:avLst/>
              <a:gdLst/>
              <a:ahLst/>
              <a:cxnLst/>
              <a:rect r="r" b="b" t="t" l="l"/>
              <a:pathLst>
                <a:path h="3043301" w="5186553">
                  <a:moveTo>
                    <a:pt x="0" y="138938"/>
                  </a:moveTo>
                  <a:cubicBezTo>
                    <a:pt x="0" y="62230"/>
                    <a:pt x="62357" y="0"/>
                    <a:pt x="139192" y="0"/>
                  </a:cubicBezTo>
                  <a:lnTo>
                    <a:pt x="5047361" y="0"/>
                  </a:lnTo>
                  <a:cubicBezTo>
                    <a:pt x="5124196" y="0"/>
                    <a:pt x="5186553" y="62230"/>
                    <a:pt x="5186553" y="138938"/>
                  </a:cubicBezTo>
                  <a:lnTo>
                    <a:pt x="5186553" y="2904363"/>
                  </a:lnTo>
                  <a:cubicBezTo>
                    <a:pt x="5186553" y="2981071"/>
                    <a:pt x="5124196" y="3043301"/>
                    <a:pt x="5047361" y="3043301"/>
                  </a:cubicBezTo>
                  <a:lnTo>
                    <a:pt x="139192" y="3043301"/>
                  </a:lnTo>
                  <a:cubicBezTo>
                    <a:pt x="62357" y="3043301"/>
                    <a:pt x="0" y="2981071"/>
                    <a:pt x="0" y="2904363"/>
                  </a:cubicBezTo>
                  <a:close/>
                </a:path>
              </a:pathLst>
            </a:custGeom>
            <a:solidFill>
              <a:srgbClr val="D2D9F9"/>
            </a:solidFill>
          </p:spPr>
        </p:sp>
        <p:sp>
          <p:nvSpPr>
            <p:cNvPr name="Freeform 26" id="26"/>
            <p:cNvSpPr/>
            <p:nvPr/>
          </p:nvSpPr>
          <p:spPr>
            <a:xfrm flipH="false" flipV="false" rot="0">
              <a:off x="0" y="0"/>
              <a:ext cx="5199253" cy="3056001"/>
            </a:xfrm>
            <a:custGeom>
              <a:avLst/>
              <a:gdLst/>
              <a:ahLst/>
              <a:cxnLst/>
              <a:rect r="r" b="b" t="t" l="l"/>
              <a:pathLst>
                <a:path h="3056001" w="5199253">
                  <a:moveTo>
                    <a:pt x="0" y="145288"/>
                  </a:moveTo>
                  <a:cubicBezTo>
                    <a:pt x="0" y="65024"/>
                    <a:pt x="65151" y="0"/>
                    <a:pt x="145542" y="0"/>
                  </a:cubicBezTo>
                  <a:lnTo>
                    <a:pt x="5053711" y="0"/>
                  </a:lnTo>
                  <a:lnTo>
                    <a:pt x="5053711" y="6350"/>
                  </a:lnTo>
                  <a:lnTo>
                    <a:pt x="5053711" y="0"/>
                  </a:lnTo>
                  <a:cubicBezTo>
                    <a:pt x="5134102" y="0"/>
                    <a:pt x="5199253" y="65024"/>
                    <a:pt x="5199253" y="145288"/>
                  </a:cubicBezTo>
                  <a:lnTo>
                    <a:pt x="5192903" y="145288"/>
                  </a:lnTo>
                  <a:lnTo>
                    <a:pt x="5199253" y="145288"/>
                  </a:lnTo>
                  <a:lnTo>
                    <a:pt x="5199253" y="2910713"/>
                  </a:lnTo>
                  <a:lnTo>
                    <a:pt x="5192903" y="2910713"/>
                  </a:lnTo>
                  <a:lnTo>
                    <a:pt x="5199253" y="2910713"/>
                  </a:lnTo>
                  <a:cubicBezTo>
                    <a:pt x="5199253" y="2990977"/>
                    <a:pt x="5134102" y="3056001"/>
                    <a:pt x="5053711" y="3056001"/>
                  </a:cubicBezTo>
                  <a:lnTo>
                    <a:pt x="5053711" y="3049651"/>
                  </a:lnTo>
                  <a:lnTo>
                    <a:pt x="5053711" y="3056001"/>
                  </a:lnTo>
                  <a:lnTo>
                    <a:pt x="145542" y="3056001"/>
                  </a:lnTo>
                  <a:lnTo>
                    <a:pt x="145542" y="3049651"/>
                  </a:lnTo>
                  <a:lnTo>
                    <a:pt x="145542" y="3056001"/>
                  </a:lnTo>
                  <a:cubicBezTo>
                    <a:pt x="65151" y="3056001"/>
                    <a:pt x="0" y="2990850"/>
                    <a:pt x="0" y="2910713"/>
                  </a:cubicBezTo>
                  <a:lnTo>
                    <a:pt x="0" y="145288"/>
                  </a:lnTo>
                  <a:lnTo>
                    <a:pt x="6350" y="145288"/>
                  </a:lnTo>
                  <a:lnTo>
                    <a:pt x="0" y="145288"/>
                  </a:lnTo>
                  <a:moveTo>
                    <a:pt x="12700" y="145288"/>
                  </a:moveTo>
                  <a:lnTo>
                    <a:pt x="12700" y="2910713"/>
                  </a:lnTo>
                  <a:lnTo>
                    <a:pt x="6350" y="2910713"/>
                  </a:lnTo>
                  <a:lnTo>
                    <a:pt x="12700" y="2910713"/>
                  </a:lnTo>
                  <a:cubicBezTo>
                    <a:pt x="12700" y="2983865"/>
                    <a:pt x="72136" y="3043301"/>
                    <a:pt x="145542" y="3043301"/>
                  </a:cubicBezTo>
                  <a:lnTo>
                    <a:pt x="5053711" y="3043301"/>
                  </a:lnTo>
                  <a:cubicBezTo>
                    <a:pt x="5127117" y="3043301"/>
                    <a:pt x="5186553" y="2983992"/>
                    <a:pt x="5186553" y="2910713"/>
                  </a:cubicBezTo>
                  <a:lnTo>
                    <a:pt x="5186553" y="145288"/>
                  </a:lnTo>
                  <a:cubicBezTo>
                    <a:pt x="5186553" y="72009"/>
                    <a:pt x="5127117" y="12700"/>
                    <a:pt x="5053711" y="12700"/>
                  </a:cubicBezTo>
                  <a:lnTo>
                    <a:pt x="145542" y="12700"/>
                  </a:lnTo>
                  <a:lnTo>
                    <a:pt x="145542" y="6350"/>
                  </a:lnTo>
                  <a:lnTo>
                    <a:pt x="145542" y="12700"/>
                  </a:lnTo>
                  <a:cubicBezTo>
                    <a:pt x="72136" y="12700"/>
                    <a:pt x="12700" y="72009"/>
                    <a:pt x="12700" y="145288"/>
                  </a:cubicBezTo>
                  <a:close/>
                </a:path>
              </a:pathLst>
            </a:custGeom>
            <a:solidFill>
              <a:srgbClr val="B8BFDF"/>
            </a:solidFill>
          </p:spPr>
        </p:sp>
      </p:grpSp>
      <p:grpSp>
        <p:nvGrpSpPr>
          <p:cNvPr name="Group 27" id="27"/>
          <p:cNvGrpSpPr/>
          <p:nvPr/>
        </p:nvGrpSpPr>
        <p:grpSpPr>
          <a:xfrm rot="0">
            <a:off x="1249709" y="7306266"/>
            <a:ext cx="744141" cy="744141"/>
            <a:chOff x="0" y="0"/>
            <a:chExt cx="992188" cy="992188"/>
          </a:xfrm>
        </p:grpSpPr>
        <p:sp>
          <p:nvSpPr>
            <p:cNvPr name="Freeform 28" id="28"/>
            <p:cNvSpPr/>
            <p:nvPr/>
          </p:nvSpPr>
          <p:spPr>
            <a:xfrm flipH="false" flipV="false" rot="0">
              <a:off x="0" y="0"/>
              <a:ext cx="992124" cy="992124"/>
            </a:xfrm>
            <a:custGeom>
              <a:avLst/>
              <a:gdLst/>
              <a:ahLst/>
              <a:cxnLst/>
              <a:rect r="r" b="b" t="t" l="l"/>
              <a:pathLst>
                <a:path h="992124" w="992124">
                  <a:moveTo>
                    <a:pt x="0" y="496062"/>
                  </a:moveTo>
                  <a:cubicBezTo>
                    <a:pt x="0" y="222123"/>
                    <a:pt x="222123" y="0"/>
                    <a:pt x="496062" y="0"/>
                  </a:cubicBezTo>
                  <a:cubicBezTo>
                    <a:pt x="770001" y="0"/>
                    <a:pt x="992124" y="222123"/>
                    <a:pt x="992124" y="496062"/>
                  </a:cubicBezTo>
                  <a:cubicBezTo>
                    <a:pt x="992124" y="770001"/>
                    <a:pt x="770128" y="992124"/>
                    <a:pt x="496062" y="992124"/>
                  </a:cubicBezTo>
                  <a:cubicBezTo>
                    <a:pt x="221996" y="992124"/>
                    <a:pt x="0" y="770128"/>
                    <a:pt x="0" y="496062"/>
                  </a:cubicBezTo>
                  <a:close/>
                </a:path>
              </a:pathLst>
            </a:custGeom>
            <a:solidFill>
              <a:srgbClr val="4967E9"/>
            </a:solidFill>
          </p:spPr>
        </p:sp>
      </p:grpSp>
      <p:sp>
        <p:nvSpPr>
          <p:cNvPr name="Freeform 29" id="29" descr="preencoded.png"/>
          <p:cNvSpPr/>
          <p:nvPr/>
        </p:nvSpPr>
        <p:spPr>
          <a:xfrm flipH="false" flipV="false" rot="0">
            <a:off x="1454344" y="7510758"/>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1249709" y="8288836"/>
            <a:ext cx="3101130" cy="397221"/>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Strong Encryption</a:t>
            </a:r>
          </a:p>
        </p:txBody>
      </p:sp>
      <p:grpSp>
        <p:nvGrpSpPr>
          <p:cNvPr name="Group 31" id="31"/>
          <p:cNvGrpSpPr/>
          <p:nvPr/>
        </p:nvGrpSpPr>
        <p:grpSpPr>
          <a:xfrm rot="0">
            <a:off x="5125345" y="7044033"/>
            <a:ext cx="3899449" cy="2291953"/>
            <a:chOff x="0" y="0"/>
            <a:chExt cx="5199266" cy="3055938"/>
          </a:xfrm>
        </p:grpSpPr>
        <p:sp>
          <p:nvSpPr>
            <p:cNvPr name="Freeform 32" id="32"/>
            <p:cNvSpPr/>
            <p:nvPr/>
          </p:nvSpPr>
          <p:spPr>
            <a:xfrm flipH="false" flipV="false" rot="0">
              <a:off x="6350" y="6350"/>
              <a:ext cx="5186553" cy="3043301"/>
            </a:xfrm>
            <a:custGeom>
              <a:avLst/>
              <a:gdLst/>
              <a:ahLst/>
              <a:cxnLst/>
              <a:rect r="r" b="b" t="t" l="l"/>
              <a:pathLst>
                <a:path h="3043301" w="5186553">
                  <a:moveTo>
                    <a:pt x="0" y="138938"/>
                  </a:moveTo>
                  <a:cubicBezTo>
                    <a:pt x="0" y="62230"/>
                    <a:pt x="62357" y="0"/>
                    <a:pt x="139192" y="0"/>
                  </a:cubicBezTo>
                  <a:lnTo>
                    <a:pt x="5047361" y="0"/>
                  </a:lnTo>
                  <a:cubicBezTo>
                    <a:pt x="5124196" y="0"/>
                    <a:pt x="5186553" y="62230"/>
                    <a:pt x="5186553" y="138938"/>
                  </a:cubicBezTo>
                  <a:lnTo>
                    <a:pt x="5186553" y="2904363"/>
                  </a:lnTo>
                  <a:cubicBezTo>
                    <a:pt x="5186553" y="2981071"/>
                    <a:pt x="5124196" y="3043301"/>
                    <a:pt x="5047361" y="3043301"/>
                  </a:cubicBezTo>
                  <a:lnTo>
                    <a:pt x="139192" y="3043301"/>
                  </a:lnTo>
                  <a:cubicBezTo>
                    <a:pt x="62357" y="3043301"/>
                    <a:pt x="0" y="2981071"/>
                    <a:pt x="0" y="2904363"/>
                  </a:cubicBezTo>
                  <a:close/>
                </a:path>
              </a:pathLst>
            </a:custGeom>
            <a:solidFill>
              <a:srgbClr val="D2D9F9"/>
            </a:solidFill>
          </p:spPr>
        </p:sp>
        <p:sp>
          <p:nvSpPr>
            <p:cNvPr name="Freeform 33" id="33"/>
            <p:cNvSpPr/>
            <p:nvPr/>
          </p:nvSpPr>
          <p:spPr>
            <a:xfrm flipH="false" flipV="false" rot="0">
              <a:off x="0" y="0"/>
              <a:ext cx="5199253" cy="3056001"/>
            </a:xfrm>
            <a:custGeom>
              <a:avLst/>
              <a:gdLst/>
              <a:ahLst/>
              <a:cxnLst/>
              <a:rect r="r" b="b" t="t" l="l"/>
              <a:pathLst>
                <a:path h="3056001" w="5199253">
                  <a:moveTo>
                    <a:pt x="0" y="145288"/>
                  </a:moveTo>
                  <a:cubicBezTo>
                    <a:pt x="0" y="65024"/>
                    <a:pt x="65151" y="0"/>
                    <a:pt x="145542" y="0"/>
                  </a:cubicBezTo>
                  <a:lnTo>
                    <a:pt x="5053711" y="0"/>
                  </a:lnTo>
                  <a:lnTo>
                    <a:pt x="5053711" y="6350"/>
                  </a:lnTo>
                  <a:lnTo>
                    <a:pt x="5053711" y="0"/>
                  </a:lnTo>
                  <a:cubicBezTo>
                    <a:pt x="5134102" y="0"/>
                    <a:pt x="5199253" y="65024"/>
                    <a:pt x="5199253" y="145288"/>
                  </a:cubicBezTo>
                  <a:lnTo>
                    <a:pt x="5192903" y="145288"/>
                  </a:lnTo>
                  <a:lnTo>
                    <a:pt x="5199253" y="145288"/>
                  </a:lnTo>
                  <a:lnTo>
                    <a:pt x="5199253" y="2910713"/>
                  </a:lnTo>
                  <a:lnTo>
                    <a:pt x="5192903" y="2910713"/>
                  </a:lnTo>
                  <a:lnTo>
                    <a:pt x="5199253" y="2910713"/>
                  </a:lnTo>
                  <a:cubicBezTo>
                    <a:pt x="5199253" y="2990977"/>
                    <a:pt x="5134102" y="3056001"/>
                    <a:pt x="5053711" y="3056001"/>
                  </a:cubicBezTo>
                  <a:lnTo>
                    <a:pt x="5053711" y="3049651"/>
                  </a:lnTo>
                  <a:lnTo>
                    <a:pt x="5053711" y="3056001"/>
                  </a:lnTo>
                  <a:lnTo>
                    <a:pt x="145542" y="3056001"/>
                  </a:lnTo>
                  <a:lnTo>
                    <a:pt x="145542" y="3049651"/>
                  </a:lnTo>
                  <a:lnTo>
                    <a:pt x="145542" y="3056001"/>
                  </a:lnTo>
                  <a:cubicBezTo>
                    <a:pt x="65151" y="3056001"/>
                    <a:pt x="0" y="2990850"/>
                    <a:pt x="0" y="2910713"/>
                  </a:cubicBezTo>
                  <a:lnTo>
                    <a:pt x="0" y="145288"/>
                  </a:lnTo>
                  <a:lnTo>
                    <a:pt x="6350" y="145288"/>
                  </a:lnTo>
                  <a:lnTo>
                    <a:pt x="0" y="145288"/>
                  </a:lnTo>
                  <a:moveTo>
                    <a:pt x="12700" y="145288"/>
                  </a:moveTo>
                  <a:lnTo>
                    <a:pt x="12700" y="2910713"/>
                  </a:lnTo>
                  <a:lnTo>
                    <a:pt x="6350" y="2910713"/>
                  </a:lnTo>
                  <a:lnTo>
                    <a:pt x="12700" y="2910713"/>
                  </a:lnTo>
                  <a:cubicBezTo>
                    <a:pt x="12700" y="2983865"/>
                    <a:pt x="72136" y="3043301"/>
                    <a:pt x="145542" y="3043301"/>
                  </a:cubicBezTo>
                  <a:lnTo>
                    <a:pt x="5053711" y="3043301"/>
                  </a:lnTo>
                  <a:cubicBezTo>
                    <a:pt x="5127117" y="3043301"/>
                    <a:pt x="5186553" y="2983992"/>
                    <a:pt x="5186553" y="2910713"/>
                  </a:cubicBezTo>
                  <a:lnTo>
                    <a:pt x="5186553" y="145288"/>
                  </a:lnTo>
                  <a:cubicBezTo>
                    <a:pt x="5186553" y="72009"/>
                    <a:pt x="5127117" y="12700"/>
                    <a:pt x="5053711" y="12700"/>
                  </a:cubicBezTo>
                  <a:lnTo>
                    <a:pt x="145542" y="12700"/>
                  </a:lnTo>
                  <a:lnTo>
                    <a:pt x="145542" y="6350"/>
                  </a:lnTo>
                  <a:lnTo>
                    <a:pt x="145542" y="12700"/>
                  </a:lnTo>
                  <a:cubicBezTo>
                    <a:pt x="72136" y="12700"/>
                    <a:pt x="12700" y="72009"/>
                    <a:pt x="12700" y="145288"/>
                  </a:cubicBezTo>
                  <a:close/>
                </a:path>
              </a:pathLst>
            </a:custGeom>
            <a:solidFill>
              <a:srgbClr val="B8BFDF"/>
            </a:solidFill>
          </p:spPr>
        </p:sp>
      </p:grpSp>
      <p:grpSp>
        <p:nvGrpSpPr>
          <p:cNvPr name="Group 34" id="34"/>
          <p:cNvGrpSpPr/>
          <p:nvPr/>
        </p:nvGrpSpPr>
        <p:grpSpPr>
          <a:xfrm rot="0">
            <a:off x="5387578" y="7306266"/>
            <a:ext cx="744141" cy="744141"/>
            <a:chOff x="0" y="0"/>
            <a:chExt cx="992188" cy="992188"/>
          </a:xfrm>
        </p:grpSpPr>
        <p:sp>
          <p:nvSpPr>
            <p:cNvPr name="Freeform 35" id="35"/>
            <p:cNvSpPr/>
            <p:nvPr/>
          </p:nvSpPr>
          <p:spPr>
            <a:xfrm flipH="false" flipV="false" rot="0">
              <a:off x="0" y="0"/>
              <a:ext cx="992124" cy="992124"/>
            </a:xfrm>
            <a:custGeom>
              <a:avLst/>
              <a:gdLst/>
              <a:ahLst/>
              <a:cxnLst/>
              <a:rect r="r" b="b" t="t" l="l"/>
              <a:pathLst>
                <a:path h="992124" w="992124">
                  <a:moveTo>
                    <a:pt x="0" y="496062"/>
                  </a:moveTo>
                  <a:cubicBezTo>
                    <a:pt x="0" y="222123"/>
                    <a:pt x="222123" y="0"/>
                    <a:pt x="496062" y="0"/>
                  </a:cubicBezTo>
                  <a:cubicBezTo>
                    <a:pt x="770001" y="0"/>
                    <a:pt x="992124" y="222123"/>
                    <a:pt x="992124" y="496062"/>
                  </a:cubicBezTo>
                  <a:cubicBezTo>
                    <a:pt x="992124" y="770001"/>
                    <a:pt x="770128" y="992124"/>
                    <a:pt x="496062" y="992124"/>
                  </a:cubicBezTo>
                  <a:cubicBezTo>
                    <a:pt x="221996" y="992124"/>
                    <a:pt x="0" y="770128"/>
                    <a:pt x="0" y="496062"/>
                  </a:cubicBezTo>
                  <a:close/>
                </a:path>
              </a:pathLst>
            </a:custGeom>
            <a:solidFill>
              <a:srgbClr val="4967E9"/>
            </a:solidFill>
          </p:spPr>
        </p:sp>
      </p:grpSp>
      <p:sp>
        <p:nvSpPr>
          <p:cNvPr name="Freeform 36" id="36" descr="preencoded.png"/>
          <p:cNvSpPr/>
          <p:nvPr/>
        </p:nvSpPr>
        <p:spPr>
          <a:xfrm flipH="false" flipV="false" rot="0">
            <a:off x="5592213" y="7510758"/>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7" id="37"/>
          <p:cNvSpPr txBox="true"/>
          <p:nvPr/>
        </p:nvSpPr>
        <p:spPr>
          <a:xfrm rot="0">
            <a:off x="5387578" y="8288836"/>
            <a:ext cx="3374974" cy="784917"/>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Multi-User Authorization</a:t>
            </a:r>
          </a:p>
        </p:txBody>
      </p:sp>
      <p:grpSp>
        <p:nvGrpSpPr>
          <p:cNvPr name="Group 38" id="38"/>
          <p:cNvGrpSpPr/>
          <p:nvPr/>
        </p:nvGrpSpPr>
        <p:grpSpPr>
          <a:xfrm rot="0">
            <a:off x="9263215" y="7044033"/>
            <a:ext cx="3899449" cy="2291953"/>
            <a:chOff x="0" y="0"/>
            <a:chExt cx="5199266" cy="3055938"/>
          </a:xfrm>
        </p:grpSpPr>
        <p:sp>
          <p:nvSpPr>
            <p:cNvPr name="Freeform 39" id="39"/>
            <p:cNvSpPr/>
            <p:nvPr/>
          </p:nvSpPr>
          <p:spPr>
            <a:xfrm flipH="false" flipV="false" rot="0">
              <a:off x="6350" y="6350"/>
              <a:ext cx="5186553" cy="3043301"/>
            </a:xfrm>
            <a:custGeom>
              <a:avLst/>
              <a:gdLst/>
              <a:ahLst/>
              <a:cxnLst/>
              <a:rect r="r" b="b" t="t" l="l"/>
              <a:pathLst>
                <a:path h="3043301" w="5186553">
                  <a:moveTo>
                    <a:pt x="0" y="138938"/>
                  </a:moveTo>
                  <a:cubicBezTo>
                    <a:pt x="0" y="62230"/>
                    <a:pt x="62357" y="0"/>
                    <a:pt x="139192" y="0"/>
                  </a:cubicBezTo>
                  <a:lnTo>
                    <a:pt x="5047361" y="0"/>
                  </a:lnTo>
                  <a:cubicBezTo>
                    <a:pt x="5124196" y="0"/>
                    <a:pt x="5186553" y="62230"/>
                    <a:pt x="5186553" y="138938"/>
                  </a:cubicBezTo>
                  <a:lnTo>
                    <a:pt x="5186553" y="2904363"/>
                  </a:lnTo>
                  <a:cubicBezTo>
                    <a:pt x="5186553" y="2981071"/>
                    <a:pt x="5124196" y="3043301"/>
                    <a:pt x="5047361" y="3043301"/>
                  </a:cubicBezTo>
                  <a:lnTo>
                    <a:pt x="139192" y="3043301"/>
                  </a:lnTo>
                  <a:cubicBezTo>
                    <a:pt x="62357" y="3043301"/>
                    <a:pt x="0" y="2981071"/>
                    <a:pt x="0" y="2904363"/>
                  </a:cubicBezTo>
                  <a:close/>
                </a:path>
              </a:pathLst>
            </a:custGeom>
            <a:solidFill>
              <a:srgbClr val="D2D9F9"/>
            </a:solidFill>
          </p:spPr>
        </p:sp>
        <p:sp>
          <p:nvSpPr>
            <p:cNvPr name="Freeform 40" id="40"/>
            <p:cNvSpPr/>
            <p:nvPr/>
          </p:nvSpPr>
          <p:spPr>
            <a:xfrm flipH="false" flipV="false" rot="0">
              <a:off x="0" y="0"/>
              <a:ext cx="5199253" cy="3056001"/>
            </a:xfrm>
            <a:custGeom>
              <a:avLst/>
              <a:gdLst/>
              <a:ahLst/>
              <a:cxnLst/>
              <a:rect r="r" b="b" t="t" l="l"/>
              <a:pathLst>
                <a:path h="3056001" w="5199253">
                  <a:moveTo>
                    <a:pt x="0" y="145288"/>
                  </a:moveTo>
                  <a:cubicBezTo>
                    <a:pt x="0" y="65024"/>
                    <a:pt x="65151" y="0"/>
                    <a:pt x="145542" y="0"/>
                  </a:cubicBezTo>
                  <a:lnTo>
                    <a:pt x="5053711" y="0"/>
                  </a:lnTo>
                  <a:lnTo>
                    <a:pt x="5053711" y="6350"/>
                  </a:lnTo>
                  <a:lnTo>
                    <a:pt x="5053711" y="0"/>
                  </a:lnTo>
                  <a:cubicBezTo>
                    <a:pt x="5134102" y="0"/>
                    <a:pt x="5199253" y="65024"/>
                    <a:pt x="5199253" y="145288"/>
                  </a:cubicBezTo>
                  <a:lnTo>
                    <a:pt x="5192903" y="145288"/>
                  </a:lnTo>
                  <a:lnTo>
                    <a:pt x="5199253" y="145288"/>
                  </a:lnTo>
                  <a:lnTo>
                    <a:pt x="5199253" y="2910713"/>
                  </a:lnTo>
                  <a:lnTo>
                    <a:pt x="5192903" y="2910713"/>
                  </a:lnTo>
                  <a:lnTo>
                    <a:pt x="5199253" y="2910713"/>
                  </a:lnTo>
                  <a:cubicBezTo>
                    <a:pt x="5199253" y="2990977"/>
                    <a:pt x="5134102" y="3056001"/>
                    <a:pt x="5053711" y="3056001"/>
                  </a:cubicBezTo>
                  <a:lnTo>
                    <a:pt x="5053711" y="3049651"/>
                  </a:lnTo>
                  <a:lnTo>
                    <a:pt x="5053711" y="3056001"/>
                  </a:lnTo>
                  <a:lnTo>
                    <a:pt x="145542" y="3056001"/>
                  </a:lnTo>
                  <a:lnTo>
                    <a:pt x="145542" y="3049651"/>
                  </a:lnTo>
                  <a:lnTo>
                    <a:pt x="145542" y="3056001"/>
                  </a:lnTo>
                  <a:cubicBezTo>
                    <a:pt x="65151" y="3056001"/>
                    <a:pt x="0" y="2990850"/>
                    <a:pt x="0" y="2910713"/>
                  </a:cubicBezTo>
                  <a:lnTo>
                    <a:pt x="0" y="145288"/>
                  </a:lnTo>
                  <a:lnTo>
                    <a:pt x="6350" y="145288"/>
                  </a:lnTo>
                  <a:lnTo>
                    <a:pt x="0" y="145288"/>
                  </a:lnTo>
                  <a:moveTo>
                    <a:pt x="12700" y="145288"/>
                  </a:moveTo>
                  <a:lnTo>
                    <a:pt x="12700" y="2910713"/>
                  </a:lnTo>
                  <a:lnTo>
                    <a:pt x="6350" y="2910713"/>
                  </a:lnTo>
                  <a:lnTo>
                    <a:pt x="12700" y="2910713"/>
                  </a:lnTo>
                  <a:cubicBezTo>
                    <a:pt x="12700" y="2983865"/>
                    <a:pt x="72136" y="3043301"/>
                    <a:pt x="145542" y="3043301"/>
                  </a:cubicBezTo>
                  <a:lnTo>
                    <a:pt x="5053711" y="3043301"/>
                  </a:lnTo>
                  <a:cubicBezTo>
                    <a:pt x="5127117" y="3043301"/>
                    <a:pt x="5186553" y="2983992"/>
                    <a:pt x="5186553" y="2910713"/>
                  </a:cubicBezTo>
                  <a:lnTo>
                    <a:pt x="5186553" y="145288"/>
                  </a:lnTo>
                  <a:cubicBezTo>
                    <a:pt x="5186553" y="72009"/>
                    <a:pt x="5127117" y="12700"/>
                    <a:pt x="5053711" y="12700"/>
                  </a:cubicBezTo>
                  <a:lnTo>
                    <a:pt x="145542" y="12700"/>
                  </a:lnTo>
                  <a:lnTo>
                    <a:pt x="145542" y="6350"/>
                  </a:lnTo>
                  <a:lnTo>
                    <a:pt x="145542" y="12700"/>
                  </a:lnTo>
                  <a:cubicBezTo>
                    <a:pt x="72136" y="12700"/>
                    <a:pt x="12700" y="72009"/>
                    <a:pt x="12700" y="145288"/>
                  </a:cubicBezTo>
                  <a:close/>
                </a:path>
              </a:pathLst>
            </a:custGeom>
            <a:solidFill>
              <a:srgbClr val="B8BFDF"/>
            </a:solidFill>
          </p:spPr>
        </p:sp>
      </p:grpSp>
      <p:grpSp>
        <p:nvGrpSpPr>
          <p:cNvPr name="Group 41" id="41"/>
          <p:cNvGrpSpPr/>
          <p:nvPr/>
        </p:nvGrpSpPr>
        <p:grpSpPr>
          <a:xfrm rot="0">
            <a:off x="9525448" y="7306266"/>
            <a:ext cx="744141" cy="744141"/>
            <a:chOff x="0" y="0"/>
            <a:chExt cx="992188" cy="992188"/>
          </a:xfrm>
        </p:grpSpPr>
        <p:sp>
          <p:nvSpPr>
            <p:cNvPr name="Freeform 42" id="42"/>
            <p:cNvSpPr/>
            <p:nvPr/>
          </p:nvSpPr>
          <p:spPr>
            <a:xfrm flipH="false" flipV="false" rot="0">
              <a:off x="0" y="0"/>
              <a:ext cx="992124" cy="992124"/>
            </a:xfrm>
            <a:custGeom>
              <a:avLst/>
              <a:gdLst/>
              <a:ahLst/>
              <a:cxnLst/>
              <a:rect r="r" b="b" t="t" l="l"/>
              <a:pathLst>
                <a:path h="992124" w="992124">
                  <a:moveTo>
                    <a:pt x="0" y="496062"/>
                  </a:moveTo>
                  <a:cubicBezTo>
                    <a:pt x="0" y="222123"/>
                    <a:pt x="222123" y="0"/>
                    <a:pt x="496062" y="0"/>
                  </a:cubicBezTo>
                  <a:cubicBezTo>
                    <a:pt x="770001" y="0"/>
                    <a:pt x="992124" y="222123"/>
                    <a:pt x="992124" y="496062"/>
                  </a:cubicBezTo>
                  <a:cubicBezTo>
                    <a:pt x="992124" y="770001"/>
                    <a:pt x="770128" y="992124"/>
                    <a:pt x="496062" y="992124"/>
                  </a:cubicBezTo>
                  <a:cubicBezTo>
                    <a:pt x="221996" y="992124"/>
                    <a:pt x="0" y="770128"/>
                    <a:pt x="0" y="496062"/>
                  </a:cubicBezTo>
                  <a:close/>
                </a:path>
              </a:pathLst>
            </a:custGeom>
            <a:solidFill>
              <a:srgbClr val="4967E9"/>
            </a:solidFill>
          </p:spPr>
        </p:sp>
      </p:grpSp>
      <p:sp>
        <p:nvSpPr>
          <p:cNvPr name="Freeform 43" id="43" descr="preencoded.png"/>
          <p:cNvSpPr/>
          <p:nvPr/>
        </p:nvSpPr>
        <p:spPr>
          <a:xfrm flipH="false" flipV="false" rot="0">
            <a:off x="9730083" y="7510758"/>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44" id="44"/>
          <p:cNvSpPr txBox="true"/>
          <p:nvPr/>
        </p:nvSpPr>
        <p:spPr>
          <a:xfrm rot="0">
            <a:off x="9525448" y="8288836"/>
            <a:ext cx="3101130" cy="397221"/>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Integrity Verification</a:t>
            </a:r>
          </a:p>
        </p:txBody>
      </p:sp>
      <p:grpSp>
        <p:nvGrpSpPr>
          <p:cNvPr name="Group 45" id="45"/>
          <p:cNvGrpSpPr/>
          <p:nvPr/>
        </p:nvGrpSpPr>
        <p:grpSpPr>
          <a:xfrm rot="0">
            <a:off x="13401075" y="7044033"/>
            <a:ext cx="3899449" cy="2291953"/>
            <a:chOff x="0" y="0"/>
            <a:chExt cx="5199266" cy="3055938"/>
          </a:xfrm>
        </p:grpSpPr>
        <p:sp>
          <p:nvSpPr>
            <p:cNvPr name="Freeform 46" id="46"/>
            <p:cNvSpPr/>
            <p:nvPr/>
          </p:nvSpPr>
          <p:spPr>
            <a:xfrm flipH="false" flipV="false" rot="0">
              <a:off x="6350" y="6350"/>
              <a:ext cx="5186553" cy="3043301"/>
            </a:xfrm>
            <a:custGeom>
              <a:avLst/>
              <a:gdLst/>
              <a:ahLst/>
              <a:cxnLst/>
              <a:rect r="r" b="b" t="t" l="l"/>
              <a:pathLst>
                <a:path h="3043301" w="5186553">
                  <a:moveTo>
                    <a:pt x="0" y="138938"/>
                  </a:moveTo>
                  <a:cubicBezTo>
                    <a:pt x="0" y="62230"/>
                    <a:pt x="62357" y="0"/>
                    <a:pt x="139192" y="0"/>
                  </a:cubicBezTo>
                  <a:lnTo>
                    <a:pt x="5047361" y="0"/>
                  </a:lnTo>
                  <a:cubicBezTo>
                    <a:pt x="5124196" y="0"/>
                    <a:pt x="5186553" y="62230"/>
                    <a:pt x="5186553" y="138938"/>
                  </a:cubicBezTo>
                  <a:lnTo>
                    <a:pt x="5186553" y="2904363"/>
                  </a:lnTo>
                  <a:cubicBezTo>
                    <a:pt x="5186553" y="2981071"/>
                    <a:pt x="5124196" y="3043301"/>
                    <a:pt x="5047361" y="3043301"/>
                  </a:cubicBezTo>
                  <a:lnTo>
                    <a:pt x="139192" y="3043301"/>
                  </a:lnTo>
                  <a:cubicBezTo>
                    <a:pt x="62357" y="3043301"/>
                    <a:pt x="0" y="2981071"/>
                    <a:pt x="0" y="2904363"/>
                  </a:cubicBezTo>
                  <a:close/>
                </a:path>
              </a:pathLst>
            </a:custGeom>
            <a:solidFill>
              <a:srgbClr val="D2D9F9"/>
            </a:solidFill>
          </p:spPr>
        </p:sp>
        <p:sp>
          <p:nvSpPr>
            <p:cNvPr name="Freeform 47" id="47"/>
            <p:cNvSpPr/>
            <p:nvPr/>
          </p:nvSpPr>
          <p:spPr>
            <a:xfrm flipH="false" flipV="false" rot="0">
              <a:off x="0" y="0"/>
              <a:ext cx="5199253" cy="3056001"/>
            </a:xfrm>
            <a:custGeom>
              <a:avLst/>
              <a:gdLst/>
              <a:ahLst/>
              <a:cxnLst/>
              <a:rect r="r" b="b" t="t" l="l"/>
              <a:pathLst>
                <a:path h="3056001" w="5199253">
                  <a:moveTo>
                    <a:pt x="0" y="145288"/>
                  </a:moveTo>
                  <a:cubicBezTo>
                    <a:pt x="0" y="65024"/>
                    <a:pt x="65151" y="0"/>
                    <a:pt x="145542" y="0"/>
                  </a:cubicBezTo>
                  <a:lnTo>
                    <a:pt x="5053711" y="0"/>
                  </a:lnTo>
                  <a:lnTo>
                    <a:pt x="5053711" y="6350"/>
                  </a:lnTo>
                  <a:lnTo>
                    <a:pt x="5053711" y="0"/>
                  </a:lnTo>
                  <a:cubicBezTo>
                    <a:pt x="5134102" y="0"/>
                    <a:pt x="5199253" y="65024"/>
                    <a:pt x="5199253" y="145288"/>
                  </a:cubicBezTo>
                  <a:lnTo>
                    <a:pt x="5192903" y="145288"/>
                  </a:lnTo>
                  <a:lnTo>
                    <a:pt x="5199253" y="145288"/>
                  </a:lnTo>
                  <a:lnTo>
                    <a:pt x="5199253" y="2910713"/>
                  </a:lnTo>
                  <a:lnTo>
                    <a:pt x="5192903" y="2910713"/>
                  </a:lnTo>
                  <a:lnTo>
                    <a:pt x="5199253" y="2910713"/>
                  </a:lnTo>
                  <a:cubicBezTo>
                    <a:pt x="5199253" y="2990977"/>
                    <a:pt x="5134102" y="3056001"/>
                    <a:pt x="5053711" y="3056001"/>
                  </a:cubicBezTo>
                  <a:lnTo>
                    <a:pt x="5053711" y="3049651"/>
                  </a:lnTo>
                  <a:lnTo>
                    <a:pt x="5053711" y="3056001"/>
                  </a:lnTo>
                  <a:lnTo>
                    <a:pt x="145542" y="3056001"/>
                  </a:lnTo>
                  <a:lnTo>
                    <a:pt x="145542" y="3049651"/>
                  </a:lnTo>
                  <a:lnTo>
                    <a:pt x="145542" y="3056001"/>
                  </a:lnTo>
                  <a:cubicBezTo>
                    <a:pt x="65151" y="3056001"/>
                    <a:pt x="0" y="2990850"/>
                    <a:pt x="0" y="2910713"/>
                  </a:cubicBezTo>
                  <a:lnTo>
                    <a:pt x="0" y="145288"/>
                  </a:lnTo>
                  <a:lnTo>
                    <a:pt x="6350" y="145288"/>
                  </a:lnTo>
                  <a:lnTo>
                    <a:pt x="0" y="145288"/>
                  </a:lnTo>
                  <a:moveTo>
                    <a:pt x="12700" y="145288"/>
                  </a:moveTo>
                  <a:lnTo>
                    <a:pt x="12700" y="2910713"/>
                  </a:lnTo>
                  <a:lnTo>
                    <a:pt x="6350" y="2910713"/>
                  </a:lnTo>
                  <a:lnTo>
                    <a:pt x="12700" y="2910713"/>
                  </a:lnTo>
                  <a:cubicBezTo>
                    <a:pt x="12700" y="2983865"/>
                    <a:pt x="72136" y="3043301"/>
                    <a:pt x="145542" y="3043301"/>
                  </a:cubicBezTo>
                  <a:lnTo>
                    <a:pt x="5053711" y="3043301"/>
                  </a:lnTo>
                  <a:cubicBezTo>
                    <a:pt x="5127117" y="3043301"/>
                    <a:pt x="5186553" y="2983992"/>
                    <a:pt x="5186553" y="2910713"/>
                  </a:cubicBezTo>
                  <a:lnTo>
                    <a:pt x="5186553" y="145288"/>
                  </a:lnTo>
                  <a:cubicBezTo>
                    <a:pt x="5186553" y="72009"/>
                    <a:pt x="5127117" y="12700"/>
                    <a:pt x="5053711" y="12700"/>
                  </a:cubicBezTo>
                  <a:lnTo>
                    <a:pt x="145542" y="12700"/>
                  </a:lnTo>
                  <a:lnTo>
                    <a:pt x="145542" y="6350"/>
                  </a:lnTo>
                  <a:lnTo>
                    <a:pt x="145542" y="12700"/>
                  </a:lnTo>
                  <a:cubicBezTo>
                    <a:pt x="72136" y="12700"/>
                    <a:pt x="12700" y="72009"/>
                    <a:pt x="12700" y="145288"/>
                  </a:cubicBezTo>
                  <a:close/>
                </a:path>
              </a:pathLst>
            </a:custGeom>
            <a:solidFill>
              <a:srgbClr val="B8BFDF"/>
            </a:solidFill>
          </p:spPr>
        </p:sp>
      </p:grpSp>
      <p:grpSp>
        <p:nvGrpSpPr>
          <p:cNvPr name="Group 48" id="48"/>
          <p:cNvGrpSpPr/>
          <p:nvPr/>
        </p:nvGrpSpPr>
        <p:grpSpPr>
          <a:xfrm rot="0">
            <a:off x="13663317" y="7306266"/>
            <a:ext cx="744141" cy="744141"/>
            <a:chOff x="0" y="0"/>
            <a:chExt cx="992188" cy="992188"/>
          </a:xfrm>
        </p:grpSpPr>
        <p:sp>
          <p:nvSpPr>
            <p:cNvPr name="Freeform 49" id="49"/>
            <p:cNvSpPr/>
            <p:nvPr/>
          </p:nvSpPr>
          <p:spPr>
            <a:xfrm flipH="false" flipV="false" rot="0">
              <a:off x="0" y="0"/>
              <a:ext cx="992124" cy="992124"/>
            </a:xfrm>
            <a:custGeom>
              <a:avLst/>
              <a:gdLst/>
              <a:ahLst/>
              <a:cxnLst/>
              <a:rect r="r" b="b" t="t" l="l"/>
              <a:pathLst>
                <a:path h="992124" w="992124">
                  <a:moveTo>
                    <a:pt x="0" y="496062"/>
                  </a:moveTo>
                  <a:cubicBezTo>
                    <a:pt x="0" y="222123"/>
                    <a:pt x="222123" y="0"/>
                    <a:pt x="496062" y="0"/>
                  </a:cubicBezTo>
                  <a:cubicBezTo>
                    <a:pt x="770001" y="0"/>
                    <a:pt x="992124" y="222123"/>
                    <a:pt x="992124" y="496062"/>
                  </a:cubicBezTo>
                  <a:cubicBezTo>
                    <a:pt x="992124" y="770001"/>
                    <a:pt x="770128" y="992124"/>
                    <a:pt x="496062" y="992124"/>
                  </a:cubicBezTo>
                  <a:cubicBezTo>
                    <a:pt x="221996" y="992124"/>
                    <a:pt x="0" y="770128"/>
                    <a:pt x="0" y="496062"/>
                  </a:cubicBezTo>
                  <a:close/>
                </a:path>
              </a:pathLst>
            </a:custGeom>
            <a:solidFill>
              <a:srgbClr val="4967E9"/>
            </a:solidFill>
          </p:spPr>
        </p:sp>
      </p:grpSp>
      <p:sp>
        <p:nvSpPr>
          <p:cNvPr name="Freeform 50" id="50" descr="preencoded.png"/>
          <p:cNvSpPr/>
          <p:nvPr/>
        </p:nvSpPr>
        <p:spPr>
          <a:xfrm flipH="false" flipV="false" rot="0">
            <a:off x="13867952" y="7510758"/>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14">
              <a:extLst>
                <a:ext uri="{96DAC541-7B7A-43D3-8B79-37D633B846F1}">
                  <asvg:svgBlip xmlns:asvg="http://schemas.microsoft.com/office/drawing/2016/SVG/main" r:embed="rId15"/>
                </a:ext>
              </a:extLst>
            </a:blip>
            <a:stretch>
              <a:fillRect l="-8334" t="0" r="-8334" b="0"/>
            </a:stretch>
          </a:blipFill>
        </p:spPr>
      </p:sp>
      <p:sp>
        <p:nvSpPr>
          <p:cNvPr name="TextBox 51" id="51"/>
          <p:cNvSpPr txBox="true"/>
          <p:nvPr/>
        </p:nvSpPr>
        <p:spPr>
          <a:xfrm rot="0">
            <a:off x="13663317" y="8288836"/>
            <a:ext cx="3220936" cy="397221"/>
          </a:xfrm>
          <a:prstGeom prst="rect">
            <a:avLst/>
          </a:prstGeom>
        </p:spPr>
        <p:txBody>
          <a:bodyPr anchor="t" rtlCol="false" tIns="0" lIns="0" bIns="0" rIns="0">
            <a:spAutoFit/>
          </a:bodyPr>
          <a:lstStyle/>
          <a:p>
            <a:pPr algn="l">
              <a:lnSpc>
                <a:spcPts val="3000"/>
              </a:lnSpc>
            </a:pPr>
            <a:r>
              <a:rPr lang="en-US" sz="2400">
                <a:solidFill>
                  <a:srgbClr val="404155"/>
                </a:solidFill>
                <a:latin typeface="Corben"/>
                <a:ea typeface="Corben"/>
                <a:cs typeface="Corben"/>
                <a:sym typeface="Corben"/>
              </a:rPr>
              <a:t>Controlled Decryption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693391"/>
            <a:ext cx="14201775" cy="813197"/>
          </a:xfrm>
          <a:prstGeom prst="rect">
            <a:avLst/>
          </a:prstGeom>
        </p:spPr>
        <p:txBody>
          <a:bodyPr anchor="t" rtlCol="false" tIns="0" lIns="0" bIns="0" rIns="0">
            <a:spAutoFit/>
          </a:bodyPr>
          <a:lstStyle/>
          <a:p>
            <a:pPr algn="l">
              <a:lnSpc>
                <a:spcPts val="6100"/>
              </a:lnSpc>
            </a:pPr>
            <a:r>
              <a:rPr lang="en-US" sz="4800">
                <a:solidFill>
                  <a:srgbClr val="1B1B27"/>
                </a:solidFill>
                <a:latin typeface="Corben"/>
                <a:ea typeface="Corben"/>
                <a:cs typeface="Corben"/>
                <a:sym typeface="Corben"/>
              </a:rPr>
              <a:t>Limitations, Future Enhancements &amp; Conclusion</a:t>
            </a:r>
          </a:p>
        </p:txBody>
      </p:sp>
      <p:sp>
        <p:nvSpPr>
          <p:cNvPr name="TextBox 7" id="7"/>
          <p:cNvSpPr txBox="true"/>
          <p:nvPr/>
        </p:nvSpPr>
        <p:spPr>
          <a:xfrm rot="0">
            <a:off x="992238" y="2117084"/>
            <a:ext cx="3101130" cy="397221"/>
          </a:xfrm>
          <a:prstGeom prst="rect">
            <a:avLst/>
          </a:prstGeom>
        </p:spPr>
        <p:txBody>
          <a:bodyPr anchor="t" rtlCol="false" tIns="0" lIns="0" bIns="0" rIns="0">
            <a:spAutoFit/>
          </a:bodyPr>
          <a:lstStyle/>
          <a:p>
            <a:pPr algn="l">
              <a:lnSpc>
                <a:spcPts val="3000"/>
              </a:lnSpc>
            </a:pPr>
            <a:r>
              <a:rPr lang="en-US" sz="2400">
                <a:solidFill>
                  <a:srgbClr val="1B1B27"/>
                </a:solidFill>
                <a:latin typeface="Corben"/>
                <a:ea typeface="Corben"/>
                <a:cs typeface="Corben"/>
                <a:sym typeface="Corben"/>
              </a:rPr>
              <a:t>Current Limitations</a:t>
            </a:r>
          </a:p>
        </p:txBody>
      </p:sp>
      <p:sp>
        <p:nvSpPr>
          <p:cNvPr name="TextBox 8" id="8"/>
          <p:cNvSpPr txBox="true"/>
          <p:nvPr/>
        </p:nvSpPr>
        <p:spPr>
          <a:xfrm rot="0">
            <a:off x="992238" y="2667000"/>
            <a:ext cx="7849200" cy="1943252"/>
          </a:xfrm>
          <a:prstGeom prst="rect">
            <a:avLst/>
          </a:prstGeom>
        </p:spPr>
        <p:txBody>
          <a:bodyPr anchor="t" rtlCol="false" tIns="0" lIns="0" bIns="0" rIns="0">
            <a:spAutoFit/>
          </a:bodyPr>
          <a:lstStyle/>
          <a:p>
            <a:pPr algn="l" marL="458470" indent="-229235" lvl="1">
              <a:lnSpc>
                <a:spcPts val="3100"/>
              </a:lnSpc>
              <a:buFont typeface="Arial"/>
              <a:buChar char="•"/>
            </a:pPr>
            <a:r>
              <a:rPr lang="en-US" sz="1900">
                <a:solidFill>
                  <a:srgbClr val="404155"/>
                </a:solidFill>
                <a:latin typeface="Arimo"/>
                <a:ea typeface="Arimo"/>
                <a:cs typeface="Arimo"/>
                <a:sym typeface="Arimo"/>
              </a:rPr>
              <a:t>No database persistence — data lost on server restart</a:t>
            </a:r>
          </a:p>
          <a:p>
            <a:pPr algn="l" marL="458470" indent="-229235" lvl="1">
              <a:lnSpc>
                <a:spcPts val="3100"/>
              </a:lnSpc>
              <a:buFont typeface="Arial"/>
              <a:buChar char="•"/>
            </a:pPr>
            <a:r>
              <a:rPr lang="en-US" sz="1900">
                <a:solidFill>
                  <a:srgbClr val="404155"/>
                </a:solidFill>
                <a:latin typeface="Arimo"/>
                <a:ea typeface="Arimo"/>
                <a:cs typeface="Arimo"/>
                <a:sym typeface="Arimo"/>
              </a:rPr>
              <a:t>No JWT authentication</a:t>
            </a:r>
          </a:p>
          <a:p>
            <a:pPr algn="l" marL="458470" indent="-229235" lvl="1">
              <a:lnSpc>
                <a:spcPts val="3100"/>
              </a:lnSpc>
              <a:buFont typeface="Arial"/>
              <a:buChar char="•"/>
            </a:pPr>
            <a:r>
              <a:rPr lang="en-US" sz="1900">
                <a:solidFill>
                  <a:srgbClr val="404155"/>
                </a:solidFill>
                <a:latin typeface="Arimo"/>
                <a:ea typeface="Arimo"/>
                <a:cs typeface="Arimo"/>
                <a:sym typeface="Arimo"/>
              </a:rPr>
              <a:t>No cloud deployment</a:t>
            </a:r>
          </a:p>
          <a:p>
            <a:pPr algn="l" marL="458470" indent="-229235" lvl="1">
              <a:lnSpc>
                <a:spcPts val="3100"/>
              </a:lnSpc>
              <a:buFont typeface="Arial"/>
              <a:buChar char="•"/>
            </a:pPr>
            <a:r>
              <a:rPr lang="en-US" sz="1900">
                <a:solidFill>
                  <a:srgbClr val="404155"/>
                </a:solidFill>
                <a:latin typeface="Arimo"/>
                <a:ea typeface="Arimo"/>
                <a:cs typeface="Arimo"/>
                <a:sym typeface="Arimo"/>
              </a:rPr>
              <a:t>Uses in-memory storage only</a:t>
            </a:r>
          </a:p>
        </p:txBody>
      </p:sp>
      <p:sp>
        <p:nvSpPr>
          <p:cNvPr name="TextBox 9" id="9"/>
          <p:cNvSpPr txBox="true"/>
          <p:nvPr/>
        </p:nvSpPr>
        <p:spPr>
          <a:xfrm rot="0">
            <a:off x="992238" y="4848673"/>
            <a:ext cx="3237757" cy="397221"/>
          </a:xfrm>
          <a:prstGeom prst="rect">
            <a:avLst/>
          </a:prstGeom>
        </p:spPr>
        <p:txBody>
          <a:bodyPr anchor="t" rtlCol="false" tIns="0" lIns="0" bIns="0" rIns="0">
            <a:spAutoFit/>
          </a:bodyPr>
          <a:lstStyle/>
          <a:p>
            <a:pPr algn="l">
              <a:lnSpc>
                <a:spcPts val="3000"/>
              </a:lnSpc>
            </a:pPr>
            <a:r>
              <a:rPr lang="en-US" sz="2400">
                <a:solidFill>
                  <a:srgbClr val="1B1B27"/>
                </a:solidFill>
                <a:latin typeface="Corben"/>
                <a:ea typeface="Corben"/>
                <a:cs typeface="Corben"/>
                <a:sym typeface="Corben"/>
              </a:rPr>
              <a:t>Future Enhancements</a:t>
            </a:r>
          </a:p>
        </p:txBody>
      </p:sp>
      <p:sp>
        <p:nvSpPr>
          <p:cNvPr name="TextBox 10" id="10"/>
          <p:cNvSpPr txBox="true"/>
          <p:nvPr/>
        </p:nvSpPr>
        <p:spPr>
          <a:xfrm rot="0">
            <a:off x="992238" y="5398589"/>
            <a:ext cx="7849200" cy="1943252"/>
          </a:xfrm>
          <a:prstGeom prst="rect">
            <a:avLst/>
          </a:prstGeom>
        </p:spPr>
        <p:txBody>
          <a:bodyPr anchor="t" rtlCol="false" tIns="0" lIns="0" bIns="0" rIns="0">
            <a:spAutoFit/>
          </a:bodyPr>
          <a:lstStyle/>
          <a:p>
            <a:pPr algn="l" marL="458470" indent="-229235" lvl="1">
              <a:lnSpc>
                <a:spcPts val="3100"/>
              </a:lnSpc>
              <a:buFont typeface="Arial"/>
              <a:buChar char="•"/>
            </a:pPr>
            <a:r>
              <a:rPr lang="en-US" sz="1900">
                <a:solidFill>
                  <a:srgbClr val="404155"/>
                </a:solidFill>
                <a:latin typeface="Arimo"/>
                <a:ea typeface="Arimo"/>
                <a:cs typeface="Arimo"/>
                <a:sym typeface="Arimo"/>
              </a:rPr>
              <a:t>RSA-based hybrid cryptography</a:t>
            </a:r>
          </a:p>
          <a:p>
            <a:pPr algn="l" marL="458470" indent="-229235" lvl="1">
              <a:lnSpc>
                <a:spcPts val="3100"/>
              </a:lnSpc>
              <a:buFont typeface="Arial"/>
              <a:buChar char="•"/>
            </a:pPr>
            <a:r>
              <a:rPr lang="en-US" sz="1900">
                <a:solidFill>
                  <a:srgbClr val="404155"/>
                </a:solidFill>
                <a:latin typeface="Arimo"/>
                <a:ea typeface="Arimo"/>
                <a:cs typeface="Arimo"/>
                <a:sym typeface="Arimo"/>
              </a:rPr>
              <a:t>JWT authentication &amp; database integration</a:t>
            </a:r>
          </a:p>
          <a:p>
            <a:pPr algn="l" marL="458470" indent="-229235" lvl="1">
              <a:lnSpc>
                <a:spcPts val="3100"/>
              </a:lnSpc>
              <a:buFont typeface="Arial"/>
              <a:buChar char="•"/>
            </a:pPr>
            <a:r>
              <a:rPr lang="en-US" sz="1900">
                <a:solidFill>
                  <a:srgbClr val="404155"/>
                </a:solidFill>
                <a:latin typeface="Arimo"/>
                <a:ea typeface="Arimo"/>
                <a:cs typeface="Arimo"/>
                <a:sym typeface="Arimo"/>
              </a:rPr>
              <a:t>Cloud deployment &amp; WebSocket real-time updates</a:t>
            </a:r>
          </a:p>
          <a:p>
            <a:pPr algn="l" marL="458470" indent="-229235" lvl="1">
              <a:lnSpc>
                <a:spcPts val="3100"/>
              </a:lnSpc>
              <a:buFont typeface="Arial"/>
              <a:buChar char="•"/>
            </a:pPr>
            <a:r>
              <a:rPr lang="en-US" sz="1900">
                <a:solidFill>
                  <a:srgbClr val="404155"/>
                </a:solidFill>
                <a:latin typeface="Arimo"/>
                <a:ea typeface="Arimo"/>
                <a:cs typeface="Arimo"/>
                <a:sym typeface="Arimo"/>
              </a:rPr>
              <a:t>Digital signatures &amp; Shamir Secret Sharing</a:t>
            </a:r>
          </a:p>
        </p:txBody>
      </p:sp>
      <p:grpSp>
        <p:nvGrpSpPr>
          <p:cNvPr name="Group 11" id="11"/>
          <p:cNvGrpSpPr/>
          <p:nvPr/>
        </p:nvGrpSpPr>
        <p:grpSpPr>
          <a:xfrm rot="0">
            <a:off x="9277502" y="1878654"/>
            <a:ext cx="8206378" cy="5549951"/>
            <a:chOff x="0" y="0"/>
            <a:chExt cx="10941837" cy="7399934"/>
          </a:xfrm>
        </p:grpSpPr>
        <p:sp>
          <p:nvSpPr>
            <p:cNvPr name="Freeform 12" id="12"/>
            <p:cNvSpPr/>
            <p:nvPr/>
          </p:nvSpPr>
          <p:spPr>
            <a:xfrm flipH="false" flipV="false" rot="0">
              <a:off x="0" y="0"/>
              <a:ext cx="10941939" cy="7400036"/>
            </a:xfrm>
            <a:custGeom>
              <a:avLst/>
              <a:gdLst/>
              <a:ahLst/>
              <a:cxnLst/>
              <a:rect r="r" b="b" t="t" l="l"/>
              <a:pathLst>
                <a:path h="7400036" w="10941939">
                  <a:moveTo>
                    <a:pt x="0" y="238252"/>
                  </a:moveTo>
                  <a:cubicBezTo>
                    <a:pt x="0" y="106680"/>
                    <a:pt x="106680" y="0"/>
                    <a:pt x="238252" y="0"/>
                  </a:cubicBezTo>
                  <a:lnTo>
                    <a:pt x="10703687" y="0"/>
                  </a:lnTo>
                  <a:cubicBezTo>
                    <a:pt x="10835259" y="0"/>
                    <a:pt x="10941939" y="106680"/>
                    <a:pt x="10941939" y="238252"/>
                  </a:cubicBezTo>
                  <a:lnTo>
                    <a:pt x="10941939" y="7161784"/>
                  </a:lnTo>
                  <a:cubicBezTo>
                    <a:pt x="10941939" y="7293356"/>
                    <a:pt x="10835259" y="7400036"/>
                    <a:pt x="10703687" y="7400036"/>
                  </a:cubicBezTo>
                  <a:lnTo>
                    <a:pt x="238252" y="7400036"/>
                  </a:lnTo>
                  <a:cubicBezTo>
                    <a:pt x="106680" y="7399909"/>
                    <a:pt x="0" y="7293229"/>
                    <a:pt x="0" y="7161784"/>
                  </a:cubicBezTo>
                  <a:close/>
                </a:path>
              </a:pathLst>
            </a:custGeom>
            <a:solidFill>
              <a:srgbClr val="4967E9">
                <a:alpha val="90196"/>
              </a:srgbClr>
            </a:solidFill>
          </p:spPr>
        </p:sp>
      </p:grpSp>
      <p:sp>
        <p:nvSpPr>
          <p:cNvPr name="TextBox 13" id="13"/>
          <p:cNvSpPr txBox="true"/>
          <p:nvPr/>
        </p:nvSpPr>
        <p:spPr>
          <a:xfrm rot="0">
            <a:off x="9525448" y="2117084"/>
            <a:ext cx="3101130" cy="397221"/>
          </a:xfrm>
          <a:prstGeom prst="rect">
            <a:avLst/>
          </a:prstGeom>
        </p:spPr>
        <p:txBody>
          <a:bodyPr anchor="t" rtlCol="false" tIns="0" lIns="0" bIns="0" rIns="0">
            <a:spAutoFit/>
          </a:bodyPr>
          <a:lstStyle/>
          <a:p>
            <a:pPr algn="l">
              <a:lnSpc>
                <a:spcPts val="3000"/>
              </a:lnSpc>
            </a:pPr>
            <a:r>
              <a:rPr lang="en-US" sz="2400">
                <a:solidFill>
                  <a:srgbClr val="FFFFFF"/>
                </a:solidFill>
                <a:latin typeface="Corben"/>
                <a:ea typeface="Corben"/>
                <a:cs typeface="Corben"/>
                <a:sym typeface="Corben"/>
              </a:rPr>
              <a:t>Conclusion</a:t>
            </a:r>
          </a:p>
        </p:txBody>
      </p:sp>
      <p:sp>
        <p:nvSpPr>
          <p:cNvPr name="TextBox 14" id="14"/>
          <p:cNvSpPr txBox="true"/>
          <p:nvPr/>
        </p:nvSpPr>
        <p:spPr>
          <a:xfrm rot="0">
            <a:off x="9525448" y="2667000"/>
            <a:ext cx="7710488" cy="2873721"/>
          </a:xfrm>
          <a:prstGeom prst="rect">
            <a:avLst/>
          </a:prstGeom>
        </p:spPr>
        <p:txBody>
          <a:bodyPr anchor="t" rtlCol="false" tIns="0" lIns="0" bIns="0" rIns="0">
            <a:spAutoFit/>
          </a:bodyPr>
          <a:lstStyle/>
          <a:p>
            <a:pPr algn="l">
              <a:lnSpc>
                <a:spcPts val="3100"/>
              </a:lnSpc>
            </a:pPr>
            <a:r>
              <a:rPr lang="en-US" sz="1900">
                <a:solidFill>
                  <a:srgbClr val="FFFFFF"/>
                </a:solidFill>
                <a:latin typeface="Arimo"/>
                <a:ea typeface="Arimo"/>
                <a:cs typeface="Arimo"/>
                <a:sym typeface="Arimo"/>
              </a:rPr>
              <a:t>The system successfully demonstrates secure communication using AES-GCM encryption, REST API communication, multi-user authorization, and controlled decryption. It provides practical exposure to secure communication design and establishes a strong foundation for future improvements involving hybrid cryptography, digital signatures, and distributed secure communication systems.</a:t>
            </a:r>
          </a:p>
        </p:txBody>
      </p:sp>
      <p:grpSp>
        <p:nvGrpSpPr>
          <p:cNvPr name="Group 15" id="15"/>
          <p:cNvGrpSpPr/>
          <p:nvPr/>
        </p:nvGrpSpPr>
        <p:grpSpPr>
          <a:xfrm rot="0">
            <a:off x="992238" y="7707659"/>
            <a:ext cx="16303523" cy="1847850"/>
            <a:chOff x="0" y="0"/>
            <a:chExt cx="21738031" cy="2463800"/>
          </a:xfrm>
        </p:grpSpPr>
        <p:sp>
          <p:nvSpPr>
            <p:cNvPr name="Freeform 16" id="16"/>
            <p:cNvSpPr/>
            <p:nvPr/>
          </p:nvSpPr>
          <p:spPr>
            <a:xfrm flipH="false" flipV="false" rot="0">
              <a:off x="0" y="0"/>
              <a:ext cx="21738082" cy="2463800"/>
            </a:xfrm>
            <a:custGeom>
              <a:avLst/>
              <a:gdLst/>
              <a:ahLst/>
              <a:cxnLst/>
              <a:rect r="r" b="b" t="t" l="l"/>
              <a:pathLst>
                <a:path h="2463800" w="21738082">
                  <a:moveTo>
                    <a:pt x="0" y="138938"/>
                  </a:moveTo>
                  <a:cubicBezTo>
                    <a:pt x="0" y="62230"/>
                    <a:pt x="62230" y="0"/>
                    <a:pt x="138938" y="0"/>
                  </a:cubicBezTo>
                  <a:lnTo>
                    <a:pt x="21599144" y="0"/>
                  </a:lnTo>
                  <a:cubicBezTo>
                    <a:pt x="21675852" y="0"/>
                    <a:pt x="21738082" y="62230"/>
                    <a:pt x="21738082" y="138938"/>
                  </a:cubicBezTo>
                  <a:lnTo>
                    <a:pt x="21738082" y="2324862"/>
                  </a:lnTo>
                  <a:cubicBezTo>
                    <a:pt x="21738082" y="2401570"/>
                    <a:pt x="21675852" y="2463800"/>
                    <a:pt x="21599144" y="2463800"/>
                  </a:cubicBezTo>
                  <a:lnTo>
                    <a:pt x="138938" y="2463800"/>
                  </a:lnTo>
                  <a:cubicBezTo>
                    <a:pt x="62230" y="2463800"/>
                    <a:pt x="0" y="2401570"/>
                    <a:pt x="0" y="2324862"/>
                  </a:cubicBezTo>
                  <a:close/>
                </a:path>
              </a:pathLst>
            </a:custGeom>
            <a:solidFill>
              <a:srgbClr val="BBC6F7"/>
            </a:solidFill>
          </p:spPr>
        </p:sp>
      </p:grpSp>
      <p:grpSp>
        <p:nvGrpSpPr>
          <p:cNvPr name="Group 17" id="17"/>
          <p:cNvGrpSpPr/>
          <p:nvPr/>
        </p:nvGrpSpPr>
        <p:grpSpPr>
          <a:xfrm rot="0">
            <a:off x="1240184" y="8067227"/>
            <a:ext cx="310010" cy="247945"/>
            <a:chOff x="0" y="0"/>
            <a:chExt cx="413347" cy="330594"/>
          </a:xfrm>
        </p:grpSpPr>
        <p:sp>
          <p:nvSpPr>
            <p:cNvPr name="Freeform 18" id="18" descr="preencoded.png"/>
            <p:cNvSpPr/>
            <p:nvPr/>
          </p:nvSpPr>
          <p:spPr>
            <a:xfrm flipH="false" flipV="false" rot="0">
              <a:off x="0" y="0"/>
              <a:ext cx="413385" cy="330581"/>
            </a:xfrm>
            <a:custGeom>
              <a:avLst/>
              <a:gdLst/>
              <a:ahLst/>
              <a:cxnLst/>
              <a:rect r="r" b="b" t="t" l="l"/>
              <a:pathLst>
                <a:path h="330581" w="413385">
                  <a:moveTo>
                    <a:pt x="0" y="0"/>
                  </a:moveTo>
                  <a:lnTo>
                    <a:pt x="413385" y="0"/>
                  </a:lnTo>
                  <a:lnTo>
                    <a:pt x="413385" y="330581"/>
                  </a:lnTo>
                  <a:lnTo>
                    <a:pt x="0" y="330581"/>
                  </a:lnTo>
                  <a:lnTo>
                    <a:pt x="0" y="0"/>
                  </a:lnTo>
                  <a:close/>
                </a:path>
              </a:pathLst>
            </a:custGeom>
            <a:blipFill>
              <a:blip r:embed="rId4"/>
              <a:stretch>
                <a:fillRect l="-755" t="0" r="-749" b="-3"/>
              </a:stretch>
            </a:blipFill>
          </p:spPr>
        </p:sp>
      </p:grpSp>
      <p:sp>
        <p:nvSpPr>
          <p:cNvPr name="TextBox 19" id="19"/>
          <p:cNvSpPr txBox="true"/>
          <p:nvPr/>
        </p:nvSpPr>
        <p:spPr>
          <a:xfrm rot="0">
            <a:off x="1798139" y="7922266"/>
            <a:ext cx="15249677" cy="1286027"/>
          </a:xfrm>
          <a:prstGeom prst="rect">
            <a:avLst/>
          </a:prstGeom>
        </p:spPr>
        <p:txBody>
          <a:bodyPr anchor="t" rtlCol="false" tIns="0" lIns="0" bIns="0" rIns="0">
            <a:spAutoFit/>
          </a:bodyPr>
          <a:lstStyle/>
          <a:p>
            <a:pPr algn="l">
              <a:lnSpc>
                <a:spcPts val="3100"/>
              </a:lnSpc>
            </a:pPr>
            <a:r>
              <a:rPr lang="en-US" sz="1900" b="true">
                <a:solidFill>
                  <a:srgbClr val="000000"/>
                </a:solidFill>
                <a:latin typeface="Arimo Bold"/>
                <a:ea typeface="Arimo Bold"/>
                <a:cs typeface="Arimo Bold"/>
                <a:sym typeface="Arimo Bold"/>
              </a:rPr>
              <a:t>References:</a:t>
            </a:r>
            <a:r>
              <a:rPr lang="en-US" sz="1900">
                <a:solidFill>
                  <a:srgbClr val="000000"/>
                </a:solidFill>
                <a:latin typeface="Arimo"/>
                <a:ea typeface="Arimo"/>
                <a:cs typeface="Arimo"/>
                <a:sym typeface="Arimo"/>
              </a:rPr>
              <a:t> FastAPI Documentation (fastapi.tiangolo.com), React.js Documentation (react.dev), PyCryptodome Documentation (pycryptodome.readthedocs.io), NIST AES Standard Documentation, OWASP Secure Communication Guidelines.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DAHJkpnH2qw</dc:identifier>
  <dcterms:modified xsi:type="dcterms:W3CDTF">2011-08-01T06:04:30Z</dcterms:modified>
  <cp:revision>1</cp:revision>
  <dc:title>Threshold-Based-Secure-File-Communication-System.pptx</dc:title>
</cp:coreProperties>
</file>